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pic>
        <p:nvPicPr>
          <p:cNvPr id="6" name="Image 1" descr="img/mark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3" name="Image 0" descr="img/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pic>
        <p:nvPicPr>
          <p:cNvPr id="4" name="Image 0" descr="img/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pic>
        <p:nvPicPr>
          <p:cNvPr id="5" name="Image 0" descr="img/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/>
          <p:nvPr>
            <p:ph idx="107" type="body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10" name="Text 6"/>
          <p:cNvSpPr/>
          <p:nvPr>
            <p:ph idx="108" type="body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11" name="Text 6"/>
          <p:cNvSpPr/>
          <p:nvPr>
            <p:ph idx="109" type="body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12" name="Text 6"/>
          <p:cNvSpPr/>
          <p:nvPr>
            <p:ph idx="110" type="body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14" name="Text 6"/>
          <p:cNvSpPr/>
          <p:nvPr>
            <p:ph idx="112" type="body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pic>
        <p:nvPicPr>
          <p:cNvPr id="16" name="Image 0" descr="img/mark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spc="200" kern="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pic>
        <p:nvPicPr>
          <p:cNvPr id="5" name="Image 1" descr="img/mark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5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GROUPE [N°] · [NOMS DES MEMBRES] · [DATE]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i="0" b="1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i="0" b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i="0" b="1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i="0" b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i="0" b="1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i="0" b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i="0" b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preuve</a:t>
            </a:r>
            <a:r>
              <a:rPr sz="1300" i="0" b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i="0" b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i="0" b="1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i="0" b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i="0" b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i="0" b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i="0" b="1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i="0" b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1097280"/>
                <a:gridCol w="4690872"/>
                <a:gridCol w="10972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i="0" b="1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1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1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1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i="0" b="1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i="0" b="1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i="0" b="1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i="0" b="1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i="0" b="1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i="0" b="1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i="0" b="1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i="0" b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2194560"/>
                <a:gridCol w="1188720"/>
                <a:gridCol w="1188720"/>
                <a:gridCol w="1188720"/>
                <a:gridCol w="1280160"/>
                <a:gridCol w="130759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6035040"/>
                <a:gridCol w="231343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i="0" b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nombre de lignes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mesuré et 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clé primaire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Une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observation chiffrée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par table (nulls, doublons de clé, particularités).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1" cy="2926080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2011680"/>
                <a:gridCol w="1463040"/>
                <a:gridCol w="2194560"/>
                <a:gridCol w="405079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Clé primaire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i="0" b="1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Bronze et porte B : la copie est-elle fidèle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1">
                <a:solidFill>
                  <a:srgbClr val="F5A623"/>
                </a:solidFill>
                <a:latin typeface="Inter"/>
              </a:rPr>
              <a:t>RQ-021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RQ-022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1828800"/>
                <a:gridCol w="1828800"/>
                <a:gridCol w="2194560"/>
                <a:gridCol w="24048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source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i="0" b="1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et sa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preuve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2" cy="2011680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3108960"/>
                <a:gridCol w="267919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Écart introduit volontairement sur une copie : la porte échoue-t-elle ?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Un problème de conversion rencontré (décimales, NULL, accents) et sa correction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20107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12715"/>
            <a:ext cx="10908792" cy="101376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motifs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75104"/>
        </p:xfrm>
        <a:graphic>
          <a:graphicData uri="http://schemas.openxmlformats.org/drawingml/2006/table">
            <a:tbl>
              <a:tblPr firstRow="0" bandRow="0"/>
              <a:tblGrid>
                <a:gridCol w="548640"/>
                <a:gridCol w="1828800"/>
                <a:gridCol w="3291840"/>
                <a:gridCol w="1737360"/>
                <a:gridCol w="350215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Indicateur (nulls, vides, distincts, motif)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Valeur mesurée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46371"/>
          <a:ext cx="10908792" cy="1316736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3108960"/>
                <a:gridCol w="1554480"/>
                <a:gridCol w="1737360"/>
                <a:gridCol w="267919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Motif testé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Exemple non conforme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i="0" b="1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Pour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496007"/>
          <a:ext cx="10908792" cy="352044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2194560"/>
                <a:gridCol w="1463040"/>
                <a:gridCol w="5422392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L'</a:t>
            </a:r>
            <a:r>
              <a:rPr sz="1300" i="0" b="1">
                <a:solidFill>
                  <a:srgbClr val="F5A623"/>
                </a:solidFill>
                <a:latin typeface="Inter"/>
              </a:rPr>
              <a:t>écart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CD-001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4754880"/>
                <a:gridCol w="2011680"/>
                <a:gridCol w="213055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démontré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déclaré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i="0" b="1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i="0" b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Pour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rule_id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2926080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2011680"/>
                <a:gridCol w="2926080"/>
                <a:gridCol w="1097280"/>
                <a:gridCol w="1188720"/>
                <a:gridCol w="1188720"/>
                <a:gridCol w="14904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En échec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11316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Sévérité : bloquante ou avertissement. Chemin des suites de validation : voir le dépôt, reports/ge/gx/expectations.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pièges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avant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après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Un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042416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3840480"/>
                <a:gridCol w="1737360"/>
                <a:gridCol w="1737360"/>
                <a:gridCol w="249631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27652"/>
          <a:ext cx="10908792" cy="1389888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2926080"/>
                <a:gridCol w="1463040"/>
                <a:gridCol w="2926080"/>
                <a:gridCol w="249631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0898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Chemins : export complet des lignes en échec ; échantillon commenté de 20 lignes.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1">
                <a:solidFill>
                  <a:srgbClr val="F5A623"/>
                </a:solidFill>
                <a:latin typeface="Inter"/>
              </a:rPr>
              <a:t>RQ-002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date de référence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Une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phrase de synthèse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05256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3840480"/>
                <a:gridCol w="1828800"/>
                <a:gridCol w="249631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801160"/>
          <a:ext cx="10908792" cy="150876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2194560"/>
                <a:gridCol w="1554480"/>
                <a:gridCol w="2377440"/>
                <a:gridCol w="295351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19648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712256"/>
            <a:ext cx="10908792" cy="41422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démontré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déclaré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i="0" b="1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i="0" b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règle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et 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couche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échec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2743200"/>
                <a:gridCol w="1280160"/>
                <a:gridCol w="2743200"/>
                <a:gridCol w="1280160"/>
                <a:gridCol w="1856231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conclusion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avant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après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1371600"/>
                <a:gridCol w="1554480"/>
                <a:gridCol w="1188720"/>
                <a:gridCol w="313639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 firstRow="0" bandRow="0"/>
              <a:tblGrid>
                <a:gridCol w="4572000"/>
                <a:gridCol w="2194560"/>
                <a:gridCol w="414223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1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Data Owner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2194560"/>
                <a:gridCol w="2103120"/>
                <a:gridCol w="2103120"/>
                <a:gridCol w="21305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2926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démontré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déclaré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i="0" b="1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i="0" b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et 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garde-fou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Une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645920"/>
                <a:gridCol w="2011680"/>
                <a:gridCol w="432511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2011680"/>
                <a:gridCol w="2011680"/>
                <a:gridCol w="2011680"/>
                <a:gridCol w="19476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bronze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taux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silver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i="0" b="1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bloquantes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2011680"/>
                <a:gridCol w="1828800"/>
                <a:gridCol w="587959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371600"/>
                <a:gridCol w="1463040"/>
                <a:gridCol w="1463040"/>
                <a:gridCol w="1188720"/>
                <a:gridCol w="432511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1">
                <a:solidFill>
                  <a:srgbClr val="F5A623"/>
                </a:solidFill>
                <a:latin typeface="Inter"/>
              </a:rPr>
              <a:t>Précision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rappel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i="0" b="1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2926080"/>
                <a:gridCol w="4690872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 firstRow="0" bandRow="0"/>
              <a:tblGrid>
                <a:gridCol w="5486400"/>
                <a:gridCol w="2743200"/>
              </a:tblGrid>
              <a:tr h="283464"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1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Une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trompe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828800"/>
                <a:gridCol w="219456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2011680"/>
                <a:gridCol w="3749039"/>
                <a:gridCol w="3502152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lignes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1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vue unique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L'</a:t>
            </a:r>
            <a:r>
              <a:rPr sz="1300" i="0" b="1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645920"/>
                <a:gridCol w="2560320"/>
                <a:gridCol w="39593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Pour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828800"/>
                <a:gridCol w="2194560"/>
                <a:gridCol w="2377440"/>
                <a:gridCol w="194767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i="0" b="1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démontré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déclaré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i="0" b="1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i="0" b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1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descend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expliquée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Une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 firstRow="0" bandRow="0"/>
              <a:tblGrid>
                <a:gridCol w="1005840"/>
                <a:gridCol w="1463040"/>
                <a:gridCol w="1005840"/>
                <a:gridCol w="1005840"/>
                <a:gridCol w="1005840"/>
                <a:gridCol w="1371600"/>
                <a:gridCol w="405079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empreinte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L'</a:t>
            </a:r>
            <a:r>
              <a:rPr sz="1300" i="0" b="1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i="0" b="1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i="0" b="1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4023360"/>
                <a:gridCol w="1554480"/>
                <a:gridCol w="222199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828800"/>
                <a:gridCol w="2011680"/>
                <a:gridCol w="1828800"/>
                <a:gridCol w="2011680"/>
                <a:gridCol w="149047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lineage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670255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démontré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déclaré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i="0" b="1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250" i="0" b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i="0" b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1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certificat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1645920"/>
                <a:gridCol w="1645920"/>
                <a:gridCol w="1645920"/>
                <a:gridCol w="1737360"/>
                <a:gridCol w="185623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371600"/>
                <a:gridCol w="1280160"/>
                <a:gridCol w="3136392"/>
                <a:gridCol w="19202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i="0" b="1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Data Owner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rôles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conditions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signature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2560320"/>
                <a:gridCol w="21305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1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i="0" b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Chaque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i="0" b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 firstRow="0" bandRow="0"/>
              <a:tblGrid>
                <a:gridCol w="457200"/>
                <a:gridCol w="822960"/>
                <a:gridCol w="822960"/>
                <a:gridCol w="1371600"/>
                <a:gridCol w="2377440"/>
                <a:gridCol w="2194560"/>
                <a:gridCol w="1188720"/>
                <a:gridCol w="16733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950" i="0" b="1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i="0" b="1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i="0" b="1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i="0" b="1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i="0" b="1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i="0" b="1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i="0" b="1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i="0" b="1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i="0" b="1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i="0" b="1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i="0" b="1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i="0" b="1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i="0" b="1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i="0" b="1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i="0" b="1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statut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preuve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2560320"/>
                <a:gridCol w="1005840"/>
                <a:gridCol w="1188720"/>
                <a:gridCol w="1188720"/>
                <a:gridCol w="3867912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1" b="0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L'</a:t>
            </a:r>
            <a:r>
              <a:rPr sz="1300" i="0" b="1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688543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i="0" b="1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i="0" b="1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i="0" b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marT="45720" marB="45720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rIns="0" t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i="0" b="1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b="1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Chaque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zone ambre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déclaré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 b="0">
                <a:solidFill>
                  <a:srgbClr val="F7F6F2"/>
                </a:solidFill>
                <a:latin typeface="Inter"/>
              </a:rPr>
              <a:t>Chaque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chiffre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a sa </a:t>
            </a:r>
            <a:r>
              <a:rPr sz="1300" i="0" b="1">
                <a:solidFill>
                  <a:srgbClr val="F5A623"/>
                </a:solidFill>
                <a:latin typeface="Inter"/>
              </a:rPr>
              <a:t>preuve</a:t>
            </a:r>
            <a:r>
              <a:rPr sz="1300" i="0" b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400" i="0" b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400" i="0" b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400" i="0" b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400" i="0" b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400" i="0" b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400" i="0" b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i="0" b="0">
                <a:solidFill>
                  <a:srgbClr val="F7F6F2"/>
                </a:solidFill>
                <a:latin typeface="Consolas"/>
              </a:rPr>
              <a:t>[ ]</a:t>
            </a:r>
            <a:r>
              <a:rPr sz="1400" i="0" b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Decimal Insights Consulting</cp:lastModifiedBy>
  <cp:revision>1</cp:revision>
  <dcterms:created xsi:type="dcterms:W3CDTF">2026-10-12T11:18:29Z</dcterms:created>
  <dcterms:modified xsi:type="dcterms:W3CDTF">2026-10-12T11:18:29Z</dcterms:modified>
</cp:coreProperties>
</file>