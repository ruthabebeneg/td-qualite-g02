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0"/>
  </p:notesMasterIdLst>
  <p:sldIdLst>
    <p:sldId id="264" r:id="rId2"/>
    <p:sldId id="265" r:id="rId3"/>
    <p:sldId id="266" r:id="rId4"/>
    <p:sldId id="267" r:id="rId5"/>
    <p:sldId id="268" r:id="rId6"/>
    <p:sldId id="269" r:id="rId7"/>
    <p:sldId id="270" r:id="rId8"/>
    <p:sldId id="271" r:id="rId9"/>
    <p:sldId id="272" r:id="rId10"/>
    <p:sldId id="273" r:id="rId11"/>
    <p:sldId id="274" r:id="rId12"/>
    <p:sldId id="275" r:id="rId13"/>
    <p:sldId id="276" r:id="rId14"/>
    <p:sldId id="277" r:id="rId15"/>
    <p:sldId id="278" r:id="rId16"/>
    <p:sldId id="279" r:id="rId17"/>
    <p:sldId id="311" r:id="rId18"/>
    <p:sldId id="280" r:id="rId19"/>
    <p:sldId id="281" r:id="rId20"/>
    <p:sldId id="282" r:id="rId21"/>
    <p:sldId id="283" r:id="rId22"/>
    <p:sldId id="284" r:id="rId23"/>
    <p:sldId id="285" r:id="rId24"/>
    <p:sldId id="286" r:id="rId25"/>
    <p:sldId id="287" r:id="rId26"/>
    <p:sldId id="288" r:id="rId27"/>
    <p:sldId id="289" r:id="rId28"/>
    <p:sldId id="290" r:id="rId29"/>
    <p:sldId id="291" r:id="rId30"/>
    <p:sldId id="292" r:id="rId31"/>
    <p:sldId id="293" r:id="rId32"/>
    <p:sldId id="294" r:id="rId33"/>
    <p:sldId id="295" r:id="rId34"/>
    <p:sldId id="296" r:id="rId35"/>
    <p:sldId id="297" r:id="rId36"/>
    <p:sldId id="298" r:id="rId37"/>
    <p:sldId id="299" r:id="rId38"/>
    <p:sldId id="300" r:id="rId39"/>
    <p:sldId id="301" r:id="rId40"/>
    <p:sldId id="302" r:id="rId41"/>
    <p:sldId id="303" r:id="rId42"/>
    <p:sldId id="304" r:id="rId43"/>
    <p:sldId id="305" r:id="rId44"/>
    <p:sldId id="306" r:id="rId45"/>
    <p:sldId id="307" r:id="rId46"/>
    <p:sldId id="308" r:id="rId47"/>
    <p:sldId id="309" r:id="rId48"/>
    <p:sldId id="310" r:id="rId4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E291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CFD56CC-F8E3-4C32-846E-2C9189292C9B}" v="58" dt="2026-10-23T13:46:08.744"/>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002" autoAdjust="0"/>
    <p:restoredTop sz="88929" autoAdjust="0"/>
  </p:normalViewPr>
  <p:slideViewPr>
    <p:cSldViewPr snapToGrid="0" snapToObjects="1">
      <p:cViewPr>
        <p:scale>
          <a:sx n="75" d="100"/>
          <a:sy n="75" d="100"/>
        </p:scale>
        <p:origin x="360" y="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11513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Modèle à compléter par chaque groupe. Remplacez les crochets de la couverture. Ne supprimez aucun encadré « Attendu » : la grille de notation s'y réfère.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Lisez</a:t>
            </a:r>
            <a:r>
              <a:rPr dirty="0"/>
              <a:t> </a:t>
            </a:r>
            <a:r>
              <a:rPr dirty="0" err="1"/>
              <a:t>cette</a:t>
            </a:r>
            <a:r>
              <a:rPr dirty="0"/>
              <a:t> page avant de </a:t>
            </a:r>
            <a:r>
              <a:rPr dirty="0" err="1"/>
              <a:t>rédiger</a:t>
            </a:r>
            <a:r>
              <a:rPr dirty="0"/>
              <a:t>. Les chiffres </a:t>
            </a:r>
            <a:r>
              <a:rPr dirty="0" err="1"/>
              <a:t>que</a:t>
            </a:r>
            <a:r>
              <a:rPr dirty="0"/>
              <a:t> vous </a:t>
            </a:r>
            <a:r>
              <a:rPr dirty="0" err="1"/>
              <a:t>reportez</a:t>
            </a:r>
            <a:r>
              <a:rPr dirty="0"/>
              <a:t> </a:t>
            </a:r>
            <a:r>
              <a:rPr dirty="0" err="1"/>
              <a:t>viennent</a:t>
            </a:r>
            <a:r>
              <a:rPr dirty="0"/>
              <a:t> de </a:t>
            </a:r>
            <a:r>
              <a:rPr dirty="0" err="1"/>
              <a:t>vos</a:t>
            </a:r>
            <a:r>
              <a:rPr dirty="0"/>
              <a:t> </a:t>
            </a:r>
            <a:r>
              <a:rPr dirty="0" err="1"/>
              <a:t>mesures</a:t>
            </a:r>
            <a:r>
              <a:rPr dirty="0"/>
              <a:t> (</a:t>
            </a:r>
            <a:r>
              <a:rPr dirty="0" err="1"/>
              <a:t>dq.dq_history</a:t>
            </a:r>
            <a:r>
              <a:rPr dirty="0"/>
              <a:t>, scans Soda, </a:t>
            </a:r>
            <a:r>
              <a:rPr dirty="0" err="1"/>
              <a:t>requêtes</a:t>
            </a:r>
            <a:r>
              <a:rPr dirty="0"/>
              <a:t> du notebook), jamais d'un </a:t>
            </a:r>
            <a:r>
              <a:rPr dirty="0" err="1"/>
              <a:t>autre</a:t>
            </a:r>
            <a:r>
              <a:rPr dirty="0"/>
              <a:t> </a:t>
            </a:r>
            <a:r>
              <a:rPr dirty="0" err="1"/>
              <a:t>groupe</a:t>
            </a:r>
            <a:r>
              <a:rPr dirty="0"/>
              <a:t> </a:t>
            </a:r>
            <a:r>
              <a:rPr dirty="0" err="1"/>
              <a:t>ni</a:t>
            </a:r>
            <a:r>
              <a:rPr dirty="0"/>
              <a:t> d'un </a:t>
            </a:r>
            <a:r>
              <a:rPr dirty="0" err="1"/>
              <a:t>tutoriel</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grille est celle du dossier go/no-go. Le livrable de séance et le dossier final sont évalués ensemble.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Renseignez cette page dès la fin de l'ouverture de S1, puis mettez-la à jour à chaque séance.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Cinq lignes par zone. Pas de copier-coller de l'énoncé : reformulez.</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Consigne</a:t>
            </a:r>
            <a:r>
              <a:rPr dirty="0"/>
              <a:t> : </a:t>
            </a:r>
            <a:r>
              <a:rPr dirty="0" err="1"/>
              <a:t>comptez</a:t>
            </a:r>
            <a:r>
              <a:rPr dirty="0"/>
              <a:t> avec </a:t>
            </a:r>
            <a:r>
              <a:rPr dirty="0" err="1"/>
              <a:t>une</a:t>
            </a:r>
            <a:r>
              <a:rPr dirty="0"/>
              <a:t> </a:t>
            </a:r>
            <a:r>
              <a:rPr dirty="0" err="1"/>
              <a:t>requête</a:t>
            </a:r>
            <a:r>
              <a:rPr dirty="0"/>
              <a:t>, pas à </a:t>
            </a:r>
            <a:r>
              <a:rPr dirty="0" err="1"/>
              <a:t>l'œil</a:t>
            </a:r>
            <a:r>
              <a:rPr dirty="0"/>
              <a:t>. </a:t>
            </a:r>
            <a:r>
              <a:rPr dirty="0" err="1"/>
              <a:t>Indiquez</a:t>
            </a:r>
            <a:r>
              <a:rPr dirty="0"/>
              <a:t> le notebook qui </a:t>
            </a:r>
            <a:r>
              <a:rPr dirty="0" err="1"/>
              <a:t>contient</a:t>
            </a:r>
            <a:r>
              <a:rPr dirty="0"/>
              <a:t> la </a:t>
            </a:r>
            <a:r>
              <a:rPr dirty="0" err="1"/>
              <a:t>requête</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la porte B juge la fidélité de la copie, pas la qualité des valeurs. Un écart nul est un résultat à documenter.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l'épreuve de l'écart volontaire prouve que votre porte détecte quelque chose. Sans elle, une porte toujours verte ne prouve rien.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distinguez NULL, vide et blanc. Un constat sans valeur mesurée n'en est pas un.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une justification est un chiffre (taux de valeurs au format X, nombre de distincts, plage), pas une impression.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les trois chiffres sont vrais pour trois questions différentes. Le problème est la définition.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cochez uniquement ce que vous pouvez montrer. Une case non cochée et expliquée vaut mieux qu'une case cochée sans preuve.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un taux sans nombre de lignes testées est ininterprétable. Reportez les deux.</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nommez la famille d'erreur. « Valeurs incorrectes » n'est pas une famille.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la phrase de synthèse doit contenir un chiffre et la couche concernée.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437130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la phrase de synthèse doit contenir un chiffre et la couche concernée.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cochez uniquement ce que vous pouvez montrer. Une case non cochée et expliquée vaut mieux qu'une case cochée sans preuve.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si Soda et Great Expectations donnent des chiffres différents pour la même règle, expliquez pourquoi avant de conclure.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un taux élevé de lignes en échec sur une clé étrangère est un indice de valeur sentinelle avant d'être une anomalie.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une règle de correction proposée sans rôle destinataire n'est pas une décision.</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cochez uniquement ce que vous pouvez montrer. Une case non cochée et expliquée vaut mieux qu'une case cochée sans preuve.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rien n'est supprimé en silence. Chaque ligne absente de silver est dans dq.rejets avec le code de sa règle.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une règle qui baisse de bronze à silver n'est pas forcément un bug. Cherchez d'abord un effet de la quarantaine (lignes devenues orphelines).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les seuils se défendent par la précision et le rappel mesurés, pas par un ressenti. Reportez-les dans le journal des décisions.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la règle de survie est une décision de gouvernance, pas un détail technique.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un constat expliqué (un contrat orphelin parce que son client a été mis en quarantaine) est un résultat, pas une erreur.</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trois lignes par cas suffisent : gold, silver, bronze, source. Un identifiant de lot est obligatoire.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cochez uniquement ce que vous pouvez montrer. Une case non cochée et expliquée vaut mieux qu'une case cochée sans preuve.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insérez l'image des courbes dans la zone. Une courbe sans légende ni axe nommé n'est pas lisible par un non-technicien.</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un certificat qui ne mentionne pas ce qu'il ne couvre pas est trompeur. Listez les règles non mesurées.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la preuve d'un refus est le message du script, pas une capture du code.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un lineage lisible va des sources à la table gold sans saut.</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cochez uniquement ce que vous pouvez montrer. Une case non cochée et expliquée vaut mieux qu'une case cochée sans preuve.</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ne présentez pas un GO que le certificat contredit. Un NO-GO bien argumenté vaut un GO bien argumenté.</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les chiffres de cette page sont ceux de S5, sans retouche.</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un écart non chiffré n'est pas un écart, c'est une impression.</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Consigne : la décision est attribuée à un rôle, pas au groupe.</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 journal doit être identique à celui du dépôt (livrables/JOURNAL_DECISIONS.md).</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Reprenez les totaux de AVANCEMENT.md.</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étiquettes fixent l'état rendu à la fin de chaque séance.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Cochez en remplaçant [ ] par [x].</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solidFill>
          <a:srgbClr val="0D1B2A"/>
        </a:solidFill>
        <a:effectLst/>
      </p:bgPr>
    </p:bg>
    <p:spTree>
      <p:nvGrpSpPr>
        <p:cNvPr id="1" name=""/>
        <p:cNvGrpSpPr/>
        <p:nvPr/>
      </p:nvGrpSpPr>
      <p:grpSpPr>
        <a:xfrm>
          <a:off x="0" y="0"/>
          <a:ext cx="0" cy="0"/>
          <a:chOff x="0" y="0"/>
          <a:chExt cx="0" cy="0"/>
        </a:xfrm>
      </p:grpSpPr>
      <p:pic>
        <p:nvPicPr>
          <p:cNvPr id="2" name="Image 0" descr="img/deco_dark.png"/>
          <p:cNvPicPr>
            <a:picLocks noChangeAspect="1"/>
          </p:cNvPicPr>
          <p:nvPr/>
        </p:nvPicPr>
        <p:blipFill>
          <a:blip r:embed="rId2"/>
          <a:stretch>
            <a:fillRect/>
          </a:stretch>
        </p:blipFill>
        <p:spPr>
          <a:xfrm>
            <a:off x="6949440" y="1097280"/>
            <a:ext cx="4754880" cy="4754880"/>
          </a:xfrm>
          <a:prstGeom prst="rect">
            <a:avLst/>
          </a:prstGeom>
        </p:spPr>
      </p:pic>
      <p:pic>
        <p:nvPicPr>
          <p:cNvPr id="3" name="Image 1" descr="img/logo_dark.png"/>
          <p:cNvPicPr>
            <a:picLocks noChangeAspect="1"/>
          </p:cNvPicPr>
          <p:nvPr/>
        </p:nvPicPr>
        <p:blipFill>
          <a:blip r:embed="rId3"/>
          <a:stretch>
            <a:fillRect/>
          </a:stretch>
        </p:blipFill>
        <p:spPr>
          <a:xfrm>
            <a:off x="640080" y="640080"/>
            <a:ext cx="3474720" cy="731520"/>
          </a:xfrm>
          <a:prstGeom prst="rect">
            <a:avLst/>
          </a:prstGeom>
        </p:spPr>
      </p:pic>
      <p:sp>
        <p:nvSpPr>
          <p:cNvPr id="4" name="Shape 0"/>
          <p:cNvSpPr/>
          <p:nvPr/>
        </p:nvSpPr>
        <p:spPr>
          <a:xfrm>
            <a:off x="640080" y="2148840"/>
            <a:ext cx="822960" cy="54864"/>
          </a:xfrm>
          <a:prstGeom prst="rect">
            <a:avLst/>
          </a:prstGeom>
          <a:solidFill>
            <a:srgbClr val="0F9B8E"/>
          </a:solidFill>
          <a:ln/>
        </p:spPr>
        <p:txBody>
          <a:bodyPr/>
          <a:lstStyle/>
          <a:p>
            <a:endParaRPr lang="fr-FR"/>
          </a:p>
        </p:txBody>
      </p:sp>
      <p:sp>
        <p:nvSpPr>
          <p:cNvPr id="5" name="Text 1"/>
          <p:cNvSpPr>
            <a:spLocks noGrp="1"/>
          </p:cNvSpPr>
          <p:nvPr>
            <p:ph type="title" idx="103" hasCustomPrompt="1"/>
          </p:nvPr>
        </p:nvSpPr>
        <p:spPr>
          <a:xfrm>
            <a:off x="640080" y="2377440"/>
            <a:ext cx="6766560" cy="1737360"/>
          </a:xfrm>
          <a:prstGeom prst="rect">
            <a:avLst/>
          </a:prstGeom>
          <a:noFill/>
          <a:ln/>
        </p:spPr>
        <p:txBody>
          <a:bodyPr wrap="square" rtlCol="0"/>
          <a:lstStyle>
            <a:lvl1pPr marL="0" indent="0" algn="l">
              <a:buNone/>
              <a:defRPr lang="en-US" sz="5000" dirty="0">
                <a:solidFill>
                  <a:schemeClr val="tx1"/>
                </a:solidFill>
                <a:latin typeface="Fraunces SemiBold" pitchFamily="34" charset="0"/>
                <a:ea typeface="Fraunces SemiBold" pitchFamily="34" charset="-122"/>
                <a:cs typeface="Fraunces SemiBold" pitchFamily="34" charset="-120"/>
              </a:defRPr>
            </a:lvl1pPr>
          </a:lstStyle>
          <a:p>
            <a:pPr marL="0" indent="0" algn="l">
              <a:buNone/>
            </a:pPr>
            <a:endParaRPr lang="en-US" sz="5000" dirty="0"/>
          </a:p>
        </p:txBody>
      </p:sp>
      <p:sp>
        <p:nvSpPr>
          <p:cNvPr id="6" name="Text 1"/>
          <p:cNvSpPr>
            <a:spLocks noGrp="1"/>
          </p:cNvSpPr>
          <p:nvPr>
            <p:ph type="body" idx="104" hasCustomPrompt="1"/>
          </p:nvPr>
        </p:nvSpPr>
        <p:spPr>
          <a:xfrm>
            <a:off x="640080" y="4251960"/>
            <a:ext cx="6400800" cy="822960"/>
          </a:xfrm>
          <a:prstGeom prst="rect">
            <a:avLst/>
          </a:prstGeom>
          <a:noFill/>
          <a:ln/>
        </p:spPr>
        <p:txBody>
          <a:bodyPr wrap="square" rtlCol="0"/>
          <a:lstStyle>
            <a:lvl1pPr marL="0" indent="0" algn="l">
              <a:buNone/>
              <a:defRPr lang="en-US" sz="2000" dirty="0">
                <a:solidFill>
                  <a:schemeClr val="tx2"/>
                </a:solidFill>
                <a:latin typeface="Inter" pitchFamily="34" charset="0"/>
                <a:ea typeface="Inter" pitchFamily="34" charset="-122"/>
                <a:cs typeface="Inter" pitchFamily="34" charset="-120"/>
              </a:defRPr>
            </a:lvl1pPr>
          </a:lstStyle>
          <a:p>
            <a:pPr marL="0" indent="0" algn="l">
              <a:buNone/>
            </a:pPr>
            <a:endParaRPr lang="en-US" sz="2000" dirty="0"/>
          </a:p>
        </p:txBody>
      </p:sp>
      <p:sp>
        <p:nvSpPr>
          <p:cNvPr id="7" name="Text 1"/>
          <p:cNvSpPr>
            <a:spLocks noGrp="1"/>
          </p:cNvSpPr>
          <p:nvPr>
            <p:ph type="body" idx="105" hasCustomPrompt="1"/>
          </p:nvPr>
        </p:nvSpPr>
        <p:spPr>
          <a:xfrm>
            <a:off x="640080" y="5577840"/>
            <a:ext cx="6400800" cy="365760"/>
          </a:xfrm>
          <a:prstGeom prst="rect">
            <a:avLst/>
          </a:prstGeom>
          <a:noFill/>
          <a:ln/>
        </p:spPr>
        <p:txBody>
          <a:bodyPr wrap="square" rtlCol="0"/>
          <a:lstStyle>
            <a:lvl1pPr marL="0" indent="0" algn="l">
              <a:buNone/>
              <a:defRPr lang="en-US" sz="1200" kern="0" spc="200" dirty="0">
                <a:solidFill>
                  <a:schemeClr val="accent2"/>
                </a:solidFill>
                <a:latin typeface="Inter" pitchFamily="34" charset="0"/>
                <a:ea typeface="Inter" pitchFamily="34" charset="-122"/>
                <a:cs typeface="Inter" pitchFamily="34" charset="-120"/>
              </a:defRPr>
            </a:lvl1pPr>
          </a:lstStyle>
          <a:p>
            <a:pPr marL="0" indent="0" algn="l">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D1B2A"/>
        </a:solidFill>
        <a:effectLst/>
      </p:bgPr>
    </p:bg>
    <p:spTree>
      <p:nvGrpSpPr>
        <p:cNvPr id="1" name=""/>
        <p:cNvGrpSpPr/>
        <p:nvPr/>
      </p:nvGrpSpPr>
      <p:grpSpPr>
        <a:xfrm>
          <a:off x="0" y="0"/>
          <a:ext cx="0" cy="0"/>
          <a:chOff x="0" y="0"/>
          <a:chExt cx="0" cy="0"/>
        </a:xfrm>
      </p:grpSpPr>
      <p:pic>
        <p:nvPicPr>
          <p:cNvPr id="2" name="Image 0" descr="img/deco_dark.png"/>
          <p:cNvPicPr>
            <a:picLocks noChangeAspect="1"/>
          </p:cNvPicPr>
          <p:nvPr/>
        </p:nvPicPr>
        <p:blipFill>
          <a:blip r:embed="rId2"/>
          <a:stretch>
            <a:fillRect/>
          </a:stretch>
        </p:blipFill>
        <p:spPr>
          <a:xfrm>
            <a:off x="7498080" y="1828800"/>
            <a:ext cx="4206240" cy="4206240"/>
          </a:xfrm>
          <a:prstGeom prst="rect">
            <a:avLst/>
          </a:prstGeom>
        </p:spPr>
      </p:pic>
      <p:sp>
        <p:nvSpPr>
          <p:cNvPr id="3" name="Shape 0"/>
          <p:cNvSpPr/>
          <p:nvPr/>
        </p:nvSpPr>
        <p:spPr>
          <a:xfrm>
            <a:off x="640080" y="1828800"/>
            <a:ext cx="822960" cy="54864"/>
          </a:xfrm>
          <a:prstGeom prst="rect">
            <a:avLst/>
          </a:prstGeom>
          <a:solidFill>
            <a:srgbClr val="0F9B8E"/>
          </a:solidFill>
          <a:ln/>
        </p:spPr>
      </p:sp>
      <p:sp>
        <p:nvSpPr>
          <p:cNvPr id="4" name="Text 1"/>
          <p:cNvSpPr>
            <a:spLocks noGrp="1"/>
          </p:cNvSpPr>
          <p:nvPr>
            <p:ph type="body" idx="102" hasCustomPrompt="1"/>
          </p:nvPr>
        </p:nvSpPr>
        <p:spPr>
          <a:xfrm>
            <a:off x="640080" y="2011680"/>
            <a:ext cx="2743200" cy="1188720"/>
          </a:xfrm>
          <a:prstGeom prst="rect">
            <a:avLst/>
          </a:prstGeom>
          <a:noFill/>
          <a:ln/>
        </p:spPr>
        <p:txBody>
          <a:bodyPr wrap="square" rtlCol="0"/>
          <a:lstStyle>
            <a:lvl1pPr marL="0" indent="0" algn="l">
              <a:buNone/>
              <a:defRPr lang="en-US" sz="7200" dirty="0">
                <a:solidFill>
                  <a:schemeClr val="accent1"/>
                </a:solidFill>
                <a:latin typeface="Fraunces SemiBold" pitchFamily="34" charset="0"/>
                <a:ea typeface="Fraunces SemiBold" pitchFamily="34" charset="-122"/>
                <a:cs typeface="Fraunces SemiBold" pitchFamily="34" charset="-120"/>
              </a:defRPr>
            </a:lvl1pPr>
          </a:lstStyle>
          <a:p>
            <a:pPr marL="0" indent="0" algn="l">
              <a:buNone/>
            </a:pPr>
            <a:endParaRPr lang="en-US" sz="7200" dirty="0"/>
          </a:p>
        </p:txBody>
      </p:sp>
      <p:sp>
        <p:nvSpPr>
          <p:cNvPr id="5" name="Text 1"/>
          <p:cNvSpPr>
            <a:spLocks noGrp="1"/>
          </p:cNvSpPr>
          <p:nvPr>
            <p:ph type="title" idx="103" hasCustomPrompt="1"/>
          </p:nvPr>
        </p:nvSpPr>
        <p:spPr>
          <a:xfrm>
            <a:off x="640080" y="3200400"/>
            <a:ext cx="6583680" cy="1645920"/>
          </a:xfrm>
          <a:prstGeom prst="rect">
            <a:avLst/>
          </a:prstGeom>
          <a:noFill/>
          <a:ln/>
        </p:spPr>
        <p:txBody>
          <a:bodyPr wrap="square" rtlCol="0"/>
          <a:lstStyle>
            <a:lvl1pPr marL="0" indent="0" algn="l">
              <a:buNone/>
              <a:defRPr lang="en-US" sz="4200" dirty="0">
                <a:solidFill>
                  <a:schemeClr val="tx1"/>
                </a:solidFill>
                <a:latin typeface="Fraunces SemiBold" pitchFamily="34" charset="0"/>
                <a:ea typeface="Fraunces SemiBold" pitchFamily="34" charset="-122"/>
                <a:cs typeface="Fraunces SemiBold" pitchFamily="34" charset="-120"/>
              </a:defRPr>
            </a:lvl1pPr>
          </a:lstStyle>
          <a:p>
            <a:pPr marL="0" indent="0" algn="l">
              <a:buNone/>
            </a:pPr>
            <a:endParaRPr lang="en-US" sz="4200" dirty="0"/>
          </a:p>
        </p:txBody>
      </p:sp>
      <p:pic>
        <p:nvPicPr>
          <p:cNvPr id="6" name="Image 1" descr="img/mark_dark.png"/>
          <p:cNvPicPr>
            <a:picLocks noChangeAspect="1"/>
          </p:cNvPicPr>
          <p:nvPr/>
        </p:nvPicPr>
        <p:blipFill>
          <a:blip r:embed="rId3"/>
          <a:stretch>
            <a:fillRect/>
          </a:stretch>
        </p:blipFill>
        <p:spPr>
          <a:xfrm>
            <a:off x="640080" y="6336792"/>
            <a:ext cx="237744" cy="237744"/>
          </a:xfrm>
          <a:prstGeom prst="rect">
            <a:avLst/>
          </a:prstGeom>
        </p:spPr>
      </p:pic>
      <p:sp>
        <p:nvSpPr>
          <p:cNvPr id="7" name="Text 1"/>
          <p:cNvSpPr/>
          <p:nvPr/>
        </p:nvSpPr>
        <p:spPr>
          <a:xfrm>
            <a:off x="987552" y="6309360"/>
            <a:ext cx="4572000" cy="292608"/>
          </a:xfrm>
          <a:prstGeom prst="rect">
            <a:avLst/>
          </a:prstGeom>
          <a:noFill/>
          <a:ln/>
        </p:spPr>
        <p:txBody>
          <a:bodyPr wrap="square" lIns="0" tIns="0" rIns="0" bIns="0" rtlCol="0" anchor="ctr"/>
          <a:lstStyle/>
          <a:p>
            <a:pPr marL="0" indent="0">
              <a:buNone/>
            </a:pPr>
            <a:r>
              <a:rPr lang="en-US" sz="1000" kern="0" spc="300" dirty="0">
                <a:solidFill>
                  <a:schemeClr val="accent3"/>
                </a:solidFill>
                <a:latin typeface="Inter" pitchFamily="34" charset="0"/>
                <a:ea typeface="Inter" pitchFamily="34" charset="-122"/>
                <a:cs typeface="Inter" pitchFamily="34" charset="-120"/>
              </a:rPr>
              <a:t>DECIMAL INSIGHTS CONSULTING</a:t>
            </a:r>
            <a:endParaRPr lang="en-US" sz="1000" dirty="0"/>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‹N°›</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re seul">
    <p:bg>
      <p:bgPr>
        <a:solidFill>
          <a:srgbClr val="0D1B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502920"/>
            <a:ext cx="10911535" cy="1005840"/>
          </a:xfrm>
          <a:prstGeom prst="rect">
            <a:avLst/>
          </a:prstGeom>
          <a:noFill/>
          <a:ln/>
        </p:spPr>
        <p:txBody>
          <a:bodyPr wrap="square" rtlCol="0"/>
          <a:lstStyle>
            <a:lvl1pPr marL="0" indent="0" algn="l">
              <a:buNone/>
              <a:defRPr lang="en-US" sz="3600" dirty="0">
                <a:solidFill>
                  <a:schemeClr val="tx1"/>
                </a:solidFill>
                <a:latin typeface="Fraunces SemiBold" pitchFamily="34" charset="0"/>
                <a:ea typeface="Fraunces SemiBold" pitchFamily="34" charset="-122"/>
                <a:cs typeface="Fraunces SemiBold" pitchFamily="34" charset="-120"/>
              </a:defRPr>
            </a:lvl1pPr>
          </a:lstStyle>
          <a:p>
            <a:pPr marL="0" indent="0" algn="l">
              <a:buNone/>
            </a:pPr>
            <a:endParaRPr lang="en-US" sz="3600" dirty="0"/>
          </a:p>
        </p:txBody>
      </p:sp>
      <p:pic>
        <p:nvPicPr>
          <p:cNvPr id="3" name="Image 0" descr="img/mark_dark.png"/>
          <p:cNvPicPr>
            <a:picLocks noChangeAspect="1"/>
          </p:cNvPicPr>
          <p:nvPr/>
        </p:nvPicPr>
        <p:blipFill>
          <a:blip r:embed="rId2"/>
          <a:stretch>
            <a:fillRect/>
          </a:stretch>
        </p:blipFill>
        <p:spPr>
          <a:xfrm>
            <a:off x="640080" y="6336792"/>
            <a:ext cx="237744" cy="237744"/>
          </a:xfrm>
          <a:prstGeom prst="rect">
            <a:avLst/>
          </a:prstGeom>
        </p:spPr>
      </p:pic>
      <p:sp>
        <p:nvSpPr>
          <p:cNvPr id="4" name="Text 0"/>
          <p:cNvSpPr/>
          <p:nvPr/>
        </p:nvSpPr>
        <p:spPr>
          <a:xfrm>
            <a:off x="987552" y="6309360"/>
            <a:ext cx="4572000" cy="292608"/>
          </a:xfrm>
          <a:prstGeom prst="rect">
            <a:avLst/>
          </a:prstGeom>
          <a:noFill/>
          <a:ln/>
        </p:spPr>
        <p:txBody>
          <a:bodyPr wrap="square" lIns="0" tIns="0" rIns="0" bIns="0" rtlCol="0" anchor="ctr"/>
          <a:lstStyle/>
          <a:p>
            <a:pPr marL="0" indent="0">
              <a:buNone/>
            </a:pPr>
            <a:r>
              <a:rPr lang="en-US" sz="1000" kern="0" spc="300" dirty="0">
                <a:solidFill>
                  <a:schemeClr val="accent3"/>
                </a:solidFill>
                <a:latin typeface="Inter" pitchFamily="34" charset="0"/>
                <a:ea typeface="Inter" pitchFamily="34" charset="-122"/>
                <a:cs typeface="Inter" pitchFamily="34" charset="-120"/>
              </a:rPr>
              <a:t>DECIMAL INSIGHTS CONSULTING</a:t>
            </a:r>
            <a:endParaRPr lang="en-US" sz="1000" dirty="0"/>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re et contenu">
    <p:bg>
      <p:bgPr>
        <a:solidFill>
          <a:srgbClr val="0D1B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502920"/>
            <a:ext cx="10911535" cy="1005840"/>
          </a:xfrm>
          <a:prstGeom prst="rect">
            <a:avLst/>
          </a:prstGeom>
          <a:noFill/>
          <a:ln/>
        </p:spPr>
        <p:txBody>
          <a:bodyPr wrap="square" rtlCol="0"/>
          <a:lstStyle>
            <a:lvl1pPr marL="0" indent="0" algn="l">
              <a:buNone/>
              <a:defRPr lang="en-US" sz="3600" dirty="0">
                <a:solidFill>
                  <a:schemeClr val="tx1"/>
                </a:solidFill>
                <a:latin typeface="Fraunces SemiBold" pitchFamily="34" charset="0"/>
                <a:ea typeface="Fraunces SemiBold" pitchFamily="34" charset="-122"/>
                <a:cs typeface="Fraunces SemiBold" pitchFamily="34" charset="-120"/>
              </a:defRPr>
            </a:lvl1pPr>
          </a:lstStyle>
          <a:p>
            <a:pPr marL="0" indent="0" algn="l">
              <a:buNone/>
            </a:pPr>
            <a:endParaRPr lang="en-US" sz="3600" dirty="0"/>
          </a:p>
        </p:txBody>
      </p:sp>
      <p:sp>
        <p:nvSpPr>
          <p:cNvPr id="3" name="Text 0"/>
          <p:cNvSpPr>
            <a:spLocks noGrp="1"/>
          </p:cNvSpPr>
          <p:nvPr>
            <p:ph type="body" idx="101" hasCustomPrompt="1"/>
          </p:nvPr>
        </p:nvSpPr>
        <p:spPr>
          <a:xfrm>
            <a:off x="640080" y="1737360"/>
            <a:ext cx="10911535" cy="4206240"/>
          </a:xfrm>
          <a:prstGeom prst="rect">
            <a:avLst/>
          </a:prstGeom>
          <a:noFill/>
          <a:ln/>
        </p:spPr>
        <p:txBody>
          <a:bodyPr wrap="square" rtlCol="0"/>
          <a:lstStyle>
            <a:lvl1pPr marL="0" indent="0" algn="l">
              <a:buNone/>
              <a:defRPr lang="en-US" sz="1800" dirty="0">
                <a:solidFill>
                  <a:schemeClr val="tx1"/>
                </a:solidFill>
                <a:latin typeface="Inter" pitchFamily="34" charset="0"/>
                <a:ea typeface="Inter" pitchFamily="34" charset="-122"/>
                <a:cs typeface="Inter" pitchFamily="34" charset="-120"/>
              </a:defRPr>
            </a:lvl1pPr>
          </a:lstStyle>
          <a:p>
            <a:pPr marL="0" indent="0" algn="l">
              <a:buNone/>
            </a:pPr>
            <a:endParaRPr lang="en-US" sz="1800" dirty="0"/>
          </a:p>
        </p:txBody>
      </p:sp>
      <p:pic>
        <p:nvPicPr>
          <p:cNvPr id="4" name="Image 0" descr="img/mark_dark.png"/>
          <p:cNvPicPr>
            <a:picLocks noChangeAspect="1"/>
          </p:cNvPicPr>
          <p:nvPr/>
        </p:nvPicPr>
        <p:blipFill>
          <a:blip r:embed="rId2"/>
          <a:stretch>
            <a:fillRect/>
          </a:stretch>
        </p:blipFill>
        <p:spPr>
          <a:xfrm>
            <a:off x="640080" y="6336792"/>
            <a:ext cx="237744" cy="237744"/>
          </a:xfrm>
          <a:prstGeom prst="rect">
            <a:avLst/>
          </a:prstGeom>
        </p:spPr>
      </p:pic>
      <p:sp>
        <p:nvSpPr>
          <p:cNvPr id="5" name="Text 0"/>
          <p:cNvSpPr/>
          <p:nvPr/>
        </p:nvSpPr>
        <p:spPr>
          <a:xfrm>
            <a:off x="987552" y="6309360"/>
            <a:ext cx="4572000" cy="292608"/>
          </a:xfrm>
          <a:prstGeom prst="rect">
            <a:avLst/>
          </a:prstGeom>
          <a:noFill/>
          <a:ln/>
        </p:spPr>
        <p:txBody>
          <a:bodyPr wrap="square" lIns="0" tIns="0" rIns="0" bIns="0" rtlCol="0" anchor="ctr"/>
          <a:lstStyle/>
          <a:p>
            <a:pPr marL="0" indent="0">
              <a:buNone/>
            </a:pPr>
            <a:r>
              <a:rPr lang="en-US" sz="1000" kern="0" spc="300" dirty="0">
                <a:solidFill>
                  <a:schemeClr val="accent3"/>
                </a:solidFill>
                <a:latin typeface="Inter" pitchFamily="34" charset="0"/>
                <a:ea typeface="Inter" pitchFamily="34" charset="-122"/>
                <a:cs typeface="Inter" pitchFamily="34" charset="-120"/>
              </a:rPr>
              <a:t>DECIMAL INSIGHTS CONSULTING</a:t>
            </a:r>
            <a:endParaRPr lang="en-US" sz="1000" dirty="0"/>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‹N°›</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eux colonnes">
    <p:bg>
      <p:bgPr>
        <a:solidFill>
          <a:srgbClr val="0D1B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502920"/>
            <a:ext cx="10911535" cy="1005840"/>
          </a:xfrm>
          <a:prstGeom prst="rect">
            <a:avLst/>
          </a:prstGeom>
          <a:noFill/>
          <a:ln/>
        </p:spPr>
        <p:txBody>
          <a:bodyPr wrap="square" rtlCol="0"/>
          <a:lstStyle>
            <a:lvl1pPr marL="0" indent="0" algn="l">
              <a:buNone/>
              <a:defRPr lang="en-US" sz="3600" dirty="0">
                <a:solidFill>
                  <a:schemeClr val="tx1"/>
                </a:solidFill>
                <a:latin typeface="Fraunces SemiBold" pitchFamily="34" charset="0"/>
                <a:ea typeface="Fraunces SemiBold" pitchFamily="34" charset="-122"/>
                <a:cs typeface="Fraunces SemiBold" pitchFamily="34" charset="-120"/>
              </a:defRPr>
            </a:lvl1pPr>
          </a:lstStyle>
          <a:p>
            <a:pPr marL="0" indent="0" algn="l">
              <a:buNone/>
            </a:pPr>
            <a:endParaRPr lang="en-US" sz="3600" dirty="0"/>
          </a:p>
        </p:txBody>
      </p:sp>
      <p:sp>
        <p:nvSpPr>
          <p:cNvPr id="3" name="Text 0"/>
          <p:cNvSpPr>
            <a:spLocks noGrp="1"/>
          </p:cNvSpPr>
          <p:nvPr>
            <p:ph type="body" idx="101" hasCustomPrompt="1"/>
          </p:nvPr>
        </p:nvSpPr>
        <p:spPr>
          <a:xfrm>
            <a:off x="640080" y="1737360"/>
            <a:ext cx="5212080" cy="4206240"/>
          </a:xfrm>
          <a:prstGeom prst="rect">
            <a:avLst/>
          </a:prstGeom>
          <a:noFill/>
          <a:ln/>
        </p:spPr>
        <p:txBody>
          <a:bodyPr wrap="square" rtlCol="0"/>
          <a:lstStyle>
            <a:lvl1pPr marL="0" indent="0" algn="l">
              <a:buNone/>
              <a:defRPr lang="en-US" sz="1800" dirty="0">
                <a:solidFill>
                  <a:schemeClr val="tx1"/>
                </a:solidFill>
                <a:latin typeface="Inter" pitchFamily="34" charset="0"/>
                <a:ea typeface="Inter" pitchFamily="34" charset="-122"/>
                <a:cs typeface="Inter" pitchFamily="34" charset="-120"/>
              </a:defRPr>
            </a:lvl1pPr>
          </a:lstStyle>
          <a:p>
            <a:pPr marL="0" indent="0" algn="l">
              <a:buNone/>
            </a:pPr>
            <a:endParaRPr lang="en-US" sz="1800" dirty="0"/>
          </a:p>
        </p:txBody>
      </p:sp>
      <p:sp>
        <p:nvSpPr>
          <p:cNvPr id="4" name="Text 0"/>
          <p:cNvSpPr>
            <a:spLocks noGrp="1"/>
          </p:cNvSpPr>
          <p:nvPr>
            <p:ph type="body" idx="102" hasCustomPrompt="1"/>
          </p:nvPr>
        </p:nvSpPr>
        <p:spPr>
          <a:xfrm>
            <a:off x="6309360" y="1737360"/>
            <a:ext cx="5212080" cy="4206240"/>
          </a:xfrm>
          <a:prstGeom prst="rect">
            <a:avLst/>
          </a:prstGeom>
          <a:noFill/>
          <a:ln/>
        </p:spPr>
        <p:txBody>
          <a:bodyPr wrap="square" rtlCol="0"/>
          <a:lstStyle>
            <a:lvl1pPr marL="0" indent="0" algn="l">
              <a:buNone/>
              <a:defRPr lang="en-US" sz="1800" dirty="0">
                <a:solidFill>
                  <a:schemeClr val="tx1"/>
                </a:solidFill>
                <a:latin typeface="Inter" pitchFamily="34" charset="0"/>
                <a:ea typeface="Inter" pitchFamily="34" charset="-122"/>
                <a:cs typeface="Inter" pitchFamily="34" charset="-120"/>
              </a:defRPr>
            </a:lvl1pPr>
          </a:lstStyle>
          <a:p>
            <a:pPr marL="0" indent="0" algn="l">
              <a:buNone/>
            </a:pPr>
            <a:endParaRPr lang="en-US" sz="1800" dirty="0"/>
          </a:p>
        </p:txBody>
      </p:sp>
      <p:pic>
        <p:nvPicPr>
          <p:cNvPr id="5" name="Image 0" descr="img/mark_dark.png"/>
          <p:cNvPicPr>
            <a:picLocks noChangeAspect="1"/>
          </p:cNvPicPr>
          <p:nvPr/>
        </p:nvPicPr>
        <p:blipFill>
          <a:blip r:embed="rId2"/>
          <a:stretch>
            <a:fillRect/>
          </a:stretch>
        </p:blipFill>
        <p:spPr>
          <a:xfrm>
            <a:off x="640080" y="6336792"/>
            <a:ext cx="237744" cy="237744"/>
          </a:xfrm>
          <a:prstGeom prst="rect">
            <a:avLst/>
          </a:prstGeom>
        </p:spPr>
      </p:pic>
      <p:sp>
        <p:nvSpPr>
          <p:cNvPr id="6" name="Text 0"/>
          <p:cNvSpPr/>
          <p:nvPr/>
        </p:nvSpPr>
        <p:spPr>
          <a:xfrm>
            <a:off x="987552" y="6309360"/>
            <a:ext cx="4572000" cy="292608"/>
          </a:xfrm>
          <a:prstGeom prst="rect">
            <a:avLst/>
          </a:prstGeom>
          <a:noFill/>
          <a:ln/>
        </p:spPr>
        <p:txBody>
          <a:bodyPr wrap="square" lIns="0" tIns="0" rIns="0" bIns="0" rtlCol="0" anchor="ctr"/>
          <a:lstStyle/>
          <a:p>
            <a:pPr marL="0" indent="0">
              <a:buNone/>
            </a:pPr>
            <a:r>
              <a:rPr lang="en-US" sz="1000" kern="0" spc="300" dirty="0">
                <a:solidFill>
                  <a:schemeClr val="accent3"/>
                </a:solidFill>
                <a:latin typeface="Inter" pitchFamily="34" charset="0"/>
                <a:ea typeface="Inter" pitchFamily="34" charset="-122"/>
                <a:cs typeface="Inter" pitchFamily="34" charset="-120"/>
              </a:rPr>
              <a:t>DECIMAL INSIGHTS CONSULTING</a:t>
            </a:r>
            <a:endParaRPr lang="en-US" sz="1000" dirty="0"/>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‹N°›</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hiffres cles">
    <p:bg>
      <p:bgPr>
        <a:solidFill>
          <a:srgbClr val="0D1B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502920"/>
            <a:ext cx="10911535" cy="1005840"/>
          </a:xfrm>
          <a:prstGeom prst="rect">
            <a:avLst/>
          </a:prstGeom>
          <a:noFill/>
          <a:ln/>
        </p:spPr>
        <p:txBody>
          <a:bodyPr wrap="square" rtlCol="0"/>
          <a:lstStyle>
            <a:lvl1pPr marL="0" indent="0" algn="l">
              <a:buNone/>
              <a:defRPr lang="en-US" sz="3600" dirty="0">
                <a:solidFill>
                  <a:schemeClr val="tx1"/>
                </a:solidFill>
                <a:latin typeface="Fraunces SemiBold" pitchFamily="34" charset="0"/>
                <a:ea typeface="Fraunces SemiBold" pitchFamily="34" charset="-122"/>
                <a:cs typeface="Fraunces SemiBold" pitchFamily="34" charset="-120"/>
              </a:defRPr>
            </a:lvl1pPr>
          </a:lstStyle>
          <a:p>
            <a:pPr marL="0" indent="0" algn="l">
              <a:buNone/>
            </a:pPr>
            <a:endParaRPr lang="en-US" sz="3600" dirty="0"/>
          </a:p>
        </p:txBody>
      </p:sp>
      <p:sp>
        <p:nvSpPr>
          <p:cNvPr id="3" name="Shape 0"/>
          <p:cNvSpPr/>
          <p:nvPr/>
        </p:nvSpPr>
        <p:spPr>
          <a:xfrm>
            <a:off x="640080" y="1828800"/>
            <a:ext cx="3383280" cy="3017520"/>
          </a:xfrm>
          <a:prstGeom prst="rect">
            <a:avLst/>
          </a:prstGeom>
          <a:solidFill>
            <a:schemeClr val="bg2"/>
          </a:solidFill>
          <a:ln w="9525">
            <a:solidFill>
              <a:srgbClr val="2A4156"/>
            </a:solidFill>
            <a:prstDash val="solid"/>
          </a:ln>
        </p:spPr>
      </p:sp>
      <p:sp>
        <p:nvSpPr>
          <p:cNvPr id="4" name="Shape 1"/>
          <p:cNvSpPr/>
          <p:nvPr/>
        </p:nvSpPr>
        <p:spPr>
          <a:xfrm>
            <a:off x="4389120" y="1828800"/>
            <a:ext cx="3383280" cy="3017520"/>
          </a:xfrm>
          <a:prstGeom prst="rect">
            <a:avLst/>
          </a:prstGeom>
          <a:solidFill>
            <a:schemeClr val="bg2"/>
          </a:solidFill>
          <a:ln w="9525">
            <a:solidFill>
              <a:srgbClr val="2A4156"/>
            </a:solidFill>
            <a:prstDash val="solid"/>
          </a:ln>
        </p:spPr>
      </p:sp>
      <p:sp>
        <p:nvSpPr>
          <p:cNvPr id="5" name="Shape 2"/>
          <p:cNvSpPr/>
          <p:nvPr/>
        </p:nvSpPr>
        <p:spPr>
          <a:xfrm>
            <a:off x="8138160" y="1828800"/>
            <a:ext cx="3383280" cy="3017520"/>
          </a:xfrm>
          <a:prstGeom prst="rect">
            <a:avLst/>
          </a:prstGeom>
          <a:solidFill>
            <a:schemeClr val="bg2"/>
          </a:solidFill>
          <a:ln w="9525">
            <a:solidFill>
              <a:srgbClr val="2A4156"/>
            </a:solidFill>
            <a:prstDash val="solid"/>
          </a:ln>
        </p:spPr>
      </p:sp>
      <p:sp>
        <p:nvSpPr>
          <p:cNvPr id="6" name="Shape 3"/>
          <p:cNvSpPr/>
          <p:nvPr/>
        </p:nvSpPr>
        <p:spPr>
          <a:xfrm>
            <a:off x="960120" y="1828800"/>
            <a:ext cx="640080" cy="54864"/>
          </a:xfrm>
          <a:prstGeom prst="rect">
            <a:avLst/>
          </a:prstGeom>
          <a:solidFill>
            <a:srgbClr val="0F9B8E"/>
          </a:solidFill>
          <a:ln/>
        </p:spPr>
      </p:sp>
      <p:sp>
        <p:nvSpPr>
          <p:cNvPr id="7" name="Shape 4"/>
          <p:cNvSpPr/>
          <p:nvPr/>
        </p:nvSpPr>
        <p:spPr>
          <a:xfrm>
            <a:off x="4709160" y="1828800"/>
            <a:ext cx="640080" cy="54864"/>
          </a:xfrm>
          <a:prstGeom prst="rect">
            <a:avLst/>
          </a:prstGeom>
          <a:solidFill>
            <a:srgbClr val="0F9B8E"/>
          </a:solidFill>
          <a:ln/>
        </p:spPr>
      </p:sp>
      <p:sp>
        <p:nvSpPr>
          <p:cNvPr id="8" name="Shape 5"/>
          <p:cNvSpPr/>
          <p:nvPr/>
        </p:nvSpPr>
        <p:spPr>
          <a:xfrm>
            <a:off x="8458200" y="1828800"/>
            <a:ext cx="640080" cy="54864"/>
          </a:xfrm>
          <a:prstGeom prst="rect">
            <a:avLst/>
          </a:prstGeom>
          <a:solidFill>
            <a:srgbClr val="0F9B8E"/>
          </a:solidFill>
          <a:ln/>
        </p:spPr>
      </p:sp>
      <p:sp>
        <p:nvSpPr>
          <p:cNvPr id="9" name="Text 6"/>
          <p:cNvSpPr>
            <a:spLocks noGrp="1"/>
          </p:cNvSpPr>
          <p:nvPr>
            <p:ph type="body" idx="107" hasCustomPrompt="1"/>
          </p:nvPr>
        </p:nvSpPr>
        <p:spPr>
          <a:xfrm>
            <a:off x="960120" y="2148840"/>
            <a:ext cx="2743200" cy="1188720"/>
          </a:xfrm>
          <a:prstGeom prst="rect">
            <a:avLst/>
          </a:prstGeom>
          <a:noFill/>
          <a:ln/>
        </p:spPr>
        <p:txBody>
          <a:bodyPr wrap="square" rtlCol="0"/>
          <a:lstStyle>
            <a:lvl1pPr marL="0" indent="0" algn="l">
              <a:buNone/>
              <a:defRPr lang="en-US" sz="6000" dirty="0">
                <a:solidFill>
                  <a:schemeClr val="accent1"/>
                </a:solidFill>
                <a:latin typeface="Fraunces SemiBold" pitchFamily="34" charset="0"/>
                <a:ea typeface="Fraunces SemiBold" pitchFamily="34" charset="-122"/>
                <a:cs typeface="Fraunces SemiBold" pitchFamily="34" charset="-120"/>
              </a:defRPr>
            </a:lvl1pPr>
          </a:lstStyle>
          <a:p>
            <a:pPr marL="0" indent="0" algn="l">
              <a:buNone/>
            </a:pPr>
            <a:endParaRPr lang="en-US" sz="6000" dirty="0"/>
          </a:p>
        </p:txBody>
      </p:sp>
      <p:sp>
        <p:nvSpPr>
          <p:cNvPr id="10" name="Text 6"/>
          <p:cNvSpPr>
            <a:spLocks noGrp="1"/>
          </p:cNvSpPr>
          <p:nvPr>
            <p:ph type="body" idx="108" hasCustomPrompt="1"/>
          </p:nvPr>
        </p:nvSpPr>
        <p:spPr>
          <a:xfrm>
            <a:off x="4709160" y="2148840"/>
            <a:ext cx="2743200" cy="1188720"/>
          </a:xfrm>
          <a:prstGeom prst="rect">
            <a:avLst/>
          </a:prstGeom>
          <a:noFill/>
          <a:ln/>
        </p:spPr>
        <p:txBody>
          <a:bodyPr wrap="square" rtlCol="0"/>
          <a:lstStyle>
            <a:lvl1pPr marL="0" indent="0" algn="l">
              <a:buNone/>
              <a:defRPr lang="en-US" sz="6000" dirty="0">
                <a:solidFill>
                  <a:schemeClr val="accent1"/>
                </a:solidFill>
                <a:latin typeface="Fraunces SemiBold" pitchFamily="34" charset="0"/>
                <a:ea typeface="Fraunces SemiBold" pitchFamily="34" charset="-122"/>
                <a:cs typeface="Fraunces SemiBold" pitchFamily="34" charset="-120"/>
              </a:defRPr>
            </a:lvl1pPr>
          </a:lstStyle>
          <a:p>
            <a:pPr marL="0" indent="0" algn="l">
              <a:buNone/>
            </a:pPr>
            <a:endParaRPr lang="en-US" sz="6000" dirty="0"/>
          </a:p>
        </p:txBody>
      </p:sp>
      <p:sp>
        <p:nvSpPr>
          <p:cNvPr id="11" name="Text 6"/>
          <p:cNvSpPr>
            <a:spLocks noGrp="1"/>
          </p:cNvSpPr>
          <p:nvPr>
            <p:ph type="body" idx="109" hasCustomPrompt="1"/>
          </p:nvPr>
        </p:nvSpPr>
        <p:spPr>
          <a:xfrm>
            <a:off x="8458200" y="2148840"/>
            <a:ext cx="2743200" cy="1188720"/>
          </a:xfrm>
          <a:prstGeom prst="rect">
            <a:avLst/>
          </a:prstGeom>
          <a:noFill/>
          <a:ln/>
        </p:spPr>
        <p:txBody>
          <a:bodyPr wrap="square" rtlCol="0"/>
          <a:lstStyle>
            <a:lvl1pPr marL="0" indent="0" algn="l">
              <a:buNone/>
              <a:defRPr lang="en-US" sz="6000" dirty="0">
                <a:solidFill>
                  <a:schemeClr val="accent1"/>
                </a:solidFill>
                <a:latin typeface="Fraunces SemiBold" pitchFamily="34" charset="0"/>
                <a:ea typeface="Fraunces SemiBold" pitchFamily="34" charset="-122"/>
                <a:cs typeface="Fraunces SemiBold" pitchFamily="34" charset="-120"/>
              </a:defRPr>
            </a:lvl1pPr>
          </a:lstStyle>
          <a:p>
            <a:pPr marL="0" indent="0" algn="l">
              <a:buNone/>
            </a:pPr>
            <a:endParaRPr lang="en-US" sz="6000" dirty="0"/>
          </a:p>
        </p:txBody>
      </p:sp>
      <p:sp>
        <p:nvSpPr>
          <p:cNvPr id="12" name="Text 6"/>
          <p:cNvSpPr>
            <a:spLocks noGrp="1"/>
          </p:cNvSpPr>
          <p:nvPr>
            <p:ph type="body" idx="110" hasCustomPrompt="1"/>
          </p:nvPr>
        </p:nvSpPr>
        <p:spPr>
          <a:xfrm>
            <a:off x="960120" y="3474720"/>
            <a:ext cx="2743200" cy="1097280"/>
          </a:xfrm>
          <a:prstGeom prst="rect">
            <a:avLst/>
          </a:prstGeom>
          <a:noFill/>
          <a:ln/>
        </p:spPr>
        <p:txBody>
          <a:bodyPr wrap="square" rtlCol="0"/>
          <a:lstStyle>
            <a:lvl1pPr marL="0" indent="0" algn="l">
              <a:buNone/>
              <a:defRPr lang="en-US" sz="1600" dirty="0">
                <a:solidFill>
                  <a:schemeClr val="tx2"/>
                </a:solidFill>
                <a:latin typeface="Inter" pitchFamily="34" charset="0"/>
                <a:ea typeface="Inter" pitchFamily="34" charset="-122"/>
                <a:cs typeface="Inter" pitchFamily="34" charset="-120"/>
              </a:defRPr>
            </a:lvl1pPr>
          </a:lstStyle>
          <a:p>
            <a:pPr marL="0" indent="0" algn="l">
              <a:buNone/>
            </a:pPr>
            <a:endParaRPr lang="en-US" sz="1600" dirty="0"/>
          </a:p>
        </p:txBody>
      </p:sp>
      <p:sp>
        <p:nvSpPr>
          <p:cNvPr id="13" name="Text 6"/>
          <p:cNvSpPr>
            <a:spLocks noGrp="1"/>
          </p:cNvSpPr>
          <p:nvPr>
            <p:ph type="body" idx="111" hasCustomPrompt="1"/>
          </p:nvPr>
        </p:nvSpPr>
        <p:spPr>
          <a:xfrm>
            <a:off x="4709160" y="3474720"/>
            <a:ext cx="2743200" cy="1097280"/>
          </a:xfrm>
          <a:prstGeom prst="rect">
            <a:avLst/>
          </a:prstGeom>
          <a:noFill/>
          <a:ln/>
        </p:spPr>
        <p:txBody>
          <a:bodyPr wrap="square" rtlCol="0"/>
          <a:lstStyle>
            <a:lvl1pPr marL="0" indent="0" algn="l">
              <a:buNone/>
              <a:defRPr lang="en-US" sz="1600" dirty="0">
                <a:solidFill>
                  <a:schemeClr val="tx2"/>
                </a:solidFill>
                <a:latin typeface="Inter" pitchFamily="34" charset="0"/>
                <a:ea typeface="Inter" pitchFamily="34" charset="-122"/>
                <a:cs typeface="Inter" pitchFamily="34" charset="-120"/>
              </a:defRPr>
            </a:lvl1pPr>
          </a:lstStyle>
          <a:p>
            <a:pPr marL="0" indent="0" algn="l">
              <a:buNone/>
            </a:pPr>
            <a:endParaRPr lang="en-US" sz="1600" dirty="0"/>
          </a:p>
        </p:txBody>
      </p:sp>
      <p:sp>
        <p:nvSpPr>
          <p:cNvPr id="14" name="Text 6"/>
          <p:cNvSpPr>
            <a:spLocks noGrp="1"/>
          </p:cNvSpPr>
          <p:nvPr>
            <p:ph type="body" idx="112" hasCustomPrompt="1"/>
          </p:nvPr>
        </p:nvSpPr>
        <p:spPr>
          <a:xfrm>
            <a:off x="8458200" y="3474720"/>
            <a:ext cx="2743200" cy="1097280"/>
          </a:xfrm>
          <a:prstGeom prst="rect">
            <a:avLst/>
          </a:prstGeom>
          <a:noFill/>
          <a:ln/>
        </p:spPr>
        <p:txBody>
          <a:bodyPr wrap="square" rtlCol="0"/>
          <a:lstStyle>
            <a:lvl1pPr marL="0" indent="0" algn="l">
              <a:buNone/>
              <a:defRPr lang="en-US" sz="1600" dirty="0">
                <a:solidFill>
                  <a:schemeClr val="tx2"/>
                </a:solidFill>
                <a:latin typeface="Inter" pitchFamily="34" charset="0"/>
                <a:ea typeface="Inter" pitchFamily="34" charset="-122"/>
                <a:cs typeface="Inter" pitchFamily="34" charset="-120"/>
              </a:defRPr>
            </a:lvl1pPr>
          </a:lstStyle>
          <a:p>
            <a:pPr marL="0" indent="0" algn="l">
              <a:buNone/>
            </a:pPr>
            <a:endParaRPr lang="en-US" sz="1600" dirty="0"/>
          </a:p>
        </p:txBody>
      </p:sp>
      <p:sp>
        <p:nvSpPr>
          <p:cNvPr id="15" name="Text 6"/>
          <p:cNvSpPr>
            <a:spLocks noGrp="1"/>
          </p:cNvSpPr>
          <p:nvPr>
            <p:ph type="body" idx="113" hasCustomPrompt="1"/>
          </p:nvPr>
        </p:nvSpPr>
        <p:spPr>
          <a:xfrm>
            <a:off x="640080" y="5257800"/>
            <a:ext cx="10911535" cy="640080"/>
          </a:xfrm>
          <a:prstGeom prst="rect">
            <a:avLst/>
          </a:prstGeom>
          <a:noFill/>
          <a:ln/>
        </p:spPr>
        <p:txBody>
          <a:bodyPr wrap="square" rtlCol="0"/>
          <a:lstStyle>
            <a:lvl1pPr marL="0" indent="0" algn="l">
              <a:buNone/>
              <a:defRPr lang="en-US" sz="1400" dirty="0">
                <a:solidFill>
                  <a:schemeClr val="accent3"/>
                </a:solidFill>
                <a:latin typeface="Inter" pitchFamily="34" charset="0"/>
                <a:ea typeface="Inter" pitchFamily="34" charset="-122"/>
                <a:cs typeface="Inter" pitchFamily="34" charset="-120"/>
              </a:defRPr>
            </a:lvl1pPr>
          </a:lstStyle>
          <a:p>
            <a:pPr marL="0" indent="0" algn="l">
              <a:buNone/>
            </a:pPr>
            <a:endParaRPr lang="en-US" sz="1400" dirty="0"/>
          </a:p>
        </p:txBody>
      </p:sp>
      <p:pic>
        <p:nvPicPr>
          <p:cNvPr id="16" name="Image 0" descr="img/mark_dark.png"/>
          <p:cNvPicPr>
            <a:picLocks noChangeAspect="1"/>
          </p:cNvPicPr>
          <p:nvPr/>
        </p:nvPicPr>
        <p:blipFill>
          <a:blip r:embed="rId2"/>
          <a:stretch>
            <a:fillRect/>
          </a:stretch>
        </p:blipFill>
        <p:spPr>
          <a:xfrm>
            <a:off x="640080" y="6336792"/>
            <a:ext cx="237744" cy="237744"/>
          </a:xfrm>
          <a:prstGeom prst="rect">
            <a:avLst/>
          </a:prstGeom>
        </p:spPr>
      </p:pic>
      <p:sp>
        <p:nvSpPr>
          <p:cNvPr id="17" name="Text 6"/>
          <p:cNvSpPr/>
          <p:nvPr/>
        </p:nvSpPr>
        <p:spPr>
          <a:xfrm>
            <a:off x="987552" y="6309360"/>
            <a:ext cx="4572000" cy="292608"/>
          </a:xfrm>
          <a:prstGeom prst="rect">
            <a:avLst/>
          </a:prstGeom>
          <a:noFill/>
          <a:ln/>
        </p:spPr>
        <p:txBody>
          <a:bodyPr wrap="square" lIns="0" tIns="0" rIns="0" bIns="0" rtlCol="0" anchor="ctr"/>
          <a:lstStyle/>
          <a:p>
            <a:pPr marL="0" indent="0">
              <a:buNone/>
            </a:pPr>
            <a:r>
              <a:rPr lang="en-US" sz="1000" kern="0" spc="300" dirty="0">
                <a:solidFill>
                  <a:schemeClr val="accent3"/>
                </a:solidFill>
                <a:latin typeface="Inter" pitchFamily="34" charset="0"/>
                <a:ea typeface="Inter" pitchFamily="34" charset="-122"/>
                <a:cs typeface="Inter" pitchFamily="34" charset="-120"/>
              </a:rPr>
              <a:t>DECIMAL INSIGHTS CONSULTING</a:t>
            </a:r>
            <a:endParaRPr lang="en-US" sz="1000" dirty="0"/>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‹N°›</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itation">
    <p:bg>
      <p:bgPr>
        <a:solidFill>
          <a:srgbClr val="0D1B2A"/>
        </a:solidFill>
        <a:effectLst/>
      </p:bgPr>
    </p:bg>
    <p:spTree>
      <p:nvGrpSpPr>
        <p:cNvPr id="1" name=""/>
        <p:cNvGrpSpPr/>
        <p:nvPr/>
      </p:nvGrpSpPr>
      <p:grpSpPr>
        <a:xfrm>
          <a:off x="0" y="0"/>
          <a:ext cx="0" cy="0"/>
          <a:chOff x="0" y="0"/>
          <a:chExt cx="0" cy="0"/>
        </a:xfrm>
      </p:grpSpPr>
      <p:pic>
        <p:nvPicPr>
          <p:cNvPr id="2" name="Image 0" descr="img/deco_dark.png"/>
          <p:cNvPicPr>
            <a:picLocks noChangeAspect="1"/>
          </p:cNvPicPr>
          <p:nvPr/>
        </p:nvPicPr>
        <p:blipFill>
          <a:blip r:embed="rId2"/>
          <a:stretch>
            <a:fillRect/>
          </a:stretch>
        </p:blipFill>
        <p:spPr>
          <a:xfrm>
            <a:off x="9601200" y="548640"/>
            <a:ext cx="1920240" cy="1920240"/>
          </a:xfrm>
          <a:prstGeom prst="rect">
            <a:avLst/>
          </a:prstGeom>
        </p:spPr>
      </p:pic>
      <p:sp>
        <p:nvSpPr>
          <p:cNvPr id="3" name="Text 0"/>
          <p:cNvSpPr>
            <a:spLocks noGrp="1"/>
          </p:cNvSpPr>
          <p:nvPr>
            <p:ph type="body" idx="101" hasCustomPrompt="1"/>
          </p:nvPr>
        </p:nvSpPr>
        <p:spPr>
          <a:xfrm>
            <a:off x="1005840" y="1737360"/>
            <a:ext cx="8229600" cy="2834640"/>
          </a:xfrm>
          <a:prstGeom prst="rect">
            <a:avLst/>
          </a:prstGeom>
          <a:noFill/>
          <a:ln/>
        </p:spPr>
        <p:txBody>
          <a:bodyPr wrap="square" rtlCol="0"/>
          <a:lstStyle>
            <a:lvl1pPr marL="0" indent="0" algn="l">
              <a:buNone/>
              <a:defRPr lang="en-US" sz="3600" dirty="0">
                <a:solidFill>
                  <a:schemeClr val="tx1"/>
                </a:solidFill>
                <a:latin typeface="Fraunces SemiBold" pitchFamily="34" charset="0"/>
                <a:ea typeface="Fraunces SemiBold" pitchFamily="34" charset="-122"/>
                <a:cs typeface="Fraunces SemiBold" pitchFamily="34" charset="-120"/>
              </a:defRPr>
            </a:lvl1pPr>
          </a:lstStyle>
          <a:p>
            <a:pPr marL="0" indent="0" algn="l">
              <a:buNone/>
            </a:pPr>
            <a:endParaRPr lang="en-US" sz="3600" dirty="0"/>
          </a:p>
        </p:txBody>
      </p:sp>
      <p:sp>
        <p:nvSpPr>
          <p:cNvPr id="4" name="Text 0"/>
          <p:cNvSpPr>
            <a:spLocks noGrp="1"/>
          </p:cNvSpPr>
          <p:nvPr>
            <p:ph type="body" idx="102" hasCustomPrompt="1"/>
          </p:nvPr>
        </p:nvSpPr>
        <p:spPr>
          <a:xfrm>
            <a:off x="1005840" y="4754880"/>
            <a:ext cx="9144000" cy="457200"/>
          </a:xfrm>
          <a:prstGeom prst="rect">
            <a:avLst/>
          </a:prstGeom>
          <a:noFill/>
          <a:ln/>
        </p:spPr>
        <p:txBody>
          <a:bodyPr wrap="square" rtlCol="0"/>
          <a:lstStyle>
            <a:lvl1pPr marL="0" indent="0" algn="l">
              <a:buNone/>
              <a:defRPr lang="en-US" sz="1400" kern="0" spc="200" dirty="0">
                <a:solidFill>
                  <a:schemeClr val="accent2"/>
                </a:solidFill>
                <a:latin typeface="Inter" pitchFamily="34" charset="0"/>
                <a:ea typeface="Inter" pitchFamily="34" charset="-122"/>
                <a:cs typeface="Inter" pitchFamily="34" charset="-120"/>
              </a:defRPr>
            </a:lvl1pPr>
          </a:lstStyle>
          <a:p>
            <a:pPr marL="0" indent="0" algn="l">
              <a:buNone/>
            </a:pPr>
            <a:endParaRPr lang="en-US" sz="1400" dirty="0"/>
          </a:p>
        </p:txBody>
      </p:sp>
      <p:pic>
        <p:nvPicPr>
          <p:cNvPr id="5" name="Image 1" descr="img/mark_dark.png"/>
          <p:cNvPicPr>
            <a:picLocks noChangeAspect="1"/>
          </p:cNvPicPr>
          <p:nvPr/>
        </p:nvPicPr>
        <p:blipFill>
          <a:blip r:embed="rId3"/>
          <a:stretch>
            <a:fillRect/>
          </a:stretch>
        </p:blipFill>
        <p:spPr>
          <a:xfrm>
            <a:off x="640080" y="6336792"/>
            <a:ext cx="237744" cy="237744"/>
          </a:xfrm>
          <a:prstGeom prst="rect">
            <a:avLst/>
          </a:prstGeom>
        </p:spPr>
      </p:pic>
      <p:sp>
        <p:nvSpPr>
          <p:cNvPr id="6" name="Text 0"/>
          <p:cNvSpPr/>
          <p:nvPr/>
        </p:nvSpPr>
        <p:spPr>
          <a:xfrm>
            <a:off x="987552" y="6309360"/>
            <a:ext cx="4572000" cy="292608"/>
          </a:xfrm>
          <a:prstGeom prst="rect">
            <a:avLst/>
          </a:prstGeom>
          <a:noFill/>
          <a:ln/>
        </p:spPr>
        <p:txBody>
          <a:bodyPr wrap="square" lIns="0" tIns="0" rIns="0" bIns="0" rtlCol="0" anchor="ctr"/>
          <a:lstStyle/>
          <a:p>
            <a:pPr marL="0" indent="0">
              <a:buNone/>
            </a:pPr>
            <a:r>
              <a:rPr lang="en-US" sz="1000" kern="0" spc="300" dirty="0">
                <a:solidFill>
                  <a:schemeClr val="accent3"/>
                </a:solidFill>
                <a:latin typeface="Inter" pitchFamily="34" charset="0"/>
                <a:ea typeface="Inter" pitchFamily="34" charset="-122"/>
                <a:cs typeface="Inter" pitchFamily="34" charset="-120"/>
              </a:rPr>
              <a:t>DECIMAL INSIGHTS CONSULTING</a:t>
            </a:r>
            <a:endParaRPr lang="en-US" sz="1000" dirty="0"/>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‹N°›</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loture">
    <p:bg>
      <p:bgPr>
        <a:solidFill>
          <a:srgbClr val="0D1B2A"/>
        </a:solidFill>
        <a:effectLst/>
      </p:bgPr>
    </p:bg>
    <p:spTree>
      <p:nvGrpSpPr>
        <p:cNvPr id="1" name=""/>
        <p:cNvGrpSpPr/>
        <p:nvPr/>
      </p:nvGrpSpPr>
      <p:grpSpPr>
        <a:xfrm>
          <a:off x="0" y="0"/>
          <a:ext cx="0" cy="0"/>
          <a:chOff x="0" y="0"/>
          <a:chExt cx="0" cy="0"/>
        </a:xfrm>
      </p:grpSpPr>
      <p:pic>
        <p:nvPicPr>
          <p:cNvPr id="2" name="Image 0" descr="img/deco_dark.png"/>
          <p:cNvPicPr>
            <a:picLocks noChangeAspect="1"/>
          </p:cNvPicPr>
          <p:nvPr/>
        </p:nvPicPr>
        <p:blipFill>
          <a:blip r:embed="rId2"/>
          <a:stretch>
            <a:fillRect/>
          </a:stretch>
        </p:blipFill>
        <p:spPr>
          <a:xfrm>
            <a:off x="7223760" y="1280160"/>
            <a:ext cx="4572000" cy="4572000"/>
          </a:xfrm>
          <a:prstGeom prst="rect">
            <a:avLst/>
          </a:prstGeom>
        </p:spPr>
      </p:pic>
      <p:pic>
        <p:nvPicPr>
          <p:cNvPr id="3" name="Image 1" descr="img/logo_dark.png"/>
          <p:cNvPicPr>
            <a:picLocks noChangeAspect="1"/>
          </p:cNvPicPr>
          <p:nvPr/>
        </p:nvPicPr>
        <p:blipFill>
          <a:blip r:embed="rId3"/>
          <a:stretch>
            <a:fillRect/>
          </a:stretch>
        </p:blipFill>
        <p:spPr>
          <a:xfrm>
            <a:off x="640080" y="640080"/>
            <a:ext cx="3474720" cy="731520"/>
          </a:xfrm>
          <a:prstGeom prst="rect">
            <a:avLst/>
          </a:prstGeom>
        </p:spPr>
      </p:pic>
      <p:sp>
        <p:nvSpPr>
          <p:cNvPr id="4" name="Shape 0"/>
          <p:cNvSpPr/>
          <p:nvPr/>
        </p:nvSpPr>
        <p:spPr>
          <a:xfrm>
            <a:off x="640080" y="2148840"/>
            <a:ext cx="822960" cy="54864"/>
          </a:xfrm>
          <a:prstGeom prst="rect">
            <a:avLst/>
          </a:prstGeom>
          <a:solidFill>
            <a:srgbClr val="0F9B8E"/>
          </a:solidFill>
          <a:ln/>
        </p:spPr>
      </p:sp>
      <p:sp>
        <p:nvSpPr>
          <p:cNvPr id="5" name="Text 1"/>
          <p:cNvSpPr>
            <a:spLocks noGrp="1"/>
          </p:cNvSpPr>
          <p:nvPr>
            <p:ph type="title" idx="103" hasCustomPrompt="1"/>
          </p:nvPr>
        </p:nvSpPr>
        <p:spPr>
          <a:xfrm>
            <a:off x="640080" y="2377440"/>
            <a:ext cx="6400800" cy="1280160"/>
          </a:xfrm>
          <a:prstGeom prst="rect">
            <a:avLst/>
          </a:prstGeom>
          <a:noFill/>
          <a:ln/>
        </p:spPr>
        <p:txBody>
          <a:bodyPr wrap="square" rtlCol="0"/>
          <a:lstStyle>
            <a:lvl1pPr marL="0" indent="0" algn="l">
              <a:buNone/>
              <a:defRPr lang="en-US" sz="4600" dirty="0">
                <a:solidFill>
                  <a:schemeClr val="tx1"/>
                </a:solidFill>
                <a:latin typeface="Fraunces SemiBold" pitchFamily="34" charset="0"/>
                <a:ea typeface="Fraunces SemiBold" pitchFamily="34" charset="-122"/>
                <a:cs typeface="Fraunces SemiBold" pitchFamily="34" charset="-120"/>
              </a:defRPr>
            </a:lvl1pPr>
          </a:lstStyle>
          <a:p>
            <a:pPr marL="0" indent="0" algn="l">
              <a:buNone/>
            </a:pPr>
            <a:endParaRPr lang="en-US" sz="4600" dirty="0"/>
          </a:p>
        </p:txBody>
      </p:sp>
      <p:sp>
        <p:nvSpPr>
          <p:cNvPr id="6" name="Text 1"/>
          <p:cNvSpPr>
            <a:spLocks noGrp="1"/>
          </p:cNvSpPr>
          <p:nvPr>
            <p:ph type="body" idx="104" hasCustomPrompt="1"/>
          </p:nvPr>
        </p:nvSpPr>
        <p:spPr>
          <a:xfrm>
            <a:off x="640080" y="4023360"/>
            <a:ext cx="6400800" cy="1645920"/>
          </a:xfrm>
          <a:prstGeom prst="rect">
            <a:avLst/>
          </a:prstGeom>
          <a:noFill/>
          <a:ln/>
        </p:spPr>
        <p:txBody>
          <a:bodyPr wrap="square" rtlCol="0"/>
          <a:lstStyle>
            <a:lvl1pPr marL="0" indent="0" algn="l">
              <a:buNone/>
              <a:defRPr lang="en-US" sz="1600" dirty="0">
                <a:solidFill>
                  <a:schemeClr val="tx2"/>
                </a:solidFill>
                <a:latin typeface="Inter" pitchFamily="34" charset="0"/>
                <a:ea typeface="Inter" pitchFamily="34" charset="-122"/>
                <a:cs typeface="Inter" pitchFamily="34" charset="-120"/>
              </a:defRPr>
            </a:lvl1pPr>
          </a:lstStyle>
          <a:p>
            <a:pPr marL="0" indent="0" algn="l">
              <a:buNone/>
            </a:pPr>
            <a:endParaRPr lang="en-US" sz="1600" dirty="0"/>
          </a:p>
        </p:txBody>
      </p:sp>
      <p:sp>
        <p:nvSpPr>
          <p:cNvPr id="7" name="Text 1"/>
          <p:cNvSpPr>
            <a:spLocks noGrp="1"/>
          </p:cNvSpPr>
          <p:nvPr>
            <p:ph type="body" idx="105" hasCustomPrompt="1"/>
          </p:nvPr>
        </p:nvSpPr>
        <p:spPr>
          <a:xfrm>
            <a:off x="640080" y="6035040"/>
            <a:ext cx="7315200" cy="365760"/>
          </a:xfrm>
          <a:prstGeom prst="rect">
            <a:avLst/>
          </a:prstGeom>
          <a:noFill/>
          <a:ln/>
        </p:spPr>
        <p:txBody>
          <a:bodyPr wrap="square" rtlCol="0"/>
          <a:lstStyle>
            <a:lvl1pPr marL="0" indent="0" algn="l">
              <a:buNone/>
              <a:defRPr lang="en-US" sz="1200" kern="0" spc="200" dirty="0">
                <a:solidFill>
                  <a:schemeClr val="accent2"/>
                </a:solidFill>
                <a:latin typeface="Inter" pitchFamily="34" charset="0"/>
                <a:ea typeface="Inter" pitchFamily="34" charset="-122"/>
                <a:cs typeface="Inter" pitchFamily="34" charset="-120"/>
              </a:defRPr>
            </a:lvl1pPr>
          </a:lstStyle>
          <a:p>
            <a:pPr marL="0" indent="0" algn="l">
              <a:buNone/>
            </a:pPr>
            <a:endParaRPr lang="en-US" sz="12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hyperlink" Target="https://github.com/ruthabebeneg/td-qualite-g02/blob/main/notebooks/S2_US10_regles_en_tests.ipynb"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hyperlink" Target="https://github.com/ruthabebeneg/td-qualite-g02/blob/ruth/catalogue/S2_US11_bilan_par_regle.csv" TargetMode="External"/><Relationship Id="rId2" Type="http://schemas.openxmlformats.org/officeDocument/2006/relationships/notesSlide" Target="../notesSlides/notesSlide16.xml"/><Relationship Id="rId1" Type="http://schemas.openxmlformats.org/officeDocument/2006/relationships/slideLayout" Target="../slideLayouts/slideLayout4.xml"/><Relationship Id="rId6" Type="http://schemas.openxmlformats.org/officeDocument/2006/relationships/hyperlink" Target="https://github.com/ruthabebeneg/td-qualite-g02/blob/ruth/catalogue/S2_US11_echantillon_20_lignes_commente.csv" TargetMode="External"/><Relationship Id="rId5" Type="http://schemas.openxmlformats.org/officeDocument/2006/relationships/hyperlink" Target="https://github.com/ruthabebeneg/td-qualite-g02/blob/main/notebooks/S2_US11_lignes_en_echec.ipynb" TargetMode="External"/><Relationship Id="rId4" Type="http://schemas.openxmlformats.org/officeDocument/2006/relationships/hyperlink" Target="https://github.com/ruthabebeneg/td-qualite-g02/blob/main/notebooks/S2_US10_regles_en_tests.ipynb"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2.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8.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3"/>
          </p:nvPr>
        </p:nvSpPr>
        <p:spPr/>
        <p:txBody>
          <a:bodyPr/>
          <a:lstStyle/>
          <a:p>
            <a:r>
              <a:t>Livrable de groupe</a:t>
            </a:r>
          </a:p>
        </p:txBody>
      </p:sp>
      <p:sp>
        <p:nvSpPr>
          <p:cNvPr id="3" name="Text Placeholder 2"/>
          <p:cNvSpPr>
            <a:spLocks noGrp="1"/>
          </p:cNvSpPr>
          <p:nvPr>
            <p:ph type="body" idx="104"/>
          </p:nvPr>
        </p:nvSpPr>
        <p:spPr/>
        <p:txBody>
          <a:bodyPr/>
          <a:lstStyle/>
          <a:p>
            <a:r>
              <a:t>TD AssurConnect : gouvernance, profilage et qualité des données</a:t>
            </a:r>
          </a:p>
        </p:txBody>
      </p:sp>
      <p:sp>
        <p:nvSpPr>
          <p:cNvPr id="4" name="Text Placeholder 3"/>
          <p:cNvSpPr>
            <a:spLocks noGrp="1"/>
          </p:cNvSpPr>
          <p:nvPr>
            <p:ph type="body" idx="105"/>
          </p:nvPr>
        </p:nvSpPr>
        <p:spPr/>
        <p:txBody>
          <a:bodyPr/>
          <a:lstStyle/>
          <a:p>
            <a:r>
              <a:rPr dirty="0"/>
              <a:t>GROUPE [N°2] · [BENCHIKH,CUTA,KEHAILOU,ABEBE NEGUSSIE] · [14/10/2026]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Comment remplir ce modèle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MODE D'EMPLOI</a:t>
            </a:r>
          </a:p>
        </p:txBody>
      </p:sp>
      <p:sp>
        <p:nvSpPr>
          <p:cNvPr id="27" name="Rectangle 26"/>
          <p:cNvSpPr/>
          <p:nvPr/>
        </p:nvSpPr>
        <p:spPr>
          <a:xfrm>
            <a:off x="640080" y="1371600"/>
            <a:ext cx="10908792" cy="80467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8" name="Icône target" descr="Icône target"/>
          <p:cNvPicPr>
            <a:picLocks noChangeAspect="1"/>
          </p:cNvPicPr>
          <p:nvPr/>
        </p:nvPicPr>
        <p:blipFill>
          <a:blip r:embed="rId3"/>
          <a:stretch>
            <a:fillRect/>
          </a:stretch>
        </p:blipFill>
        <p:spPr>
          <a:xfrm>
            <a:off x="868680" y="1572768"/>
            <a:ext cx="402336" cy="402336"/>
          </a:xfrm>
          <a:prstGeom prst="rect">
            <a:avLst/>
          </a:prstGeom>
        </p:spPr>
      </p:pic>
      <p:sp>
        <p:nvSpPr>
          <p:cNvPr id="29" name="TextBox 28"/>
          <p:cNvSpPr txBox="1"/>
          <p:nvPr/>
        </p:nvSpPr>
        <p:spPr>
          <a:xfrm>
            <a:off x="1463040" y="1444752"/>
            <a:ext cx="3291840" cy="658368"/>
          </a:xfrm>
          <a:prstGeom prst="rect">
            <a:avLst/>
          </a:prstGeom>
          <a:noFill/>
        </p:spPr>
        <p:txBody>
          <a:bodyPr wrap="square" lIns="0" tIns="0" rIns="0" bIns="0" anchor="ctr">
            <a:spAutoFit/>
          </a:bodyPr>
          <a:lstStyle/>
          <a:p>
            <a:pPr>
              <a:lnSpc>
                <a:spcPct val="108000"/>
              </a:lnSpc>
              <a:spcAft>
                <a:spcPts val="400"/>
              </a:spcAft>
            </a:pPr>
            <a:r>
              <a:rPr sz="1400" b="1" i="0">
                <a:solidFill>
                  <a:srgbClr val="F7F6F2"/>
                </a:solidFill>
                <a:latin typeface="Inter"/>
              </a:rPr>
              <a:t>Encadré ambre « Attendu »</a:t>
            </a:r>
          </a:p>
        </p:txBody>
      </p:sp>
      <p:sp>
        <p:nvSpPr>
          <p:cNvPr id="30" name="TextBox 29"/>
          <p:cNvSpPr txBox="1"/>
          <p:nvPr/>
        </p:nvSpPr>
        <p:spPr>
          <a:xfrm>
            <a:off x="4846320" y="1444752"/>
            <a:ext cx="6583680" cy="658368"/>
          </a:xfrm>
          <a:prstGeom prst="rect">
            <a:avLst/>
          </a:prstGeom>
          <a:noFill/>
        </p:spPr>
        <p:txBody>
          <a:bodyPr wrap="square" lIns="0" tIns="0" rIns="0" bIns="0" anchor="ctr">
            <a:spAutoFit/>
          </a:bodyPr>
          <a:lstStyle/>
          <a:p>
            <a:pPr>
              <a:lnSpc>
                <a:spcPct val="108000"/>
              </a:lnSpc>
              <a:spcAft>
                <a:spcPts val="400"/>
              </a:spcAft>
            </a:pPr>
            <a:r>
              <a:rPr sz="1300" b="0" i="0">
                <a:solidFill>
                  <a:srgbClr val="B8C0C8"/>
                </a:solidFill>
                <a:latin typeface="Inter"/>
              </a:rPr>
              <a:t>Ce qui doit apparaître sur la page. À lire avant de rédiger ; ne pas supprimer.</a:t>
            </a:r>
          </a:p>
        </p:txBody>
      </p:sp>
      <p:sp>
        <p:nvSpPr>
          <p:cNvPr id="31" name="Rectangle 30"/>
          <p:cNvSpPr/>
          <p:nvPr/>
        </p:nvSpPr>
        <p:spPr>
          <a:xfrm>
            <a:off x="640080" y="2286000"/>
            <a:ext cx="10908792" cy="80467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Icône pen" descr="Icône pen"/>
          <p:cNvPicPr>
            <a:picLocks noChangeAspect="1"/>
          </p:cNvPicPr>
          <p:nvPr/>
        </p:nvPicPr>
        <p:blipFill>
          <a:blip r:embed="rId4"/>
          <a:stretch>
            <a:fillRect/>
          </a:stretch>
        </p:blipFill>
        <p:spPr>
          <a:xfrm>
            <a:off x="868680" y="2487168"/>
            <a:ext cx="402336" cy="402336"/>
          </a:xfrm>
          <a:prstGeom prst="rect">
            <a:avLst/>
          </a:prstGeom>
        </p:spPr>
      </p:pic>
      <p:sp>
        <p:nvSpPr>
          <p:cNvPr id="33" name="TextBox 32"/>
          <p:cNvSpPr txBox="1"/>
          <p:nvPr/>
        </p:nvSpPr>
        <p:spPr>
          <a:xfrm>
            <a:off x="1463040" y="2359152"/>
            <a:ext cx="3291840" cy="658368"/>
          </a:xfrm>
          <a:prstGeom prst="rect">
            <a:avLst/>
          </a:prstGeom>
          <a:noFill/>
        </p:spPr>
        <p:txBody>
          <a:bodyPr wrap="square" lIns="0" tIns="0" rIns="0" bIns="0" anchor="ctr">
            <a:spAutoFit/>
          </a:bodyPr>
          <a:lstStyle/>
          <a:p>
            <a:pPr>
              <a:lnSpc>
                <a:spcPct val="108000"/>
              </a:lnSpc>
              <a:spcAft>
                <a:spcPts val="400"/>
              </a:spcAft>
            </a:pPr>
            <a:r>
              <a:rPr sz="1400" b="1" i="0">
                <a:solidFill>
                  <a:srgbClr val="F7F6F2"/>
                </a:solidFill>
                <a:latin typeface="Inter"/>
              </a:rPr>
              <a:t>Cellule ou zone ambre sombre</a:t>
            </a:r>
          </a:p>
        </p:txBody>
      </p:sp>
      <p:sp>
        <p:nvSpPr>
          <p:cNvPr id="34" name="TextBox 33"/>
          <p:cNvSpPr txBox="1"/>
          <p:nvPr/>
        </p:nvSpPr>
        <p:spPr>
          <a:xfrm>
            <a:off x="4846320" y="2359152"/>
            <a:ext cx="6583680" cy="658368"/>
          </a:xfrm>
          <a:prstGeom prst="rect">
            <a:avLst/>
          </a:prstGeom>
          <a:noFill/>
        </p:spPr>
        <p:txBody>
          <a:bodyPr wrap="square" lIns="0" tIns="0" rIns="0" bIns="0" anchor="ctr">
            <a:spAutoFit/>
          </a:bodyPr>
          <a:lstStyle/>
          <a:p>
            <a:pPr>
              <a:lnSpc>
                <a:spcPct val="108000"/>
              </a:lnSpc>
              <a:spcAft>
                <a:spcPts val="400"/>
              </a:spcAft>
            </a:pPr>
            <a:r>
              <a:rPr sz="1300" b="0" i="0">
                <a:solidFill>
                  <a:srgbClr val="B8C0C8"/>
                </a:solidFill>
                <a:latin typeface="Inter"/>
              </a:rPr>
              <a:t>À compléter : remplacez « … » ou le texte gris entre crochets par votre contenu.</a:t>
            </a:r>
          </a:p>
        </p:txBody>
      </p:sp>
      <p:sp>
        <p:nvSpPr>
          <p:cNvPr id="35" name="Rectangle 34"/>
          <p:cNvSpPr/>
          <p:nvPr/>
        </p:nvSpPr>
        <p:spPr>
          <a:xfrm>
            <a:off x="640080" y="3200400"/>
            <a:ext cx="10908792" cy="80467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6" name="Icône chart" descr="Icône chart"/>
          <p:cNvPicPr>
            <a:picLocks noChangeAspect="1"/>
          </p:cNvPicPr>
          <p:nvPr/>
        </p:nvPicPr>
        <p:blipFill>
          <a:blip r:embed="rId5"/>
          <a:stretch>
            <a:fillRect/>
          </a:stretch>
        </p:blipFill>
        <p:spPr>
          <a:xfrm>
            <a:off x="868680" y="3401568"/>
            <a:ext cx="402336" cy="402336"/>
          </a:xfrm>
          <a:prstGeom prst="rect">
            <a:avLst/>
          </a:prstGeom>
        </p:spPr>
      </p:pic>
      <p:sp>
        <p:nvSpPr>
          <p:cNvPr id="37" name="TextBox 36"/>
          <p:cNvSpPr txBox="1"/>
          <p:nvPr/>
        </p:nvSpPr>
        <p:spPr>
          <a:xfrm>
            <a:off x="1463040" y="3273552"/>
            <a:ext cx="3291840" cy="658368"/>
          </a:xfrm>
          <a:prstGeom prst="rect">
            <a:avLst/>
          </a:prstGeom>
          <a:noFill/>
        </p:spPr>
        <p:txBody>
          <a:bodyPr wrap="square" lIns="0" tIns="0" rIns="0" bIns="0" anchor="ctr">
            <a:spAutoFit/>
          </a:bodyPr>
          <a:lstStyle/>
          <a:p>
            <a:pPr>
              <a:lnSpc>
                <a:spcPct val="108000"/>
              </a:lnSpc>
              <a:spcAft>
                <a:spcPts val="400"/>
              </a:spcAft>
            </a:pPr>
            <a:r>
              <a:rPr sz="1400" b="1" i="0">
                <a:solidFill>
                  <a:srgbClr val="F7F6F2"/>
                </a:solidFill>
                <a:latin typeface="Inter"/>
              </a:rPr>
              <a:t>Une page prouve, elle ne raconte pas</a:t>
            </a:r>
          </a:p>
        </p:txBody>
      </p:sp>
      <p:sp>
        <p:nvSpPr>
          <p:cNvPr id="38" name="TextBox 37"/>
          <p:cNvSpPr txBox="1"/>
          <p:nvPr/>
        </p:nvSpPr>
        <p:spPr>
          <a:xfrm>
            <a:off x="4846320" y="3273552"/>
            <a:ext cx="6583680" cy="658368"/>
          </a:xfrm>
          <a:prstGeom prst="rect">
            <a:avLst/>
          </a:prstGeom>
          <a:noFill/>
        </p:spPr>
        <p:txBody>
          <a:bodyPr wrap="square" lIns="0" tIns="0" rIns="0" bIns="0" anchor="ctr">
            <a:spAutoFit/>
          </a:bodyPr>
          <a:lstStyle/>
          <a:p>
            <a:pPr>
              <a:lnSpc>
                <a:spcPct val="108000"/>
              </a:lnSpc>
              <a:spcAft>
                <a:spcPts val="400"/>
              </a:spcAft>
            </a:pPr>
            <a:r>
              <a:rPr sz="1300" b="0" i="0">
                <a:solidFill>
                  <a:srgbClr val="B8C0C8"/>
                </a:solidFill>
                <a:latin typeface="Inter"/>
              </a:rPr>
              <a:t>Pour chaque constat : un </a:t>
            </a:r>
            <a:r>
              <a:rPr sz="1300" b="1" i="0">
                <a:solidFill>
                  <a:srgbClr val="F5A623"/>
                </a:solidFill>
                <a:latin typeface="Inter"/>
              </a:rPr>
              <a:t>chiffre mesuré</a:t>
            </a:r>
            <a:r>
              <a:rPr sz="1300" b="0" i="0">
                <a:solidFill>
                  <a:srgbClr val="B8C0C8"/>
                </a:solidFill>
                <a:latin typeface="Inter"/>
              </a:rPr>
              <a:t> (règle RQ, couche), la </a:t>
            </a:r>
            <a:r>
              <a:rPr sz="1300" b="1" i="0">
                <a:solidFill>
                  <a:srgbClr val="F5A623"/>
                </a:solidFill>
                <a:latin typeface="Inter"/>
              </a:rPr>
              <a:t>preuve</a:t>
            </a:r>
            <a:r>
              <a:rPr sz="1300" b="0" i="0">
                <a:solidFill>
                  <a:srgbClr val="B8C0C8"/>
                </a:solidFill>
                <a:latin typeface="Inter"/>
              </a:rPr>
              <a:t> (chemin du dépôt), la </a:t>
            </a:r>
            <a:r>
              <a:rPr sz="1300" b="1" i="0">
                <a:solidFill>
                  <a:srgbClr val="F5A623"/>
                </a:solidFill>
                <a:latin typeface="Inter"/>
              </a:rPr>
              <a:t>conséquence</a:t>
            </a:r>
            <a:r>
              <a:rPr sz="1300" b="0" i="0">
                <a:solidFill>
                  <a:srgbClr val="B8C0C8"/>
                </a:solidFill>
                <a:latin typeface="Inter"/>
              </a:rPr>
              <a:t> attribuée à un rôle.</a:t>
            </a:r>
          </a:p>
        </p:txBody>
      </p:sp>
      <p:sp>
        <p:nvSpPr>
          <p:cNvPr id="39" name="Rectangle 38"/>
          <p:cNvSpPr/>
          <p:nvPr/>
        </p:nvSpPr>
        <p:spPr>
          <a:xfrm>
            <a:off x="640080" y="4114800"/>
            <a:ext cx="10908792" cy="80467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0" name="Icône branch" descr="Icône branch"/>
          <p:cNvPicPr>
            <a:picLocks noChangeAspect="1"/>
          </p:cNvPicPr>
          <p:nvPr/>
        </p:nvPicPr>
        <p:blipFill>
          <a:blip r:embed="rId6"/>
          <a:stretch>
            <a:fillRect/>
          </a:stretch>
        </p:blipFill>
        <p:spPr>
          <a:xfrm>
            <a:off x="868680" y="4315968"/>
            <a:ext cx="402336" cy="402336"/>
          </a:xfrm>
          <a:prstGeom prst="rect">
            <a:avLst/>
          </a:prstGeom>
        </p:spPr>
      </p:pic>
      <p:sp>
        <p:nvSpPr>
          <p:cNvPr id="41" name="TextBox 40"/>
          <p:cNvSpPr txBox="1"/>
          <p:nvPr/>
        </p:nvSpPr>
        <p:spPr>
          <a:xfrm>
            <a:off x="1463040" y="4187952"/>
            <a:ext cx="3291840" cy="658368"/>
          </a:xfrm>
          <a:prstGeom prst="rect">
            <a:avLst/>
          </a:prstGeom>
          <a:noFill/>
        </p:spPr>
        <p:txBody>
          <a:bodyPr wrap="square" lIns="0" tIns="0" rIns="0" bIns="0" anchor="ctr">
            <a:spAutoFit/>
          </a:bodyPr>
          <a:lstStyle/>
          <a:p>
            <a:pPr>
              <a:lnSpc>
                <a:spcPct val="108000"/>
              </a:lnSpc>
              <a:spcAft>
                <a:spcPts val="400"/>
              </a:spcAft>
            </a:pPr>
            <a:r>
              <a:rPr sz="1400" b="1" i="0">
                <a:solidFill>
                  <a:srgbClr val="F7F6F2"/>
                </a:solidFill>
                <a:latin typeface="Inter"/>
              </a:rPr>
              <a:t>Le dépôt Git est la preuve</a:t>
            </a:r>
          </a:p>
        </p:txBody>
      </p:sp>
      <p:sp>
        <p:nvSpPr>
          <p:cNvPr id="42" name="TextBox 41"/>
          <p:cNvSpPr txBox="1"/>
          <p:nvPr/>
        </p:nvSpPr>
        <p:spPr>
          <a:xfrm>
            <a:off x="4846320" y="4187952"/>
            <a:ext cx="6583680" cy="658368"/>
          </a:xfrm>
          <a:prstGeom prst="rect">
            <a:avLst/>
          </a:prstGeom>
          <a:noFill/>
        </p:spPr>
        <p:txBody>
          <a:bodyPr wrap="square" lIns="0" tIns="0" rIns="0" bIns="0" anchor="ctr">
            <a:spAutoFit/>
          </a:bodyPr>
          <a:lstStyle/>
          <a:p>
            <a:pPr>
              <a:lnSpc>
                <a:spcPct val="108000"/>
              </a:lnSpc>
              <a:spcAft>
                <a:spcPts val="400"/>
              </a:spcAft>
            </a:pPr>
            <a:r>
              <a:rPr sz="1300" b="0" i="0">
                <a:solidFill>
                  <a:srgbClr val="B8C0C8"/>
                </a:solidFill>
                <a:latin typeface="Inter"/>
              </a:rPr>
              <a:t>Chaque chemin cité existe dans votre dépôt. Étiquette </a:t>
            </a:r>
            <a:r>
              <a:rPr sz="1300" b="0" i="0">
                <a:solidFill>
                  <a:srgbClr val="F7F6F2"/>
                </a:solidFill>
                <a:latin typeface="Consolas"/>
              </a:rPr>
              <a:t>seance-N</a:t>
            </a:r>
            <a:r>
              <a:rPr sz="1300" b="0" i="0">
                <a:solidFill>
                  <a:srgbClr val="B8C0C8"/>
                </a:solidFill>
                <a:latin typeface="Inter"/>
              </a:rPr>
              <a:t> posée en fin de chaque séance.</a:t>
            </a:r>
          </a:p>
        </p:txBody>
      </p:sp>
      <p:sp>
        <p:nvSpPr>
          <p:cNvPr id="43" name="Rectangle 42"/>
          <p:cNvSpPr/>
          <p:nvPr/>
        </p:nvSpPr>
        <p:spPr>
          <a:xfrm>
            <a:off x="640080" y="5029200"/>
            <a:ext cx="10908792" cy="80467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4" name="Icône warn" descr="Icône warn"/>
          <p:cNvPicPr>
            <a:picLocks noChangeAspect="1"/>
          </p:cNvPicPr>
          <p:nvPr/>
        </p:nvPicPr>
        <p:blipFill>
          <a:blip r:embed="rId7"/>
          <a:stretch>
            <a:fillRect/>
          </a:stretch>
        </p:blipFill>
        <p:spPr>
          <a:xfrm>
            <a:off x="868680" y="5230368"/>
            <a:ext cx="402336" cy="402336"/>
          </a:xfrm>
          <a:prstGeom prst="rect">
            <a:avLst/>
          </a:prstGeom>
        </p:spPr>
      </p:pic>
      <p:sp>
        <p:nvSpPr>
          <p:cNvPr id="45" name="TextBox 44"/>
          <p:cNvSpPr txBox="1"/>
          <p:nvPr/>
        </p:nvSpPr>
        <p:spPr>
          <a:xfrm>
            <a:off x="1463040" y="5102352"/>
            <a:ext cx="3291840" cy="658368"/>
          </a:xfrm>
          <a:prstGeom prst="rect">
            <a:avLst/>
          </a:prstGeom>
          <a:noFill/>
        </p:spPr>
        <p:txBody>
          <a:bodyPr wrap="square" lIns="0" tIns="0" rIns="0" bIns="0" anchor="ctr">
            <a:spAutoFit/>
          </a:bodyPr>
          <a:lstStyle/>
          <a:p>
            <a:pPr>
              <a:lnSpc>
                <a:spcPct val="108000"/>
              </a:lnSpc>
              <a:spcAft>
                <a:spcPts val="400"/>
              </a:spcAft>
            </a:pPr>
            <a:r>
              <a:rPr sz="1400" b="1" i="0">
                <a:solidFill>
                  <a:srgbClr val="F7F6F2"/>
                </a:solidFill>
                <a:latin typeface="Inter"/>
              </a:rPr>
              <a:t>Si vous n'avez pas fini</a:t>
            </a:r>
          </a:p>
        </p:txBody>
      </p:sp>
      <p:sp>
        <p:nvSpPr>
          <p:cNvPr id="46" name="TextBox 45"/>
          <p:cNvSpPr txBox="1"/>
          <p:nvPr/>
        </p:nvSpPr>
        <p:spPr>
          <a:xfrm>
            <a:off x="4846320" y="5102352"/>
            <a:ext cx="6583680" cy="658368"/>
          </a:xfrm>
          <a:prstGeom prst="rect">
            <a:avLst/>
          </a:prstGeom>
          <a:noFill/>
        </p:spPr>
        <p:txBody>
          <a:bodyPr wrap="square" lIns="0" tIns="0" rIns="0" bIns="0" anchor="ctr">
            <a:spAutoFit/>
          </a:bodyPr>
          <a:lstStyle/>
          <a:p>
            <a:pPr>
              <a:lnSpc>
                <a:spcPct val="108000"/>
              </a:lnSpc>
              <a:spcAft>
                <a:spcPts val="400"/>
              </a:spcAft>
            </a:pPr>
            <a:r>
              <a:rPr sz="1300" b="0" i="0">
                <a:solidFill>
                  <a:srgbClr val="B8C0C8"/>
                </a:solidFill>
                <a:latin typeface="Inter"/>
              </a:rPr>
              <a:t>Laissez les zones ambre visibles : un livrable inachevé doit le rester. Ne mettez jamais un chiffre sans l'avoir mesuré.</a:t>
            </a:r>
          </a:p>
        </p:txBody>
      </p:sp>
      <p:sp>
        <p:nvSpPr>
          <p:cNvPr id="47" name="TextBox 46"/>
          <p:cNvSpPr txBox="1"/>
          <p:nvPr/>
        </p:nvSpPr>
        <p:spPr>
          <a:xfrm>
            <a:off x="640080" y="5989320"/>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Si le texte déborde d'une cellule, réduisez la police à 11 pt plutôt que d'étendre le tableau hors de la page.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Où se trouve quoi, et ce que pèse chaque critère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PLAN DU LIVRABLE</a:t>
            </a:r>
          </a:p>
        </p:txBody>
      </p:sp>
      <p:graphicFrame>
        <p:nvGraphicFramePr>
          <p:cNvPr id="27" name="Table 26"/>
          <p:cNvGraphicFramePr>
            <a:graphicFrameLocks noGrp="1"/>
          </p:cNvGraphicFramePr>
          <p:nvPr/>
        </p:nvGraphicFramePr>
        <p:xfrm>
          <a:off x="640080" y="1371600"/>
          <a:ext cx="10908792" cy="3072384"/>
        </p:xfrm>
        <a:graphic>
          <a:graphicData uri="http://schemas.openxmlformats.org/drawingml/2006/table">
            <a:tbl>
              <a:tblPr/>
              <a:tblGrid>
                <a:gridCol w="40233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4690872">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384048">
                <a:tc>
                  <a:txBody>
                    <a:bodyPr/>
                    <a:lstStyle/>
                    <a:p>
                      <a:r>
                        <a:rPr sz="1200" b="1" i="0" spc="60">
                          <a:solidFill>
                            <a:srgbClr val="F5A623"/>
                          </a:solidFill>
                          <a:latin typeface="Inter"/>
                        </a:rPr>
                        <a:t>Partie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200" b="1" i="0" spc="60">
                          <a:solidFill>
                            <a:srgbClr val="F5A623"/>
                          </a:solidFill>
                          <a:latin typeface="Inter"/>
                        </a:rPr>
                        <a:t>Pages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200" b="1" i="0" spc="60">
                          <a:solidFill>
                            <a:srgbClr val="F5A623"/>
                          </a:solidFill>
                          <a:latin typeface="Inter"/>
                        </a:rPr>
                        <a:t>Critère de la grille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200" b="1" i="0" spc="60">
                          <a:solidFill>
                            <a:srgbClr val="F5A623"/>
                          </a:solidFill>
                          <a:latin typeface="Inter"/>
                        </a:rPr>
                        <a:t>Poids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84048">
                <a:tc>
                  <a:txBody>
                    <a:bodyPr/>
                    <a:lstStyle/>
                    <a:p>
                      <a:r>
                        <a:rPr sz="1300" b="1" i="0">
                          <a:solidFill>
                            <a:srgbClr val="F7F6F2"/>
                          </a:solidFill>
                          <a:latin typeface="Inter"/>
                        </a:rPr>
                        <a:t>Équipe et mandat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4 à 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Contribution individuelle (vérifiée dans l'historique Git)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extLst>
                  <a:ext uri="{0D108BD9-81ED-4DB2-BD59-A6C34878D82A}">
                    <a16:rowId xmlns:a16="http://schemas.microsoft.com/office/drawing/2014/main" val="10001"/>
                  </a:ext>
                </a:extLst>
              </a:tr>
              <a:tr h="384048">
                <a:tc>
                  <a:txBody>
                    <a:bodyPr/>
                    <a:lstStyle/>
                    <a:p>
                      <a:r>
                        <a:rPr sz="1300" b="1" i="0">
                          <a:solidFill>
                            <a:srgbClr val="F7F6F2"/>
                          </a:solidFill>
                          <a:latin typeface="Inter"/>
                        </a:rPr>
                        <a:t>S1 : bronze, porte B, profilage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300" b="0" i="0">
                          <a:solidFill>
                            <a:srgbClr val="F7F6F2"/>
                          </a:solidFill>
                          <a:latin typeface="Inter"/>
                        </a:rPr>
                        <a:t>S1</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300" b="0" i="0">
                          <a:solidFill>
                            <a:srgbClr val="F7F6F2"/>
                          </a:solidFill>
                          <a:latin typeface="Inter"/>
                        </a:rPr>
                        <a:t>Profilage et diagnostic</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300" b="0" i="0">
                          <a:solidFill>
                            <a:srgbClr val="F7F6F2"/>
                          </a:solidFill>
                          <a:latin typeface="Inter"/>
                        </a:rPr>
                        <a:t>20 %</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extLst>
                  <a:ext uri="{0D108BD9-81ED-4DB2-BD59-A6C34878D82A}">
                    <a16:rowId xmlns:a16="http://schemas.microsoft.com/office/drawing/2014/main" val="10002"/>
                  </a:ext>
                </a:extLst>
              </a:tr>
              <a:tr h="384048">
                <a:tc>
                  <a:txBody>
                    <a:bodyPr/>
                    <a:lstStyle/>
                    <a:p>
                      <a:r>
                        <a:rPr sz="1300" b="1" i="0">
                          <a:solidFill>
                            <a:srgbClr val="F7F6F2"/>
                          </a:solidFill>
                          <a:latin typeface="Inter"/>
                        </a:rPr>
                        <a:t>S2 : règles en tests (Great Expectations)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S2</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Règles et tests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20 %</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extLst>
                  <a:ext uri="{0D108BD9-81ED-4DB2-BD59-A6C34878D82A}">
                    <a16:rowId xmlns:a16="http://schemas.microsoft.com/office/drawing/2014/main" val="10003"/>
                  </a:ext>
                </a:extLst>
              </a:tr>
              <a:tr h="384048">
                <a:tc>
                  <a:txBody>
                    <a:bodyPr/>
                    <a:lstStyle/>
                    <a:p>
                      <a:r>
                        <a:rPr sz="1300" b="1" i="0">
                          <a:solidFill>
                            <a:srgbClr val="F7F6F2"/>
                          </a:solidFill>
                          <a:latin typeface="Inter"/>
                        </a:rPr>
                        <a:t>S3 : intégrité et portes (Soda Core)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300" b="0" i="0">
                          <a:solidFill>
                            <a:srgbClr val="F7F6F2"/>
                          </a:solidFill>
                          <a:latin typeface="Inter"/>
                        </a:rPr>
                        <a:t>S3</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300" b="0" i="0">
                          <a:solidFill>
                            <a:srgbClr val="F7F6F2"/>
                          </a:solidFill>
                          <a:latin typeface="Inter"/>
                        </a:rPr>
                        <a:t>Règles et tests (suite)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300" b="0" i="0">
                          <a:solidFill>
                            <a:srgbClr val="F7F6F2"/>
                          </a:solidFill>
                          <a:latin typeface="Inter"/>
                        </a:rPr>
                        <a:t>inclus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extLst>
                  <a:ext uri="{0D108BD9-81ED-4DB2-BD59-A6C34878D82A}">
                    <a16:rowId xmlns:a16="http://schemas.microsoft.com/office/drawing/2014/main" val="10004"/>
                  </a:ext>
                </a:extLst>
              </a:tr>
              <a:tr h="384048">
                <a:tc>
                  <a:txBody>
                    <a:bodyPr/>
                    <a:lstStyle/>
                    <a:p>
                      <a:r>
                        <a:rPr sz="1300" b="1" i="0">
                          <a:solidFill>
                            <a:srgbClr val="F7F6F2"/>
                          </a:solidFill>
                          <a:latin typeface="Inter"/>
                        </a:rPr>
                        <a:t>S4 : silver, gold, traçabilité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S4</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Silver, gold et traçabilité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25 %</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extLst>
                  <a:ext uri="{0D108BD9-81ED-4DB2-BD59-A6C34878D82A}">
                    <a16:rowId xmlns:a16="http://schemas.microsoft.com/office/drawing/2014/main" val="10005"/>
                  </a:ext>
                </a:extLst>
              </a:tr>
              <a:tr h="384048">
                <a:tc>
                  <a:txBody>
                    <a:bodyPr/>
                    <a:lstStyle/>
                    <a:p>
                      <a:r>
                        <a:rPr sz="1300" b="1" i="0">
                          <a:solidFill>
                            <a:srgbClr val="F7F6F2"/>
                          </a:solidFill>
                          <a:latin typeface="Inter"/>
                        </a:rPr>
                        <a:t>S5 : certificat, publication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300" b="0" i="0">
                          <a:solidFill>
                            <a:srgbClr val="F7F6F2"/>
                          </a:solidFill>
                          <a:latin typeface="Inter"/>
                        </a:rPr>
                        <a:t>S5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300" b="0" i="0">
                          <a:solidFill>
                            <a:srgbClr val="F7F6F2"/>
                          </a:solidFill>
                          <a:latin typeface="Inter"/>
                        </a:rPr>
                        <a:t>Preuve et certificat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300" b="0" i="0">
                          <a:solidFill>
                            <a:srgbClr val="F7F6F2"/>
                          </a:solidFill>
                          <a:latin typeface="Inter"/>
                        </a:rPr>
                        <a:t>20 %</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extLst>
                  <a:ext uri="{0D108BD9-81ED-4DB2-BD59-A6C34878D82A}">
                    <a16:rowId xmlns:a16="http://schemas.microsoft.com/office/drawing/2014/main" val="10006"/>
                  </a:ext>
                </a:extLst>
              </a:tr>
              <a:tr h="384048">
                <a:tc>
                  <a:txBody>
                    <a:bodyPr/>
                    <a:lstStyle/>
                    <a:p>
                      <a:r>
                        <a:rPr sz="1300" b="1" i="0">
                          <a:solidFill>
                            <a:srgbClr val="F7F6F2"/>
                          </a:solidFill>
                          <a:latin typeface="Inter"/>
                        </a:rPr>
                        <a:t>Dossier go/no-go, journal des décisions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Dossier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Gouvernance et décision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300" b="0" i="0">
                          <a:solidFill>
                            <a:srgbClr val="F7F6F2"/>
                          </a:solidFill>
                          <a:latin typeface="Inter"/>
                        </a:rPr>
                        <a:t>15 %</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extLst>
                  <a:ext uri="{0D108BD9-81ED-4DB2-BD59-A6C34878D82A}">
                    <a16:rowId xmlns:a16="http://schemas.microsoft.com/office/drawing/2014/main" val="10007"/>
                  </a:ext>
                </a:extLst>
              </a:tr>
            </a:tbl>
          </a:graphicData>
        </a:graphic>
      </p:graphicFrame>
      <p:sp>
        <p:nvSpPr>
          <p:cNvPr id="28" name="TextBox 27"/>
          <p:cNvSpPr txBox="1"/>
          <p:nvPr/>
        </p:nvSpPr>
        <p:spPr>
          <a:xfrm>
            <a:off x="640080" y="4581144"/>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Définition de « terminé » pour une story : critères démontrés avec les chiffres, règle identifiée par son RQ et la couche mesurée, décision attribuée à un rôle, aucune donnée modifiée en place.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Membres, rôles par séance et contribution</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4</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ÉQUIPE</a:t>
            </a:r>
          </a:p>
        </p:txBody>
      </p:sp>
      <p:sp>
        <p:nvSpPr>
          <p:cNvPr id="27"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0" name="TextBox 29"/>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1" name="TextBox 30"/>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rôles tournent</a:t>
            </a:r>
            <a:r>
              <a:rPr sz="1300" b="0" i="0">
                <a:solidFill>
                  <a:srgbClr val="F7F6F2"/>
                </a:solidFill>
                <a:latin typeface="Inter"/>
              </a:rPr>
              <a:t> à chaque séance et un rôle est tenu par une personne à la fois.</a:t>
            </a:r>
          </a:p>
          <a:p>
            <a:pPr marL="182880" indent="-182880">
              <a:lnSpc>
                <a:spcPct val="108000"/>
              </a:lnSpc>
              <a:spcAft>
                <a:spcPts val="300"/>
              </a:spcAft>
              <a:buClr>
                <a:srgbClr val="F5A623"/>
              </a:buClr>
              <a:buChar char="•"/>
            </a:pPr>
            <a:r>
              <a:rPr sz="1300" b="0" i="0">
                <a:solidFill>
                  <a:srgbClr val="F7F6F2"/>
                </a:solidFill>
                <a:latin typeface="Inter"/>
              </a:rPr>
              <a:t>La contribution déclarée est </a:t>
            </a:r>
            <a:r>
              <a:rPr sz="1300" b="1" i="0">
                <a:solidFill>
                  <a:srgbClr val="F5A623"/>
                </a:solidFill>
                <a:latin typeface="Inter"/>
              </a:rPr>
              <a:t>vérifiable</a:t>
            </a:r>
            <a:r>
              <a:rPr sz="1300" b="0" i="0">
                <a:solidFill>
                  <a:srgbClr val="F7F6F2"/>
                </a:solidFill>
                <a:latin typeface="Inter"/>
              </a:rPr>
              <a:t> dans l'historique Git : une ligne par membre, deux lignes de texte.</a:t>
            </a:r>
          </a:p>
        </p:txBody>
      </p:sp>
      <p:graphicFrame>
        <p:nvGraphicFramePr>
          <p:cNvPr id="32" name="Table 31"/>
          <p:cNvGraphicFramePr>
            <a:graphicFrameLocks noGrp="1"/>
          </p:cNvGraphicFramePr>
          <p:nvPr>
            <p:extLst>
              <p:ext uri="{D42A27DB-BD31-4B8C-83A1-F6EECF244321}">
                <p14:modId xmlns:p14="http://schemas.microsoft.com/office/powerpoint/2010/main" val="2769015198"/>
              </p:ext>
            </p:extLst>
          </p:nvPr>
        </p:nvGraphicFramePr>
        <p:xfrm>
          <a:off x="640080" y="2488388"/>
          <a:ext cx="10908792" cy="2102399"/>
        </p:xfrm>
        <a:graphic>
          <a:graphicData uri="http://schemas.openxmlformats.org/drawingml/2006/table">
            <a:tbl>
              <a:tblPr/>
              <a:tblGrid>
                <a:gridCol w="25603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1280160">
                  <a:extLst>
                    <a:ext uri="{9D8B030D-6E8A-4147-A177-3AD203B41FA5}">
                      <a16:colId xmlns:a16="http://schemas.microsoft.com/office/drawing/2014/main" val="20005"/>
                    </a:ext>
                  </a:extLst>
                </a:gridCol>
                <a:gridCol w="1307592">
                  <a:extLst>
                    <a:ext uri="{9D8B030D-6E8A-4147-A177-3AD203B41FA5}">
                      <a16:colId xmlns:a16="http://schemas.microsoft.com/office/drawing/2014/main" val="20006"/>
                    </a:ext>
                  </a:extLst>
                </a:gridCol>
              </a:tblGrid>
              <a:tr h="273599">
                <a:tc>
                  <a:txBody>
                    <a:bodyPr/>
                    <a:lstStyle/>
                    <a:p>
                      <a:r>
                        <a:rPr sz="1100" b="1" i="0" spc="60">
                          <a:solidFill>
                            <a:srgbClr val="F5A623"/>
                          </a:solidFill>
                          <a:latin typeface="Inter"/>
                        </a:rPr>
                        <a:t>Membre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Identifiant Git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S1</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S2</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S3</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S4</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445950">
                <a:tc>
                  <a:txBody>
                    <a:bodyPr/>
                    <a:lstStyle/>
                    <a:p>
                      <a:r>
                        <a:rPr lang="fr-FR" sz="1200" b="0" i="0" dirty="0">
                          <a:solidFill>
                            <a:srgbClr val="F5A623"/>
                          </a:solidFill>
                          <a:latin typeface="Inter"/>
                        </a:rPr>
                        <a:t>Iliana </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Inter"/>
                        </a:rPr>
                        <a:t>frorock</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Ingénieur qualité</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dirty="0">
                          <a:solidFill>
                            <a:srgbClr val="F5A623"/>
                          </a:solidFill>
                          <a:latin typeface="+mn-lt"/>
                        </a:rPr>
                        <a:t>Data </a:t>
                      </a:r>
                      <a:r>
                        <a:rPr lang="fr-FR" sz="1200" b="0" i="0" dirty="0" err="1">
                          <a:solidFill>
                            <a:srgbClr val="F5A623"/>
                          </a:solidFill>
                          <a:latin typeface="+mn-lt"/>
                        </a:rPr>
                        <a:t>Owner</a:t>
                      </a:r>
                      <a:endParaRPr lang="fr-FR" sz="1200" b="0" i="0" dirty="0">
                        <a:solidFill>
                          <a:srgbClr val="F5A623"/>
                        </a:solidFill>
                        <a:latin typeface="+mn-lt"/>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dirty="0">
                          <a:solidFill>
                            <a:srgbClr val="F5A623"/>
                          </a:solidFill>
                          <a:latin typeface="+mn-lt"/>
                        </a:rPr>
                        <a:t>Rédacteur du livrable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445950">
                <a:tc>
                  <a:txBody>
                    <a:bodyPr/>
                    <a:lstStyle/>
                    <a:p>
                      <a:r>
                        <a:rPr lang="fr-FR" sz="1200" b="0" i="0" dirty="0">
                          <a:solidFill>
                            <a:srgbClr val="F5A623"/>
                          </a:solidFill>
                          <a:latin typeface="Inter"/>
                        </a:rPr>
                        <a:t>Maria Camila</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Inter"/>
                        </a:rPr>
                        <a:t>mariacx</a:t>
                      </a:r>
                      <a:r>
                        <a:rPr lang="fr-FR" sz="1200" b="0" i="0" dirty="0">
                          <a:solidFill>
                            <a:srgbClr val="F5A623"/>
                          </a:solidFill>
                          <a:latin typeface="Inter"/>
                        </a:rPr>
                        <a:t>-bit</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Data </a:t>
                      </a:r>
                      <a:r>
                        <a:rPr lang="fr-FR" sz="1200" b="0" i="0" dirty="0" err="1">
                          <a:solidFill>
                            <a:srgbClr val="F5A623"/>
                          </a:solidFill>
                          <a:latin typeface="Inter"/>
                        </a:rPr>
                        <a:t>Owner</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Ingénieur qualité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Data Steward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445950">
                <a:tc>
                  <a:txBody>
                    <a:bodyPr/>
                    <a:lstStyle/>
                    <a:p>
                      <a:r>
                        <a:rPr lang="fr-FR" sz="1200" b="0" i="0" dirty="0" err="1">
                          <a:solidFill>
                            <a:srgbClr val="F5A623"/>
                          </a:solidFill>
                          <a:latin typeface="Inter"/>
                        </a:rPr>
                        <a:t>Firdaouss</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Inter"/>
                        </a:rPr>
                        <a:t>kehfir</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Data Steward</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dirty="0">
                          <a:solidFill>
                            <a:srgbClr val="F5A623"/>
                          </a:solidFill>
                          <a:latin typeface="+mn-lt"/>
                        </a:rPr>
                        <a:t>Rédacteur du livrable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dirty="0">
                          <a:solidFill>
                            <a:srgbClr val="F5A623"/>
                          </a:solidFill>
                          <a:latin typeface="+mn-lt"/>
                        </a:rPr>
                        <a:t>Data </a:t>
                      </a:r>
                      <a:r>
                        <a:rPr lang="fr-FR" sz="1200" b="0" i="0" dirty="0" err="1">
                          <a:solidFill>
                            <a:srgbClr val="F5A623"/>
                          </a:solidFill>
                          <a:latin typeface="+mn-lt"/>
                        </a:rPr>
                        <a:t>Owner</a:t>
                      </a:r>
                      <a:endParaRPr lang="fr-FR" sz="1200" b="0" i="0" dirty="0">
                        <a:solidFill>
                          <a:srgbClr val="F5A623"/>
                        </a:solidFill>
                        <a:latin typeface="+mn-lt"/>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445950">
                <a:tc>
                  <a:txBody>
                    <a:bodyPr/>
                    <a:lstStyle/>
                    <a:p>
                      <a:r>
                        <a:rPr lang="fr-FR" sz="1200" b="0" i="0" dirty="0">
                          <a:solidFill>
                            <a:srgbClr val="F5A623"/>
                          </a:solidFill>
                          <a:latin typeface="Inter"/>
                        </a:rPr>
                        <a:t>Ruth</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Inter"/>
                        </a:rPr>
                        <a:t>ruthabebeneg</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Rédacteur du livrable</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dirty="0">
                          <a:solidFill>
                            <a:srgbClr val="F5A623"/>
                          </a:solidFill>
                          <a:latin typeface="+mn-lt"/>
                        </a:rPr>
                        <a:t>Data Steward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Ingénieur qualité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sp>
        <p:nvSpPr>
          <p:cNvPr id="33" name="TextBox 32"/>
          <p:cNvSpPr txBox="1"/>
          <p:nvPr/>
        </p:nvSpPr>
        <p:spPr>
          <a:xfrm>
            <a:off x="640080" y="4591507"/>
            <a:ext cx="10908792" cy="274320"/>
          </a:xfrm>
          <a:prstGeom prst="rect">
            <a:avLst/>
          </a:prstGeom>
          <a:noFill/>
        </p:spPr>
        <p:txBody>
          <a:bodyPr wrap="square" lIns="0" tIns="0" rIns="0" bIns="0" anchor="t">
            <a:spAutoFit/>
          </a:bodyPr>
          <a:lstStyle/>
          <a:p>
            <a:pPr>
              <a:lnSpc>
                <a:spcPct val="108000"/>
              </a:lnSpc>
              <a:spcAft>
                <a:spcPts val="400"/>
              </a:spcAft>
            </a:pPr>
            <a:r>
              <a:rPr sz="1100" b="0" i="1" dirty="0" err="1">
                <a:solidFill>
                  <a:srgbClr val="8E99A4"/>
                </a:solidFill>
                <a:latin typeface="Inter"/>
              </a:rPr>
              <a:t>Rôles</a:t>
            </a:r>
            <a:r>
              <a:rPr sz="1100" b="0" i="1" dirty="0">
                <a:solidFill>
                  <a:srgbClr val="8E99A4"/>
                </a:solidFill>
                <a:latin typeface="Inter"/>
              </a:rPr>
              <a:t> : Data Owner (</a:t>
            </a:r>
            <a:r>
              <a:rPr sz="1100" b="0" i="1" dirty="0" err="1">
                <a:solidFill>
                  <a:srgbClr val="8E99A4"/>
                </a:solidFill>
                <a:latin typeface="Inter"/>
              </a:rPr>
              <a:t>décide</a:t>
            </a:r>
            <a:r>
              <a:rPr sz="1100" b="0" i="1" dirty="0">
                <a:solidFill>
                  <a:srgbClr val="8E99A4"/>
                </a:solidFill>
                <a:latin typeface="Inter"/>
              </a:rPr>
              <a:t> des </a:t>
            </a:r>
            <a:r>
              <a:rPr sz="1100" b="0" i="1" dirty="0" err="1">
                <a:solidFill>
                  <a:srgbClr val="8E99A4"/>
                </a:solidFill>
                <a:latin typeface="Inter"/>
              </a:rPr>
              <a:t>seuils</a:t>
            </a:r>
            <a:r>
              <a:rPr sz="1100" b="0" i="1" dirty="0">
                <a:solidFill>
                  <a:srgbClr val="8E99A4"/>
                </a:solidFill>
                <a:latin typeface="Inter"/>
              </a:rPr>
              <a:t> et du GO) · Data Steward (</a:t>
            </a:r>
            <a:r>
              <a:rPr sz="1100" b="0" i="1" dirty="0" err="1">
                <a:solidFill>
                  <a:srgbClr val="8E99A4"/>
                </a:solidFill>
                <a:latin typeface="Inter"/>
              </a:rPr>
              <a:t>définit</a:t>
            </a:r>
            <a:r>
              <a:rPr sz="1100" b="0" i="1" dirty="0">
                <a:solidFill>
                  <a:srgbClr val="8E99A4"/>
                </a:solidFill>
                <a:latin typeface="Inter"/>
              </a:rPr>
              <a:t> les </a:t>
            </a:r>
            <a:r>
              <a:rPr sz="1100" b="0" i="1" dirty="0" err="1">
                <a:solidFill>
                  <a:srgbClr val="8E99A4"/>
                </a:solidFill>
                <a:latin typeface="Inter"/>
              </a:rPr>
              <a:t>règles</a:t>
            </a:r>
            <a:r>
              <a:rPr sz="1100" b="0" i="1" dirty="0">
                <a:solidFill>
                  <a:srgbClr val="8E99A4"/>
                </a:solidFill>
                <a:latin typeface="Inter"/>
              </a:rPr>
              <a:t> et </a:t>
            </a:r>
            <a:r>
              <a:rPr sz="1100" b="0" i="1" dirty="0" err="1">
                <a:solidFill>
                  <a:srgbClr val="8E99A4"/>
                </a:solidFill>
                <a:latin typeface="Inter"/>
              </a:rPr>
              <a:t>leur</a:t>
            </a:r>
            <a:r>
              <a:rPr sz="1100" b="0" i="1" dirty="0">
                <a:solidFill>
                  <a:srgbClr val="8E99A4"/>
                </a:solidFill>
                <a:latin typeface="Inter"/>
              </a:rPr>
              <a:t> </a:t>
            </a:r>
            <a:r>
              <a:rPr sz="1100" b="0" i="1" dirty="0" err="1">
                <a:solidFill>
                  <a:srgbClr val="8E99A4"/>
                </a:solidFill>
                <a:latin typeface="Inter"/>
              </a:rPr>
              <a:t>sévérité</a:t>
            </a:r>
            <a:r>
              <a:rPr sz="1100" b="0" i="1" dirty="0">
                <a:solidFill>
                  <a:srgbClr val="8E99A4"/>
                </a:solidFill>
                <a:latin typeface="Inter"/>
              </a:rPr>
              <a:t>) · </a:t>
            </a:r>
            <a:r>
              <a:rPr sz="1100" b="0" i="1" dirty="0" err="1">
                <a:solidFill>
                  <a:srgbClr val="8E99A4"/>
                </a:solidFill>
                <a:latin typeface="Inter"/>
              </a:rPr>
              <a:t>Ingénieur</a:t>
            </a:r>
            <a:r>
              <a:rPr sz="1100" b="0" i="1" dirty="0">
                <a:solidFill>
                  <a:srgbClr val="8E99A4"/>
                </a:solidFill>
                <a:latin typeface="Inter"/>
              </a:rPr>
              <a:t> </a:t>
            </a:r>
            <a:r>
              <a:rPr sz="1100" b="0" i="1" dirty="0" err="1">
                <a:solidFill>
                  <a:srgbClr val="8E99A4"/>
                </a:solidFill>
                <a:latin typeface="Inter"/>
              </a:rPr>
              <a:t>qualité</a:t>
            </a:r>
            <a:r>
              <a:rPr sz="1100" b="0" i="1" dirty="0">
                <a:solidFill>
                  <a:srgbClr val="8E99A4"/>
                </a:solidFill>
                <a:latin typeface="Inter"/>
              </a:rPr>
              <a:t> (</a:t>
            </a:r>
            <a:r>
              <a:rPr sz="1100" b="0" i="1" dirty="0" err="1">
                <a:solidFill>
                  <a:srgbClr val="8E99A4"/>
                </a:solidFill>
                <a:latin typeface="Inter"/>
              </a:rPr>
              <a:t>mesure</a:t>
            </a:r>
            <a:r>
              <a:rPr sz="1100" b="0" i="1" dirty="0">
                <a:solidFill>
                  <a:srgbClr val="8E99A4"/>
                </a:solidFill>
                <a:latin typeface="Inter"/>
              </a:rPr>
              <a:t>, </a:t>
            </a:r>
            <a:r>
              <a:rPr sz="1100" b="0" i="1" dirty="0" err="1">
                <a:solidFill>
                  <a:srgbClr val="8E99A4"/>
                </a:solidFill>
                <a:latin typeface="Inter"/>
              </a:rPr>
              <a:t>implémente</a:t>
            </a:r>
            <a:r>
              <a:rPr sz="1100" b="0" i="1" dirty="0">
                <a:solidFill>
                  <a:srgbClr val="8E99A4"/>
                </a:solidFill>
                <a:latin typeface="Inter"/>
              </a:rPr>
              <a:t>) · </a:t>
            </a:r>
            <a:r>
              <a:rPr sz="1100" b="0" i="1" dirty="0" err="1">
                <a:solidFill>
                  <a:srgbClr val="8E99A4"/>
                </a:solidFill>
                <a:latin typeface="Inter"/>
              </a:rPr>
              <a:t>Rédacteur</a:t>
            </a:r>
            <a:r>
              <a:rPr sz="1100" b="0" i="1" dirty="0">
                <a:solidFill>
                  <a:srgbClr val="8E99A4"/>
                </a:solidFill>
                <a:latin typeface="Inter"/>
              </a:rPr>
              <a:t> du </a:t>
            </a:r>
            <a:r>
              <a:rPr sz="1100" b="0" i="1" dirty="0" err="1">
                <a:solidFill>
                  <a:srgbClr val="8E99A4"/>
                </a:solidFill>
                <a:latin typeface="Inter"/>
              </a:rPr>
              <a:t>livrable</a:t>
            </a:r>
            <a:r>
              <a:rPr sz="1100" b="0" i="1" dirty="0">
                <a:solidFill>
                  <a:srgbClr val="8E99A4"/>
                </a:solidFill>
                <a:latin typeface="Inter"/>
              </a:rPr>
              <a:t>.</a:t>
            </a:r>
          </a:p>
        </p:txBody>
      </p:sp>
      <p:graphicFrame>
        <p:nvGraphicFramePr>
          <p:cNvPr id="34" name="Table 33"/>
          <p:cNvGraphicFramePr>
            <a:graphicFrameLocks noGrp="1"/>
          </p:cNvGraphicFramePr>
          <p:nvPr>
            <p:extLst>
              <p:ext uri="{D42A27DB-BD31-4B8C-83A1-F6EECF244321}">
                <p14:modId xmlns:p14="http://schemas.microsoft.com/office/powerpoint/2010/main" val="2424620929"/>
              </p:ext>
            </p:extLst>
          </p:nvPr>
        </p:nvGraphicFramePr>
        <p:xfrm>
          <a:off x="640080" y="4865827"/>
          <a:ext cx="10908792" cy="1920240"/>
        </p:xfrm>
        <a:graphic>
          <a:graphicData uri="http://schemas.openxmlformats.org/drawingml/2006/table">
            <a:tbl>
              <a:tblPr/>
              <a:tblGrid>
                <a:gridCol w="2560320">
                  <a:extLst>
                    <a:ext uri="{9D8B030D-6E8A-4147-A177-3AD203B41FA5}">
                      <a16:colId xmlns:a16="http://schemas.microsoft.com/office/drawing/2014/main" val="20000"/>
                    </a:ext>
                  </a:extLst>
                </a:gridCol>
                <a:gridCol w="6035040">
                  <a:extLst>
                    <a:ext uri="{9D8B030D-6E8A-4147-A177-3AD203B41FA5}">
                      <a16:colId xmlns:a16="http://schemas.microsoft.com/office/drawing/2014/main" val="20001"/>
                    </a:ext>
                  </a:extLst>
                </a:gridCol>
                <a:gridCol w="2313432">
                  <a:extLst>
                    <a:ext uri="{9D8B030D-6E8A-4147-A177-3AD203B41FA5}">
                      <a16:colId xmlns:a16="http://schemas.microsoft.com/office/drawing/2014/main" val="20002"/>
                    </a:ext>
                  </a:extLst>
                </a:gridCol>
              </a:tblGrid>
              <a:tr h="365760">
                <a:tc>
                  <a:txBody>
                    <a:bodyPr/>
                    <a:lstStyle/>
                    <a:p>
                      <a:r>
                        <a:rPr sz="1100" b="1" i="0" spc="60">
                          <a:solidFill>
                            <a:srgbClr val="F5A623"/>
                          </a:solidFill>
                          <a:latin typeface="Inter"/>
                        </a:rPr>
                        <a:t>Membre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dirty="0">
                          <a:solidFill>
                            <a:srgbClr val="F5A623"/>
                          </a:solidFill>
                          <a:latin typeface="Inter"/>
                        </a:rPr>
                        <a:t>Contribution (deux </a:t>
                      </a:r>
                      <a:r>
                        <a:rPr sz="1100" b="1" i="0" spc="60" dirty="0" err="1">
                          <a:solidFill>
                            <a:srgbClr val="F5A623"/>
                          </a:solidFill>
                          <a:latin typeface="Inter"/>
                        </a:rPr>
                        <a:t>lignes</a:t>
                      </a:r>
                      <a:r>
                        <a:rPr sz="1100" b="1" i="0" spc="6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Stories principales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65760">
                <a:tc>
                  <a:txBody>
                    <a:bodyPr/>
                    <a:lstStyle/>
                    <a:p>
                      <a:r>
                        <a:rPr lang="fr-FR" sz="1200" b="0" i="0" dirty="0">
                          <a:solidFill>
                            <a:srgbClr val="F5A623"/>
                          </a:solidFill>
                          <a:latin typeface="+mn-lt"/>
                        </a:rPr>
                        <a:t>Iliana</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6576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dirty="0">
                          <a:solidFill>
                            <a:srgbClr val="F5A623"/>
                          </a:solidFill>
                          <a:latin typeface="+mn-lt"/>
                        </a:rPr>
                        <a:t>Maria Camila</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6576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dirty="0" err="1">
                          <a:solidFill>
                            <a:srgbClr val="F5A623"/>
                          </a:solidFill>
                          <a:latin typeface="+mn-lt"/>
                        </a:rPr>
                        <a:t>Firdaouss</a:t>
                      </a:r>
                      <a:endParaRPr lang="fr-FR" sz="1200" b="0" i="0" dirty="0">
                        <a:solidFill>
                          <a:srgbClr val="F5A623"/>
                        </a:solidFill>
                        <a:latin typeface="+mn-lt"/>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6576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dirty="0">
                          <a:solidFill>
                            <a:srgbClr val="F5A623"/>
                          </a:solidFill>
                          <a:latin typeface="+mn-lt"/>
                        </a:rPr>
                        <a:t>Ruth</a:t>
                      </a:r>
                    </a:p>
                    <a:p>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dirty="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Notre compréhension du mandat</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5</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CONTEXTE</a:t>
            </a:r>
          </a:p>
        </p:txBody>
      </p:sp>
      <p:sp>
        <p:nvSpPr>
          <p:cNvPr id="27"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0" name="TextBox 29"/>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1" name="TextBox 30"/>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La condition posée par la </a:t>
            </a:r>
            <a:r>
              <a:rPr sz="1300" b="1" i="0">
                <a:solidFill>
                  <a:srgbClr val="F5A623"/>
                </a:solidFill>
                <a:latin typeface="Inter"/>
              </a:rPr>
              <a:t>Direction Générale</a:t>
            </a:r>
            <a:r>
              <a:rPr sz="1300" b="0" i="0">
                <a:solidFill>
                  <a:srgbClr val="F7F6F2"/>
                </a:solidFill>
                <a:latin typeface="Inter"/>
              </a:rPr>
              <a:t> reformulée avec vos mots.</a:t>
            </a:r>
          </a:p>
          <a:p>
            <a:pPr marL="182880" indent="-182880">
              <a:lnSpc>
                <a:spcPct val="108000"/>
              </a:lnSpc>
              <a:spcAft>
                <a:spcPts val="300"/>
              </a:spcAft>
              <a:buClr>
                <a:srgbClr val="F5A623"/>
              </a:buClr>
              <a:buChar char="•"/>
            </a:pPr>
            <a:r>
              <a:rPr sz="1300" b="0" i="0">
                <a:solidFill>
                  <a:srgbClr val="F7F6F2"/>
                </a:solidFill>
                <a:latin typeface="Inter"/>
              </a:rPr>
              <a:t>Le </a:t>
            </a:r>
            <a:r>
              <a:rPr sz="1300" b="1" i="0">
                <a:solidFill>
                  <a:srgbClr val="F5A623"/>
                </a:solidFill>
                <a:latin typeface="Inter"/>
              </a:rPr>
              <a:t>périmètre</a:t>
            </a:r>
            <a:r>
              <a:rPr sz="1300" b="0" i="0">
                <a:solidFill>
                  <a:srgbClr val="F7F6F2"/>
                </a:solidFill>
                <a:latin typeface="Inter"/>
              </a:rPr>
              <a:t> : sources, couches du médaillon, portes B, S, G et C.</a:t>
            </a:r>
          </a:p>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trois rôles</a:t>
            </a:r>
            <a:r>
              <a:rPr sz="1300" b="0" i="0">
                <a:solidFill>
                  <a:srgbClr val="F7F6F2"/>
                </a:solidFill>
                <a:latin typeface="Inter"/>
              </a:rPr>
              <a:t> de gouvernance et ce que chacun décide.</a:t>
            </a:r>
          </a:p>
        </p:txBody>
      </p:sp>
      <p:sp>
        <p:nvSpPr>
          <p:cNvPr id="32" name="TextBox 31"/>
          <p:cNvSpPr txBox="1"/>
          <p:nvPr/>
        </p:nvSpPr>
        <p:spPr>
          <a:xfrm>
            <a:off x="640080" y="2831896"/>
            <a:ext cx="530352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MANDAT ET CONDITION DE LA DG</a:t>
            </a:r>
          </a:p>
        </p:txBody>
      </p:sp>
      <p:sp>
        <p:nvSpPr>
          <p:cNvPr id="33" name="Zone à rédiger"/>
          <p:cNvSpPr/>
          <p:nvPr/>
        </p:nvSpPr>
        <p:spPr>
          <a:xfrm>
            <a:off x="640080" y="3124504"/>
            <a:ext cx="5303520" cy="3001975"/>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r>
              <a:rPr lang="fr-FR" sz="1200" dirty="0">
                <a:solidFill>
                  <a:schemeClr val="tx1"/>
                </a:solidFill>
              </a:rPr>
              <a:t>La Direction Générale impose que seules les données certifiées entrent dans le nouveau CRM tandis que, celles sans certificat de qualité ne pourront pas. Alors une donnée sans certificat devra être refusée.</a:t>
            </a:r>
          </a:p>
          <a:p>
            <a:r>
              <a:rPr lang="fr-FR" sz="1200" dirty="0">
                <a:solidFill>
                  <a:schemeClr val="tx1"/>
                </a:solidFill>
              </a:rPr>
              <a:t>Cette certification doit  </a:t>
            </a:r>
            <a:r>
              <a:rPr lang="fr-FR" sz="1200">
                <a:solidFill>
                  <a:schemeClr val="tx1"/>
                </a:solidFill>
              </a:rPr>
              <a:t>être basée </a:t>
            </a:r>
            <a:r>
              <a:rPr lang="fr-FR" sz="1200" dirty="0">
                <a:solidFill>
                  <a:schemeClr val="tx1"/>
                </a:solidFill>
              </a:rPr>
              <a:t>sur des mesures, des règles de qualité et des preuves.</a:t>
            </a:r>
            <a:br>
              <a:rPr lang="fr-FR" sz="1200" dirty="0">
                <a:solidFill>
                  <a:schemeClr val="tx1"/>
                </a:solidFill>
              </a:rPr>
            </a:br>
            <a:endParaRPr lang="fr-FR" sz="1200" dirty="0">
              <a:solidFill>
                <a:schemeClr val="tx1"/>
              </a:solidFill>
            </a:endParaRPr>
          </a:p>
        </p:txBody>
      </p:sp>
      <p:sp>
        <p:nvSpPr>
          <p:cNvPr id="34" name="TextBox 33"/>
          <p:cNvSpPr txBox="1"/>
          <p:nvPr/>
        </p:nvSpPr>
        <p:spPr>
          <a:xfrm>
            <a:off x="6245352" y="2831896"/>
            <a:ext cx="530352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PÉRIMÈTRE ET RÔLES</a:t>
            </a:r>
          </a:p>
        </p:txBody>
      </p:sp>
      <p:sp>
        <p:nvSpPr>
          <p:cNvPr id="35" name="Zone à rédiger"/>
          <p:cNvSpPr/>
          <p:nvPr/>
        </p:nvSpPr>
        <p:spPr>
          <a:xfrm>
            <a:off x="6245352" y="3124504"/>
            <a:ext cx="5303520" cy="3001975"/>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r>
              <a:rPr lang="fr-FR" sz="1200" dirty="0">
                <a:solidFill>
                  <a:schemeClr val="tx1"/>
                </a:solidFill>
              </a:rPr>
              <a:t>Le périmètre couvre les sources CRM et CIF. Leurs données sont copiées en Bronze à l’identique. Ensuite passent en Silver une fois  standardisées et les rejets mis en quarantaine. Enfin elles sont consolidées en Gold.</a:t>
            </a:r>
          </a:p>
          <a:p>
            <a:r>
              <a:rPr lang="fr-FR" sz="1200" dirty="0">
                <a:solidFill>
                  <a:schemeClr val="tx1"/>
                </a:solidFill>
              </a:rPr>
              <a:t>Les étapes pour passer d’une table à une autre sont fait avec les portes B, S et G. La porte C  elle, s’occupe de  la publication vers le CRM.</a:t>
            </a:r>
          </a:p>
          <a:p>
            <a:endParaRPr lang="fr-FR" sz="1200" dirty="0">
              <a:solidFill>
                <a:schemeClr val="tx1"/>
              </a:solidFill>
            </a:endParaRPr>
          </a:p>
          <a:p>
            <a:r>
              <a:rPr lang="fr-FR" sz="1200" dirty="0">
                <a:solidFill>
                  <a:schemeClr val="tx1"/>
                </a:solidFill>
              </a:rPr>
              <a:t>Pour ce mandat on aura quatre rôles :</a:t>
            </a:r>
          </a:p>
          <a:p>
            <a:pPr marL="171450" indent="-171450">
              <a:buFont typeface="Arial" panose="020B0604020202020204" pitchFamily="34" charset="0"/>
              <a:buChar char="•"/>
            </a:pPr>
            <a:r>
              <a:rPr lang="fr-FR" sz="1200" dirty="0">
                <a:solidFill>
                  <a:schemeClr val="tx1"/>
                </a:solidFill>
              </a:rPr>
              <a:t>Le Data </a:t>
            </a:r>
            <a:r>
              <a:rPr lang="fr-FR" sz="1200" dirty="0" err="1">
                <a:solidFill>
                  <a:schemeClr val="tx1"/>
                </a:solidFill>
              </a:rPr>
              <a:t>Owner</a:t>
            </a:r>
            <a:r>
              <a:rPr lang="fr-FR" sz="1200" dirty="0">
                <a:solidFill>
                  <a:schemeClr val="tx1"/>
                </a:solidFill>
              </a:rPr>
              <a:t> qui décide des seuils de qualité et du GO </a:t>
            </a:r>
          </a:p>
          <a:p>
            <a:pPr marL="171450" indent="-171450">
              <a:buFont typeface="Arial" panose="020B0604020202020204" pitchFamily="34" charset="0"/>
              <a:buChar char="•"/>
            </a:pPr>
            <a:r>
              <a:rPr lang="fr-FR" sz="1200" dirty="0">
                <a:solidFill>
                  <a:schemeClr val="tx1"/>
                </a:solidFill>
              </a:rPr>
              <a:t>Le Data Steward  qui définit les règles et leur sévérité , tranche les corrections de statut</a:t>
            </a:r>
          </a:p>
          <a:p>
            <a:pPr marL="171450" indent="-171450">
              <a:buFont typeface="Arial" panose="020B0604020202020204" pitchFamily="34" charset="0"/>
              <a:buChar char="•"/>
            </a:pPr>
            <a:r>
              <a:rPr lang="fr-FR" sz="1200" dirty="0">
                <a:solidFill>
                  <a:schemeClr val="tx1"/>
                </a:solidFill>
              </a:rPr>
              <a:t>L’ingénieur qualité qui mesure et implémente les contrôles, requêtes, </a:t>
            </a:r>
            <a:r>
              <a:rPr lang="fr-FR" sz="1200" dirty="0" err="1">
                <a:solidFill>
                  <a:schemeClr val="tx1"/>
                </a:solidFill>
              </a:rPr>
              <a:t>pilelines</a:t>
            </a:r>
            <a:r>
              <a:rPr lang="fr-FR" sz="1200" dirty="0">
                <a:solidFill>
                  <a:schemeClr val="tx1"/>
                </a:solidFill>
              </a:rPr>
              <a:t> et expectations. </a:t>
            </a:r>
          </a:p>
          <a:p>
            <a:pPr marL="171450" indent="-171450">
              <a:buFont typeface="Arial" panose="020B0604020202020204" pitchFamily="34" charset="0"/>
              <a:buChar char="•"/>
            </a:pPr>
            <a:r>
              <a:rPr lang="fr-FR" sz="1200" dirty="0">
                <a:solidFill>
                  <a:schemeClr val="tx1"/>
                </a:solidFill>
              </a:rPr>
              <a:t>Le rédacteur du livrable qui va rassembler les résultats, les preuves et les décisions dans le livrable.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2"/>
          </p:nvPr>
        </p:nvSpPr>
        <p:spPr/>
        <p:txBody>
          <a:bodyPr/>
          <a:lstStyle/>
          <a:p>
            <a:r>
              <a:t>01</a:t>
            </a:r>
          </a:p>
        </p:txBody>
      </p:sp>
      <p:sp>
        <p:nvSpPr>
          <p:cNvPr id="3" name="Title 2"/>
          <p:cNvSpPr>
            <a:spLocks noGrp="1"/>
          </p:cNvSpPr>
          <p:nvPr>
            <p:ph type="title" idx="103"/>
          </p:nvPr>
        </p:nvSpPr>
        <p:spPr/>
        <p:txBody>
          <a:bodyPr/>
          <a:lstStyle/>
          <a:p>
            <a:r>
              <a:t>Stack, profilage, bronze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6</a:t>
            </a:fld>
            <a:endParaRPr lang="en-US"/>
          </a:p>
        </p:txBody>
      </p:sp>
      <p:sp>
        <p:nvSpPr>
          <p:cNvPr id="26" name="TextBox 25"/>
          <p:cNvSpPr txBox="1"/>
          <p:nvPr/>
        </p:nvSpPr>
        <p:spPr>
          <a:xfrm>
            <a:off x="640080" y="4892040"/>
            <a:ext cx="6400800" cy="1097280"/>
          </a:xfrm>
          <a:prstGeom prst="rect">
            <a:avLst/>
          </a:prstGeom>
          <a:noFill/>
        </p:spPr>
        <p:txBody>
          <a:bodyPr wrap="square" lIns="0" tIns="0" rIns="0" bIns="0" anchor="t">
            <a:spAutoFit/>
          </a:bodyPr>
          <a:lstStyle/>
          <a:p>
            <a:pPr>
              <a:lnSpc>
                <a:spcPct val="115000"/>
              </a:lnSpc>
              <a:spcAft>
                <a:spcPts val="400"/>
              </a:spcAft>
            </a:pPr>
            <a:r>
              <a:rPr sz="1600" b="0" i="0">
                <a:solidFill>
                  <a:srgbClr val="B8C0C8"/>
                </a:solidFill>
                <a:latin typeface="Inter"/>
              </a:rPr>
              <a:t>Séance 1 · Porte B · US-01 à 09. Inventaire des sources, bronze, réconciliation, profil de crm.client, dictionnaire du CIF, client actif.</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Inventaire des sources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7</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S1 · US-01</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PROFILAGE ET DIAGNOSTIC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dirty="0">
                <a:solidFill>
                  <a:srgbClr val="F7F6F2"/>
                </a:solidFill>
                <a:latin typeface="Inter"/>
              </a:rPr>
              <a:t>Les </a:t>
            </a:r>
            <a:r>
              <a:rPr sz="1300" b="1" i="0" dirty="0">
                <a:solidFill>
                  <a:srgbClr val="F5A623"/>
                </a:solidFill>
                <a:latin typeface="Inter"/>
              </a:rPr>
              <a:t>sept tables</a:t>
            </a:r>
            <a:r>
              <a:rPr sz="1300" b="0" i="0" dirty="0">
                <a:solidFill>
                  <a:srgbClr val="F7F6F2"/>
                </a:solidFill>
                <a:latin typeface="Inter"/>
              </a:rPr>
              <a:t> des deux sources, avec le </a:t>
            </a:r>
            <a:r>
              <a:rPr sz="1300" b="1" i="0" dirty="0" err="1">
                <a:solidFill>
                  <a:srgbClr val="F5A623"/>
                </a:solidFill>
                <a:latin typeface="Inter"/>
              </a:rPr>
              <a:t>nombre</a:t>
            </a:r>
            <a:r>
              <a:rPr sz="1300" b="1" i="0" dirty="0">
                <a:solidFill>
                  <a:srgbClr val="F5A623"/>
                </a:solidFill>
                <a:latin typeface="Inter"/>
              </a:rPr>
              <a:t> de </a:t>
            </a:r>
            <a:r>
              <a:rPr sz="1300" b="1" i="0" dirty="0" err="1">
                <a:solidFill>
                  <a:srgbClr val="F5A623"/>
                </a:solidFill>
                <a:latin typeface="Inter"/>
              </a:rPr>
              <a:t>lignes</a:t>
            </a:r>
            <a:r>
              <a:rPr sz="1300" b="0" i="0" dirty="0">
                <a:solidFill>
                  <a:srgbClr val="F7F6F2"/>
                </a:solidFill>
                <a:latin typeface="Inter"/>
              </a:rPr>
              <a:t> </a:t>
            </a:r>
            <a:r>
              <a:rPr sz="1300" b="0" i="0" dirty="0" err="1">
                <a:solidFill>
                  <a:srgbClr val="F7F6F2"/>
                </a:solidFill>
                <a:latin typeface="Inter"/>
              </a:rPr>
              <a:t>mesuré</a:t>
            </a:r>
            <a:r>
              <a:rPr sz="1300" b="0" i="0" dirty="0">
                <a:solidFill>
                  <a:srgbClr val="F7F6F2"/>
                </a:solidFill>
                <a:latin typeface="Inter"/>
              </a:rPr>
              <a:t> et la </a:t>
            </a:r>
            <a:r>
              <a:rPr sz="1300" b="1" i="0" dirty="0" err="1">
                <a:solidFill>
                  <a:srgbClr val="F5A623"/>
                </a:solidFill>
                <a:latin typeface="Inter"/>
              </a:rPr>
              <a:t>clé</a:t>
            </a:r>
            <a:r>
              <a:rPr sz="1300" b="1" i="0" dirty="0">
                <a:solidFill>
                  <a:srgbClr val="F5A623"/>
                </a:solidFill>
                <a:latin typeface="Inter"/>
              </a:rPr>
              <a:t> </a:t>
            </a:r>
            <a:r>
              <a:rPr sz="1300" b="1" i="0" dirty="0" err="1">
                <a:solidFill>
                  <a:srgbClr val="F5A623"/>
                </a:solidFill>
                <a:latin typeface="Inter"/>
              </a:rPr>
              <a:t>primaire</a:t>
            </a:r>
            <a:r>
              <a:rPr sz="1300" b="0" i="0" dirty="0">
                <a:solidFill>
                  <a:srgbClr val="F7F6F2"/>
                </a:solidFill>
                <a:latin typeface="Inter"/>
              </a:rPr>
              <a:t>.</a:t>
            </a:r>
          </a:p>
          <a:p>
            <a:pPr marL="182880" indent="-182880">
              <a:lnSpc>
                <a:spcPct val="108000"/>
              </a:lnSpc>
              <a:spcAft>
                <a:spcPts val="300"/>
              </a:spcAft>
              <a:buClr>
                <a:srgbClr val="F5A623"/>
              </a:buClr>
              <a:buChar char="•"/>
            </a:pPr>
            <a:r>
              <a:rPr sz="1300" b="0" i="0" dirty="0">
                <a:solidFill>
                  <a:srgbClr val="F7F6F2"/>
                </a:solidFill>
                <a:latin typeface="Inter"/>
              </a:rPr>
              <a:t>Une </a:t>
            </a:r>
            <a:r>
              <a:rPr sz="1300" b="1" i="0" dirty="0">
                <a:solidFill>
                  <a:srgbClr val="F5A623"/>
                </a:solidFill>
                <a:latin typeface="Inter"/>
              </a:rPr>
              <a:t>observation </a:t>
            </a:r>
            <a:r>
              <a:rPr sz="1300" b="1" i="0" dirty="0" err="1">
                <a:solidFill>
                  <a:srgbClr val="F5A623"/>
                </a:solidFill>
                <a:latin typeface="Inter"/>
              </a:rPr>
              <a:t>chiffrée</a:t>
            </a:r>
            <a:r>
              <a:rPr sz="1300" b="0" i="0" dirty="0">
                <a:solidFill>
                  <a:srgbClr val="F7F6F2"/>
                </a:solidFill>
                <a:latin typeface="Inter"/>
              </a:rPr>
              <a:t> par table (nulls, </a:t>
            </a:r>
            <a:r>
              <a:rPr sz="1300" b="0" i="0" dirty="0" err="1">
                <a:solidFill>
                  <a:srgbClr val="F7F6F2"/>
                </a:solidFill>
                <a:latin typeface="Inter"/>
              </a:rPr>
              <a:t>doublons</a:t>
            </a:r>
            <a:r>
              <a:rPr sz="1300" b="0" i="0" dirty="0">
                <a:solidFill>
                  <a:srgbClr val="F7F6F2"/>
                </a:solidFill>
                <a:latin typeface="Inter"/>
              </a:rPr>
              <a:t> de </a:t>
            </a:r>
            <a:r>
              <a:rPr sz="1300" b="0" i="0" dirty="0" err="1">
                <a:solidFill>
                  <a:srgbClr val="F7F6F2"/>
                </a:solidFill>
                <a:latin typeface="Inter"/>
              </a:rPr>
              <a:t>clé</a:t>
            </a:r>
            <a:r>
              <a:rPr sz="1300" b="0" i="0" dirty="0">
                <a:solidFill>
                  <a:srgbClr val="F7F6F2"/>
                </a:solidFill>
                <a:latin typeface="Inter"/>
              </a:rPr>
              <a:t>, </a:t>
            </a:r>
            <a:r>
              <a:rPr sz="1300" b="0" i="0" dirty="0" err="1">
                <a:solidFill>
                  <a:srgbClr val="F7F6F2"/>
                </a:solidFill>
                <a:latin typeface="Inter"/>
              </a:rPr>
              <a:t>particularités</a:t>
            </a:r>
            <a:r>
              <a:rPr sz="1300" b="0" i="0" dirty="0">
                <a:solidFill>
                  <a:srgbClr val="F7F6F2"/>
                </a:solidFill>
                <a:latin typeface="Inter"/>
              </a:rPr>
              <a:t>).</a:t>
            </a:r>
          </a:p>
        </p:txBody>
      </p:sp>
      <p:graphicFrame>
        <p:nvGraphicFramePr>
          <p:cNvPr id="33" name="Table 32"/>
          <p:cNvGraphicFramePr>
            <a:graphicFrameLocks noGrp="1"/>
          </p:cNvGraphicFramePr>
          <p:nvPr>
            <p:extLst>
              <p:ext uri="{D42A27DB-BD31-4B8C-83A1-F6EECF244321}">
                <p14:modId xmlns:p14="http://schemas.microsoft.com/office/powerpoint/2010/main" val="4123608561"/>
              </p:ext>
            </p:extLst>
          </p:nvPr>
        </p:nvGraphicFramePr>
        <p:xfrm>
          <a:off x="640080" y="2579827"/>
          <a:ext cx="10908791" cy="3017520"/>
        </p:xfrm>
        <a:graphic>
          <a:graphicData uri="http://schemas.openxmlformats.org/drawingml/2006/table">
            <a:tbl>
              <a:tblPr/>
              <a:tblGrid>
                <a:gridCol w="11887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gridCol w="4050791">
                  <a:extLst>
                    <a:ext uri="{9D8B030D-6E8A-4147-A177-3AD203B41FA5}">
                      <a16:colId xmlns:a16="http://schemas.microsoft.com/office/drawing/2014/main" val="20004"/>
                    </a:ext>
                  </a:extLst>
                </a:gridCol>
              </a:tblGrid>
              <a:tr h="365760">
                <a:tc>
                  <a:txBody>
                    <a:bodyPr/>
                    <a:lstStyle/>
                    <a:p>
                      <a:r>
                        <a:rPr sz="1100" b="1" i="0" spc="60">
                          <a:solidFill>
                            <a:srgbClr val="F5A623"/>
                          </a:solidFill>
                          <a:latin typeface="Inter"/>
                        </a:rPr>
                        <a:t>Source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Table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Lignes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Clé primaire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Observation chiffrée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65760">
                <a:tc>
                  <a:txBody>
                    <a:bodyPr/>
                    <a:lstStyle/>
                    <a:p>
                      <a:r>
                        <a:rPr sz="1200" b="1" i="0">
                          <a:solidFill>
                            <a:srgbClr val="F7F6F2"/>
                          </a:solidFill>
                          <a:latin typeface="Inter"/>
                        </a:rPr>
                        <a:t>crm</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7F6F2"/>
                          </a:solidFill>
                          <a:latin typeface="Inter"/>
                        </a:rPr>
                        <a:t>client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Inter"/>
                        </a:rPr>
                        <a:t>100 000</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Inter"/>
                        </a:rPr>
                        <a:t>client_id</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3050 pays hors référentiel &amp; 1 456 CP français à quatre chiffres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65760">
                <a:tc>
                  <a:txBody>
                    <a:bodyPr/>
                    <a:lstStyle/>
                    <a:p>
                      <a:r>
                        <a:rPr sz="1200" b="1" i="0">
                          <a:solidFill>
                            <a:srgbClr val="F7F6F2"/>
                          </a:solidFill>
                          <a:latin typeface="Inter"/>
                        </a:rPr>
                        <a:t>crm</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7F6F2"/>
                          </a:solidFill>
                          <a:latin typeface="Inter"/>
                        </a:rPr>
                        <a:t>contrat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dirty="0">
                          <a:solidFill>
                            <a:srgbClr val="F5A623"/>
                          </a:solidFill>
                          <a:latin typeface="+mn-lt"/>
                        </a:rPr>
                        <a:t>100 000</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Inter"/>
                        </a:rPr>
                        <a:t>contrat_id</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40 000 sentinelles </a:t>
                      </a:r>
                      <a:r>
                        <a:rPr lang="fr-FR" sz="1200" dirty="0" err="1"/>
                        <a:t>assure_id</a:t>
                      </a:r>
                      <a:r>
                        <a:rPr lang="fr-FR" sz="1200" dirty="0"/>
                        <a:t> = '0’ &amp; 600 durées hors domaine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65760">
                <a:tc>
                  <a:txBody>
                    <a:bodyPr/>
                    <a:lstStyle/>
                    <a:p>
                      <a:r>
                        <a:rPr sz="1200" b="1" i="0">
                          <a:solidFill>
                            <a:srgbClr val="F7F6F2"/>
                          </a:solidFill>
                          <a:latin typeface="Inter"/>
                        </a:rPr>
                        <a:t>crm</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7F6F2"/>
                          </a:solidFill>
                          <a:latin typeface="Inter"/>
                        </a:rPr>
                        <a:t>sinistre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dirty="0">
                          <a:solidFill>
                            <a:srgbClr val="F5A623"/>
                          </a:solidFill>
                          <a:latin typeface="+mn-lt"/>
                        </a:rPr>
                        <a:t>100 000</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Inter"/>
                        </a:rPr>
                        <a:t>sinistre_id</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12 100 adresses non reconnues par rapprochement exact BAN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65760">
                <a:tc>
                  <a:txBody>
                    <a:bodyPr/>
                    <a:lstStyle/>
                    <a:p>
                      <a:r>
                        <a:rPr sz="1200" b="1" i="0">
                          <a:solidFill>
                            <a:srgbClr val="F7F6F2"/>
                          </a:solidFill>
                          <a:latin typeface="Inter"/>
                        </a:rPr>
                        <a:t>crm</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7F6F2"/>
                          </a:solidFill>
                          <a:latin typeface="Inter"/>
                        </a:rPr>
                        <a:t>type_contrat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200" b="0" i="0" dirty="0">
                          <a:solidFill>
                            <a:srgbClr val="F5A623"/>
                          </a:solidFill>
                          <a:latin typeface="Inter"/>
                        </a:rPr>
                        <a:t>12</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Inter"/>
                        </a:rPr>
                        <a:t>code_type</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Trois branches, quatre types par branche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65760">
                <a:tc>
                  <a:txBody>
                    <a:bodyPr/>
                    <a:lstStyle/>
                    <a:p>
                      <a:r>
                        <a:rPr sz="1200" b="1" i="0">
                          <a:solidFill>
                            <a:srgbClr val="F7F6F2"/>
                          </a:solidFill>
                          <a:latin typeface="Inter"/>
                        </a:rPr>
                        <a:t>cif</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7F6F2"/>
                          </a:solidFill>
                          <a:latin typeface="Inter"/>
                        </a:rPr>
                        <a:t>clients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Inter"/>
                        </a:rPr>
                        <a:t>40 000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column0()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645 naissances nulles &amp;6 324 téléphones nuls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r h="365760">
                <a:tc>
                  <a:txBody>
                    <a:bodyPr/>
                    <a:lstStyle/>
                    <a:p>
                      <a:r>
                        <a:rPr sz="1200" b="1" i="0">
                          <a:solidFill>
                            <a:srgbClr val="F7F6F2"/>
                          </a:solidFill>
                          <a:latin typeface="Inter"/>
                        </a:rPr>
                        <a:t>cif</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7F6F2"/>
                          </a:solidFill>
                          <a:latin typeface="Inter"/>
                        </a:rPr>
                        <a:t>compte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200" b="0" i="0" dirty="0">
                          <a:solidFill>
                            <a:srgbClr val="F5A623"/>
                          </a:solidFill>
                          <a:latin typeface="Inter"/>
                        </a:rPr>
                        <a:t>45 000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dirty="0">
                          <a:solidFill>
                            <a:srgbClr val="F5A623"/>
                          </a:solidFill>
                          <a:latin typeface="+mn-lt"/>
                        </a:rPr>
                        <a:t>column0()</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Zéro référence column1 non retrouvée dans cif.clients.column0</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6"/>
                  </a:ext>
                </a:extLst>
              </a:tr>
              <a:tr h="365760">
                <a:tc>
                  <a:txBody>
                    <a:bodyPr/>
                    <a:lstStyle/>
                    <a:p>
                      <a:r>
                        <a:rPr sz="1200" b="1" i="0">
                          <a:solidFill>
                            <a:srgbClr val="F7F6F2"/>
                          </a:solidFill>
                          <a:latin typeface="Inter"/>
                        </a:rPr>
                        <a:t>cif</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7F6F2"/>
                          </a:solidFill>
                          <a:latin typeface="Inter"/>
                        </a:rPr>
                        <a:t>pays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Inter"/>
                        </a:rPr>
                        <a:t>250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Inter"/>
                        </a:rPr>
                        <a:t>code_pays</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250 codes distincts &amp; contenu identique à ref_pays.csv</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7"/>
                  </a:ext>
                </a:extLst>
              </a:tr>
            </a:tbl>
          </a:graphicData>
        </a:graphic>
      </p:graphicFrame>
      <p:sp>
        <p:nvSpPr>
          <p:cNvPr id="34" name="TextBox 33"/>
          <p:cNvSpPr txBox="1"/>
          <p:nvPr/>
        </p:nvSpPr>
        <p:spPr>
          <a:xfrm>
            <a:off x="640080" y="5911131"/>
            <a:ext cx="10908792" cy="190245"/>
          </a:xfrm>
          <a:prstGeom prst="rect">
            <a:avLst/>
          </a:prstGeom>
          <a:noFill/>
        </p:spPr>
        <p:txBody>
          <a:bodyPr wrap="square" lIns="0" tIns="0" rIns="0" bIns="0" anchor="ctr">
            <a:spAutoFit/>
          </a:bodyPr>
          <a:lstStyle/>
          <a:p>
            <a:pPr>
              <a:lnSpc>
                <a:spcPct val="108000"/>
              </a:lnSpc>
              <a:spcAft>
                <a:spcPts val="400"/>
              </a:spcAft>
            </a:pPr>
            <a:r>
              <a:rPr lang="fr-FR" sz="1200" b="1">
                <a:solidFill>
                  <a:srgbClr val="F5A623"/>
                </a:solidFill>
              </a:rPr>
              <a:t>https://github.com/ruthabebeneg/td-qualite-g02/blob/main/notebooks/S1_g02.ipynb</a:t>
            </a:r>
            <a:endParaRPr sz="1200" b="1" i="0" dirty="0">
              <a:solidFill>
                <a:srgbClr val="F5A623"/>
              </a:solidFill>
              <a:latin typeface="Inte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Bronze et porte B : la copie est-elle fidèle ?</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8</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S1 · US-02, 03</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PROFILAGE ET DIAGNOSTIC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1" i="0">
                <a:solidFill>
                  <a:srgbClr val="F5A623"/>
                </a:solidFill>
                <a:latin typeface="Inter"/>
              </a:rPr>
              <a:t>RQ-021</a:t>
            </a:r>
            <a:r>
              <a:rPr sz="1300" b="0" i="0">
                <a:solidFill>
                  <a:srgbClr val="F7F6F2"/>
                </a:solidFill>
                <a:latin typeface="Inter"/>
              </a:rPr>
              <a:t> (comptage) et </a:t>
            </a:r>
            <a:r>
              <a:rPr sz="1300" b="1" i="0">
                <a:solidFill>
                  <a:srgbClr val="F5A623"/>
                </a:solidFill>
                <a:latin typeface="Inter"/>
              </a:rPr>
              <a:t>RQ-022</a:t>
            </a:r>
            <a:r>
              <a:rPr sz="1300" b="0" i="0">
                <a:solidFill>
                  <a:srgbClr val="F7F6F2"/>
                </a:solidFill>
                <a:latin typeface="Inter"/>
              </a:rPr>
              <a:t> (somme de contrôle) mesurées </a:t>
            </a:r>
            <a:r>
              <a:rPr sz="1300" b="1" i="0">
                <a:solidFill>
                  <a:srgbClr val="F5A623"/>
                </a:solidFill>
                <a:latin typeface="Inter"/>
              </a:rPr>
              <a:t>table par table</a:t>
            </a:r>
            <a:r>
              <a:rPr sz="1300" b="0" i="0">
                <a:solidFill>
                  <a:srgbClr val="F7F6F2"/>
                </a:solidFill>
                <a:latin typeface="Inter"/>
              </a:rPr>
              <a:t>, même quand l'écart est nul.</a:t>
            </a:r>
          </a:p>
          <a:p>
            <a:pPr marL="182880" indent="-182880">
              <a:lnSpc>
                <a:spcPct val="108000"/>
              </a:lnSpc>
              <a:spcAft>
                <a:spcPts val="300"/>
              </a:spcAft>
              <a:buClr>
                <a:srgbClr val="F5A623"/>
              </a:buClr>
              <a:buChar char="•"/>
            </a:pPr>
            <a:r>
              <a:rPr sz="1300" b="0" i="0">
                <a:solidFill>
                  <a:srgbClr val="F7F6F2"/>
                </a:solidFill>
                <a:latin typeface="Inter"/>
              </a:rPr>
              <a:t>Chaque ligne bronze porte ses </a:t>
            </a:r>
            <a:r>
              <a:rPr sz="1300" b="1" i="0">
                <a:solidFill>
                  <a:srgbClr val="F5A623"/>
                </a:solidFill>
                <a:latin typeface="Inter"/>
              </a:rPr>
              <a:t>quatre métadonnées</a:t>
            </a:r>
            <a:r>
              <a:rPr sz="1300" b="0" i="0">
                <a:solidFill>
                  <a:srgbClr val="F7F6F2"/>
                </a:solidFill>
                <a:latin typeface="Inter"/>
              </a:rPr>
              <a:t> (lot, source, horodatage, empreinte de ligne).</a:t>
            </a:r>
          </a:p>
        </p:txBody>
      </p:sp>
      <p:graphicFrame>
        <p:nvGraphicFramePr>
          <p:cNvPr id="33" name="Table 32"/>
          <p:cNvGraphicFramePr>
            <a:graphicFrameLocks noGrp="1"/>
          </p:cNvGraphicFramePr>
          <p:nvPr>
            <p:extLst>
              <p:ext uri="{D42A27DB-BD31-4B8C-83A1-F6EECF244321}">
                <p14:modId xmlns:p14="http://schemas.microsoft.com/office/powerpoint/2010/main" val="810496814"/>
              </p:ext>
            </p:extLst>
          </p:nvPr>
        </p:nvGraphicFramePr>
        <p:xfrm>
          <a:off x="640080" y="2579827"/>
          <a:ext cx="10908792" cy="2926080"/>
        </p:xfrm>
        <a:graphic>
          <a:graphicData uri="http://schemas.openxmlformats.org/drawingml/2006/table">
            <a:tbl>
              <a:tblPr/>
              <a:tblGrid>
                <a:gridCol w="26517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gridCol w="2404872">
                  <a:extLst>
                    <a:ext uri="{9D8B030D-6E8A-4147-A177-3AD203B41FA5}">
                      <a16:colId xmlns:a16="http://schemas.microsoft.com/office/drawing/2014/main" val="20004"/>
                    </a:ext>
                  </a:extLst>
                </a:gridCol>
              </a:tblGrid>
              <a:tr h="365760">
                <a:tc>
                  <a:txBody>
                    <a:bodyPr/>
                    <a:lstStyle/>
                    <a:p>
                      <a:r>
                        <a:rPr sz="1100" b="1" i="0" spc="60">
                          <a:solidFill>
                            <a:srgbClr val="F5A623"/>
                          </a:solidFill>
                          <a:latin typeface="Inter"/>
                        </a:rPr>
                        <a:t>Table bronze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Lignes source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Lignes bronze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Écart de comptage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Écart de somme de contrôle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65760">
                <a:tc>
                  <a:txBody>
                    <a:bodyPr/>
                    <a:lstStyle/>
                    <a:p>
                      <a:r>
                        <a:rPr sz="1200" b="1" i="0">
                          <a:solidFill>
                            <a:srgbClr val="F7F6F2"/>
                          </a:solidFill>
                          <a:latin typeface="Inter"/>
                        </a:rPr>
                        <a:t>crm_client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Inter"/>
                        </a:rPr>
                        <a:t>100 000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100 000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65760">
                <a:tc>
                  <a:txBody>
                    <a:bodyPr/>
                    <a:lstStyle/>
                    <a:p>
                      <a:r>
                        <a:rPr sz="1200" b="1" i="0">
                          <a:solidFill>
                            <a:srgbClr val="F7F6F2"/>
                          </a:solidFill>
                          <a:latin typeface="Inter"/>
                        </a:rPr>
                        <a:t>crm_contrat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200" b="0" i="0" dirty="0">
                          <a:solidFill>
                            <a:srgbClr val="F5A623"/>
                          </a:solidFill>
                          <a:latin typeface="Inter"/>
                        </a:rPr>
                        <a:t>100 000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100 00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65760">
                <a:tc>
                  <a:txBody>
                    <a:bodyPr/>
                    <a:lstStyle/>
                    <a:p>
                      <a:r>
                        <a:rPr sz="1200" b="1" i="0">
                          <a:solidFill>
                            <a:srgbClr val="F7F6F2"/>
                          </a:solidFill>
                          <a:latin typeface="Inter"/>
                        </a:rPr>
                        <a:t>crm_sinistre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Inter"/>
                        </a:rPr>
                        <a:t>100 000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100 000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65760">
                <a:tc>
                  <a:txBody>
                    <a:bodyPr/>
                    <a:lstStyle/>
                    <a:p>
                      <a:r>
                        <a:rPr sz="1200" b="1" i="0">
                          <a:solidFill>
                            <a:srgbClr val="F7F6F2"/>
                          </a:solidFill>
                          <a:latin typeface="Inter"/>
                        </a:rPr>
                        <a:t>crm_type_contrat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200" b="0" i="0" dirty="0">
                          <a:solidFill>
                            <a:srgbClr val="F5A623"/>
                          </a:solidFill>
                          <a:latin typeface="Inter"/>
                        </a:rPr>
                        <a:t>12</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12</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65760">
                <a:tc>
                  <a:txBody>
                    <a:bodyPr/>
                    <a:lstStyle/>
                    <a:p>
                      <a:r>
                        <a:rPr sz="1200" b="1" i="0" dirty="0" err="1">
                          <a:solidFill>
                            <a:srgbClr val="F7F6F2"/>
                          </a:solidFill>
                          <a:latin typeface="Inter"/>
                        </a:rPr>
                        <a:t>cif_clients</a:t>
                      </a:r>
                      <a:endParaRPr sz="1200" b="1" i="0" dirty="0">
                        <a:solidFill>
                          <a:srgbClr val="F7F6F2"/>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Inter"/>
                        </a:rPr>
                        <a:t>40 000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40 000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r h="365760">
                <a:tc>
                  <a:txBody>
                    <a:bodyPr/>
                    <a:lstStyle/>
                    <a:p>
                      <a:r>
                        <a:rPr sz="1200" b="1" i="0">
                          <a:solidFill>
                            <a:srgbClr val="F7F6F2"/>
                          </a:solidFill>
                          <a:latin typeface="Inter"/>
                        </a:rPr>
                        <a:t>cif_compte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200" b="0" i="0" dirty="0">
                          <a:solidFill>
                            <a:srgbClr val="F5A623"/>
                          </a:solidFill>
                          <a:latin typeface="Inter"/>
                        </a:rPr>
                        <a:t>45 000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45 000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6"/>
                  </a:ext>
                </a:extLst>
              </a:tr>
              <a:tr h="365760">
                <a:tc>
                  <a:txBody>
                    <a:bodyPr/>
                    <a:lstStyle/>
                    <a:p>
                      <a:r>
                        <a:rPr sz="1200" b="1" i="0" dirty="0" err="1">
                          <a:solidFill>
                            <a:srgbClr val="F7F6F2"/>
                          </a:solidFill>
                          <a:latin typeface="Inter"/>
                        </a:rPr>
                        <a:t>cif_pays</a:t>
                      </a:r>
                      <a:endParaRPr sz="1200" b="1" i="0" dirty="0">
                        <a:solidFill>
                          <a:srgbClr val="F7F6F2"/>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Inter"/>
                        </a:rPr>
                        <a:t>250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250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7"/>
                  </a:ext>
                </a:extLst>
              </a:tr>
            </a:tbl>
          </a:graphicData>
        </a:graphic>
      </p:graphicFrame>
      <p:sp>
        <p:nvSpPr>
          <p:cNvPr id="34" name="TextBox 33"/>
          <p:cNvSpPr txBox="1"/>
          <p:nvPr/>
        </p:nvSpPr>
        <p:spPr>
          <a:xfrm>
            <a:off x="640080" y="5902664"/>
            <a:ext cx="10908792" cy="190245"/>
          </a:xfrm>
          <a:prstGeom prst="rect">
            <a:avLst/>
          </a:prstGeom>
          <a:noFill/>
        </p:spPr>
        <p:txBody>
          <a:bodyPr wrap="square" lIns="0" tIns="0" rIns="0" bIns="0" anchor="ctr">
            <a:spAutoFit/>
          </a:bodyPr>
          <a:lstStyle/>
          <a:p>
            <a:pPr>
              <a:lnSpc>
                <a:spcPct val="108000"/>
              </a:lnSpc>
              <a:spcAft>
                <a:spcPts val="400"/>
              </a:spcAft>
            </a:pPr>
            <a:r>
              <a:rPr lang="fr-FR" sz="1200" dirty="0">
                <a:solidFill>
                  <a:srgbClr val="B8C0C8"/>
                </a:solidFill>
              </a:rPr>
              <a:t>https://github.com/ruthabebeneg/td-qualite-g02/blob/main/notebooks/S1_g02.ipynb</a:t>
            </a:r>
            <a:endParaRPr sz="1200" b="1" i="0" dirty="0">
              <a:solidFill>
                <a:srgbClr val="F5A623"/>
              </a:solidFill>
              <a:latin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Épreuves de la porte B et méthode d'ingestion</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9</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S1 · US-02, 03</a:t>
            </a:r>
          </a:p>
        </p:txBody>
      </p:sp>
      <p:sp>
        <p:nvSpPr>
          <p:cNvPr id="27" name="TextBox 26"/>
          <p:cNvSpPr txBox="1"/>
          <p:nvPr/>
        </p:nvSpPr>
        <p:spPr>
          <a:xfrm>
            <a:off x="6976872" y="264499"/>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PROFILAGE ET DIAGNOSTIC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trois épreuves</a:t>
            </a:r>
            <a:r>
              <a:rPr sz="1300" b="0" i="0">
                <a:solidFill>
                  <a:srgbClr val="F7F6F2"/>
                </a:solidFill>
                <a:latin typeface="Inter"/>
              </a:rPr>
              <a:t> documentées, chacune avec son </a:t>
            </a:r>
            <a:r>
              <a:rPr sz="1300" b="1" i="0">
                <a:solidFill>
                  <a:srgbClr val="F5A623"/>
                </a:solidFill>
                <a:latin typeface="Inter"/>
              </a:rPr>
              <a:t>résultat obtenu</a:t>
            </a:r>
            <a:r>
              <a:rPr sz="1300" b="0" i="0">
                <a:solidFill>
                  <a:srgbClr val="F7F6F2"/>
                </a:solidFill>
                <a:latin typeface="Inter"/>
              </a:rPr>
              <a:t> et sa </a:t>
            </a:r>
            <a:r>
              <a:rPr sz="1300" b="1" i="0">
                <a:solidFill>
                  <a:srgbClr val="F5A623"/>
                </a:solidFill>
                <a:latin typeface="Inter"/>
              </a:rPr>
              <a:t>preuve</a:t>
            </a:r>
            <a:r>
              <a:rPr sz="1300" b="0" i="0">
                <a:solidFill>
                  <a:srgbClr val="F7F6F2"/>
                </a:solidFill>
                <a:latin typeface="Inter"/>
              </a:rPr>
              <a:t>.</a:t>
            </a:r>
          </a:p>
          <a:p>
            <a:pPr marL="182880" indent="-182880">
              <a:lnSpc>
                <a:spcPct val="108000"/>
              </a:lnSpc>
              <a:spcAft>
                <a:spcPts val="300"/>
              </a:spcAft>
              <a:buClr>
                <a:srgbClr val="F5A623"/>
              </a:buClr>
              <a:buChar char="•"/>
            </a:pPr>
            <a:r>
              <a:rPr sz="1300" b="0" i="0">
                <a:solidFill>
                  <a:srgbClr val="F7F6F2"/>
                </a:solidFill>
                <a:latin typeface="Inter"/>
              </a:rPr>
              <a:t>La méthode d'ingestion en </a:t>
            </a:r>
            <a:r>
              <a:rPr sz="1300" b="1" i="0">
                <a:solidFill>
                  <a:srgbClr val="F5A623"/>
                </a:solidFill>
                <a:latin typeface="Inter"/>
              </a:rPr>
              <a:t>trois lignes</a:t>
            </a:r>
            <a:r>
              <a:rPr sz="1300" b="0" i="0">
                <a:solidFill>
                  <a:srgbClr val="F7F6F2"/>
                </a:solidFill>
                <a:latin typeface="Inter"/>
              </a:rPr>
              <a:t> : lecture, conversion, métadonnées, relance du lot.</a:t>
            </a:r>
          </a:p>
        </p:txBody>
      </p:sp>
      <p:graphicFrame>
        <p:nvGraphicFramePr>
          <p:cNvPr id="33" name="Table 32"/>
          <p:cNvGraphicFramePr>
            <a:graphicFrameLocks noGrp="1"/>
          </p:cNvGraphicFramePr>
          <p:nvPr>
            <p:extLst>
              <p:ext uri="{D42A27DB-BD31-4B8C-83A1-F6EECF244321}">
                <p14:modId xmlns:p14="http://schemas.microsoft.com/office/powerpoint/2010/main" val="4026956909"/>
              </p:ext>
            </p:extLst>
          </p:nvPr>
        </p:nvGraphicFramePr>
        <p:xfrm>
          <a:off x="566783" y="2391731"/>
          <a:ext cx="10908792" cy="2918494"/>
        </p:xfrm>
        <a:graphic>
          <a:graphicData uri="http://schemas.openxmlformats.org/drawingml/2006/table">
            <a:tbl>
              <a:tblPr/>
              <a:tblGrid>
                <a:gridCol w="4580950">
                  <a:extLst>
                    <a:ext uri="{9D8B030D-6E8A-4147-A177-3AD203B41FA5}">
                      <a16:colId xmlns:a16="http://schemas.microsoft.com/office/drawing/2014/main" val="20000"/>
                    </a:ext>
                  </a:extLst>
                </a:gridCol>
                <a:gridCol w="3920067">
                  <a:extLst>
                    <a:ext uri="{9D8B030D-6E8A-4147-A177-3AD203B41FA5}">
                      <a16:colId xmlns:a16="http://schemas.microsoft.com/office/drawing/2014/main" val="20001"/>
                    </a:ext>
                  </a:extLst>
                </a:gridCol>
                <a:gridCol w="2407775">
                  <a:extLst>
                    <a:ext uri="{9D8B030D-6E8A-4147-A177-3AD203B41FA5}">
                      <a16:colId xmlns:a16="http://schemas.microsoft.com/office/drawing/2014/main" val="20002"/>
                    </a:ext>
                  </a:extLst>
                </a:gridCol>
              </a:tblGrid>
              <a:tr h="449614">
                <a:tc>
                  <a:txBody>
                    <a:bodyPr/>
                    <a:lstStyle/>
                    <a:p>
                      <a:r>
                        <a:rPr sz="1100" b="1" i="0" spc="60" dirty="0" err="1">
                          <a:solidFill>
                            <a:srgbClr val="F5A623"/>
                          </a:solidFill>
                          <a:latin typeface="Inter"/>
                        </a:rPr>
                        <a:t>Épreuve</a:t>
                      </a:r>
                      <a:endParaRPr sz="1100" b="1" i="0" spc="6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dirty="0" err="1">
                          <a:solidFill>
                            <a:srgbClr val="F5A623"/>
                          </a:solidFill>
                          <a:latin typeface="Inter"/>
                        </a:rPr>
                        <a:t>Résultat</a:t>
                      </a:r>
                      <a:r>
                        <a:rPr sz="1100" b="1" i="0" spc="60" dirty="0">
                          <a:solidFill>
                            <a:srgbClr val="F5A623"/>
                          </a:solidFill>
                          <a:latin typeface="Inter"/>
                        </a:rPr>
                        <a:t> </a:t>
                      </a:r>
                      <a:r>
                        <a:rPr sz="1100" b="1" i="0" spc="60" dirty="0" err="1">
                          <a:solidFill>
                            <a:srgbClr val="F5A623"/>
                          </a:solidFill>
                          <a:latin typeface="Inter"/>
                        </a:rPr>
                        <a:t>obtenu</a:t>
                      </a:r>
                      <a:endParaRPr sz="1100" b="1" i="0" spc="6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Preuve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502920">
                <a:tc>
                  <a:txBody>
                    <a:bodyPr/>
                    <a:lstStyle/>
                    <a:p>
                      <a:r>
                        <a:rPr sz="1200" b="1" i="0">
                          <a:solidFill>
                            <a:srgbClr val="F7F6F2"/>
                          </a:solidFill>
                          <a:latin typeface="Inter"/>
                        </a:rPr>
                        <a:t>Relance du même lot : doublons créés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Inter"/>
                        </a:rPr>
                        <a:t>Nombre de lignes identique donc pas de doublon</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https://github.com/ruthabebeneg/td-qualite-g02/blob/main/notebooks/S1_g02.ipynb</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502920">
                <a:tc>
                  <a:txBody>
                    <a:bodyPr/>
                    <a:lstStyle/>
                    <a:p>
                      <a:r>
                        <a:rPr sz="1200" b="1" i="0">
                          <a:solidFill>
                            <a:srgbClr val="F7F6F2"/>
                          </a:solidFill>
                          <a:latin typeface="Inter"/>
                        </a:rPr>
                        <a:t>Écart introduit volontairement sur une copie : la porte échoue-t-elle ?</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200" b="0" i="0" dirty="0">
                          <a:solidFill>
                            <a:srgbClr val="F5A623"/>
                          </a:solidFill>
                          <a:latin typeface="+mn-lt"/>
                        </a:rPr>
                        <a:t>Oui : modification du champ pays d’une seule </a:t>
                      </a:r>
                      <a:r>
                        <a:rPr lang="fr-FR" sz="1200" b="0" i="0" dirty="0" err="1">
                          <a:solidFill>
                            <a:srgbClr val="F5A623"/>
                          </a:solidFill>
                          <a:latin typeface="+mn-lt"/>
                        </a:rPr>
                        <a:t>ligne,dans</a:t>
                      </a:r>
                      <a:r>
                        <a:rPr lang="fr-FR" sz="1200" b="0" i="0" dirty="0">
                          <a:solidFill>
                            <a:srgbClr val="F5A623"/>
                          </a:solidFill>
                          <a:latin typeface="+mn-lt"/>
                        </a:rPr>
                        <a:t> la copie temporaire bronze.crm_client_test_s1_g02, en ajoutant le :EPREUVE_S1. La porte B a bien détecté  ça a bien échoué.  </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https://github.com/ruthabebeneg/td-qualite-g02/blob/main/notebooks/S1_g02.ipynb</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502920">
                <a:tc>
                  <a:txBody>
                    <a:bodyPr/>
                    <a:lstStyle/>
                    <a:p>
                      <a:r>
                        <a:rPr sz="1200" b="1" i="0">
                          <a:solidFill>
                            <a:srgbClr val="F7F6F2"/>
                          </a:solidFill>
                          <a:latin typeface="Inter"/>
                        </a:rPr>
                        <a:t>Un problème de conversion rencontré (décimales, NULL, accents) et sa correction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mn-lt"/>
                        </a:rPr>
                        <a:t>Oui montant 184.10 -&gt; 184.1 avec une lecture flottante. </a:t>
                      </a:r>
                      <a:r>
                        <a:rPr lang="fr-FR" sz="1200" b="0" i="0" dirty="0" err="1">
                          <a:solidFill>
                            <a:srgbClr val="F5A623"/>
                          </a:solidFill>
                          <a:latin typeface="+mn-lt"/>
                        </a:rPr>
                        <a:t>coerce_float</a:t>
                      </a:r>
                      <a:r>
                        <a:rPr lang="fr-FR" sz="1200" b="0" i="0" dirty="0">
                          <a:solidFill>
                            <a:srgbClr val="F5A623"/>
                          </a:solidFill>
                          <a:latin typeface="+mn-lt"/>
                        </a:rPr>
                        <a:t>=False permet de préserver garder ('184.10') et d’éviter un faux écart.</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https://github.com/ruthabebeneg/td-qualite-g02/blob/main/notebooks/S1_g02.ipynb</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bl>
          </a:graphicData>
        </a:graphic>
      </p:graphicFrame>
      <p:sp>
        <p:nvSpPr>
          <p:cNvPr id="34" name="TextBox 33"/>
          <p:cNvSpPr txBox="1"/>
          <p:nvPr/>
        </p:nvSpPr>
        <p:spPr>
          <a:xfrm>
            <a:off x="566783" y="5258409"/>
            <a:ext cx="10908792" cy="256032"/>
          </a:xfrm>
          <a:prstGeom prst="rect">
            <a:avLst/>
          </a:prstGeom>
          <a:noFill/>
        </p:spPr>
        <p:txBody>
          <a:bodyPr wrap="square" lIns="0" tIns="0" rIns="0" bIns="0" anchor="ctr">
            <a:spAutoFit/>
          </a:bodyPr>
          <a:lstStyle/>
          <a:p>
            <a:pPr>
              <a:lnSpc>
                <a:spcPct val="108000"/>
              </a:lnSpc>
              <a:spcAft>
                <a:spcPts val="400"/>
              </a:spcAft>
            </a:pPr>
            <a:r>
              <a:rPr sz="1100" b="1" i="0" spc="120" dirty="0">
                <a:solidFill>
                  <a:srgbClr val="F5A623"/>
                </a:solidFill>
                <a:latin typeface="Inter"/>
              </a:rPr>
              <a:t>MÉTHODE D'INGESTION EN TROIS LIGNES</a:t>
            </a:r>
          </a:p>
        </p:txBody>
      </p:sp>
      <p:sp>
        <p:nvSpPr>
          <p:cNvPr id="35" name="Zone à rédiger"/>
          <p:cNvSpPr/>
          <p:nvPr/>
        </p:nvSpPr>
        <p:spPr>
          <a:xfrm>
            <a:off x="566783" y="5532120"/>
            <a:ext cx="10908792" cy="731520"/>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lang="fr-FR" sz="1200" i="1" dirty="0">
                <a:solidFill>
                  <a:schemeClr val="tx1"/>
                </a:solidFill>
                <a:latin typeface="Inter"/>
              </a:rPr>
              <a:t>Lire les sept tables sources avec le compte </a:t>
            </a:r>
            <a:r>
              <a:rPr lang="fr-FR" sz="1200" i="1" dirty="0" err="1">
                <a:solidFill>
                  <a:schemeClr val="tx1"/>
                </a:solidFill>
                <a:latin typeface="Inter"/>
              </a:rPr>
              <a:t>reader</a:t>
            </a:r>
            <a:r>
              <a:rPr lang="fr-FR" sz="1200" i="1" dirty="0">
                <a:solidFill>
                  <a:schemeClr val="tx1"/>
                </a:solidFill>
                <a:latin typeface="Inter"/>
              </a:rPr>
              <a:t>, en conservant leurs valeurs et leur précision.</a:t>
            </a:r>
          </a:p>
          <a:p>
            <a:pPr algn="l"/>
            <a:r>
              <a:rPr lang="fr-FR" sz="1200" i="1" dirty="0">
                <a:solidFill>
                  <a:schemeClr val="tx1"/>
                </a:solidFill>
                <a:latin typeface="Inter"/>
              </a:rPr>
              <a:t>Copier les données dans bronze en ajoutant le lot, la source, la date d’ingestion et une empreinte pour contrôler chaque ligne.</a:t>
            </a:r>
          </a:p>
          <a:p>
            <a:pPr algn="l"/>
            <a:r>
              <a:rPr lang="fr-FR" sz="1200" i="1" dirty="0">
                <a:solidFill>
                  <a:schemeClr val="tx1"/>
                </a:solidFill>
                <a:latin typeface="Inter"/>
              </a:rPr>
              <a:t>Lors d’une relance, remplacer uniquement le lot concerné, puis vérifier que bronze contient les mêmes données que les sources, sans doublons ajoutés.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dirty="0" err="1"/>
              <a:t>Profil</a:t>
            </a:r>
            <a:r>
              <a:rPr sz="2800" dirty="0"/>
              <a:t> de </a:t>
            </a:r>
            <a:r>
              <a:rPr sz="2800" dirty="0" err="1"/>
              <a:t>crm.client</a:t>
            </a:r>
            <a:r>
              <a:rPr sz="2800" dirty="0"/>
              <a:t> et motifs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10</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S1 · US-06, 07</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PROFILAGE ET DIAGNOSTIC · 20 %</a:t>
            </a:r>
          </a:p>
        </p:txBody>
      </p:sp>
      <p:sp>
        <p:nvSpPr>
          <p:cNvPr id="28" name="Attendu"/>
          <p:cNvSpPr/>
          <p:nvPr/>
        </p:nvSpPr>
        <p:spPr>
          <a:xfrm>
            <a:off x="582930" y="976106"/>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582930" y="976106"/>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38962" y="1085833"/>
            <a:ext cx="274320" cy="274320"/>
          </a:xfrm>
          <a:prstGeom prst="rect">
            <a:avLst/>
          </a:prstGeom>
        </p:spPr>
      </p:pic>
      <p:sp>
        <p:nvSpPr>
          <p:cNvPr id="31" name="TextBox 30"/>
          <p:cNvSpPr txBox="1"/>
          <p:nvPr/>
        </p:nvSpPr>
        <p:spPr>
          <a:xfrm>
            <a:off x="1204722" y="1094978"/>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857250" y="1433306"/>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dirty="0">
                <a:solidFill>
                  <a:srgbClr val="F7F6F2"/>
                </a:solidFill>
                <a:latin typeface="Inter"/>
              </a:rPr>
              <a:t>Au </a:t>
            </a:r>
            <a:r>
              <a:rPr sz="1300" b="0" i="0" dirty="0" err="1">
                <a:solidFill>
                  <a:srgbClr val="F7F6F2"/>
                </a:solidFill>
                <a:latin typeface="Inter"/>
              </a:rPr>
              <a:t>moins</a:t>
            </a:r>
            <a:r>
              <a:rPr sz="1300" b="0" i="0" dirty="0">
                <a:solidFill>
                  <a:srgbClr val="F7F6F2"/>
                </a:solidFill>
                <a:latin typeface="Inter"/>
              </a:rPr>
              <a:t> </a:t>
            </a:r>
            <a:r>
              <a:rPr sz="1300" b="1" i="0" dirty="0">
                <a:solidFill>
                  <a:srgbClr val="F5A623"/>
                </a:solidFill>
                <a:latin typeface="Inter"/>
              </a:rPr>
              <a:t>cinq constats </a:t>
            </a:r>
            <a:r>
              <a:rPr sz="1300" b="1" i="0" dirty="0" err="1">
                <a:solidFill>
                  <a:srgbClr val="F5A623"/>
                </a:solidFill>
                <a:latin typeface="Inter"/>
              </a:rPr>
              <a:t>chiffrés</a:t>
            </a:r>
            <a:r>
              <a:rPr sz="1300" b="0" i="0" dirty="0">
                <a:solidFill>
                  <a:srgbClr val="F7F6F2"/>
                </a:solidFill>
                <a:latin typeface="Inter"/>
              </a:rPr>
              <a:t> : </a:t>
            </a:r>
            <a:r>
              <a:rPr sz="1300" b="0" i="0" dirty="0" err="1">
                <a:solidFill>
                  <a:srgbClr val="F7F6F2"/>
                </a:solidFill>
                <a:latin typeface="Inter"/>
              </a:rPr>
              <a:t>colonne</a:t>
            </a:r>
            <a:r>
              <a:rPr sz="1300" b="0" i="0" dirty="0">
                <a:solidFill>
                  <a:srgbClr val="F7F6F2"/>
                </a:solidFill>
                <a:latin typeface="Inter"/>
              </a:rPr>
              <a:t>, </a:t>
            </a:r>
            <a:r>
              <a:rPr sz="1300" b="0" i="0" dirty="0" err="1">
                <a:solidFill>
                  <a:srgbClr val="F7F6F2"/>
                </a:solidFill>
                <a:latin typeface="Inter"/>
              </a:rPr>
              <a:t>indicateur</a:t>
            </a:r>
            <a:r>
              <a:rPr sz="1300" b="0" i="0" dirty="0">
                <a:solidFill>
                  <a:srgbClr val="F7F6F2"/>
                </a:solidFill>
                <a:latin typeface="Inter"/>
              </a:rPr>
              <a:t>, </a:t>
            </a:r>
            <a:r>
              <a:rPr sz="1300" b="0" i="0" dirty="0" err="1">
                <a:solidFill>
                  <a:srgbClr val="F7F6F2"/>
                </a:solidFill>
                <a:latin typeface="Inter"/>
              </a:rPr>
              <a:t>valeur</a:t>
            </a:r>
            <a:r>
              <a:rPr sz="1300" b="0" i="0" dirty="0">
                <a:solidFill>
                  <a:srgbClr val="F7F6F2"/>
                </a:solidFill>
                <a:latin typeface="Inter"/>
              </a:rPr>
              <a:t> </a:t>
            </a:r>
            <a:r>
              <a:rPr sz="1300" b="0" i="0" dirty="0" err="1">
                <a:solidFill>
                  <a:srgbClr val="F7F6F2"/>
                </a:solidFill>
                <a:latin typeface="Inter"/>
              </a:rPr>
              <a:t>mesurée</a:t>
            </a:r>
            <a:r>
              <a:rPr sz="1300" b="0" i="0" dirty="0">
                <a:solidFill>
                  <a:srgbClr val="F7F6F2"/>
                </a:solidFill>
                <a:latin typeface="Inter"/>
              </a:rPr>
              <a:t>, </a:t>
            </a:r>
            <a:r>
              <a:rPr sz="1300" b="0" i="0" dirty="0" err="1">
                <a:solidFill>
                  <a:srgbClr val="F7F6F2"/>
                </a:solidFill>
                <a:latin typeface="Inter"/>
              </a:rPr>
              <a:t>conséquence</a:t>
            </a:r>
            <a:r>
              <a:rPr sz="1300" b="0" i="0" dirty="0">
                <a:solidFill>
                  <a:srgbClr val="F7F6F2"/>
                </a:solidFill>
                <a:latin typeface="Inter"/>
              </a:rPr>
              <a:t> pour la </a:t>
            </a:r>
            <a:r>
              <a:rPr sz="1300" b="0" i="0" dirty="0" err="1">
                <a:solidFill>
                  <a:srgbClr val="F7F6F2"/>
                </a:solidFill>
                <a:latin typeface="Inter"/>
              </a:rPr>
              <a:t>qualité</a:t>
            </a:r>
            <a:r>
              <a:rPr sz="1300" b="0" i="0" dirty="0">
                <a:solidFill>
                  <a:srgbClr val="F7F6F2"/>
                </a:solidFill>
                <a:latin typeface="Inter"/>
              </a:rPr>
              <a:t>.</a:t>
            </a:r>
          </a:p>
          <a:p>
            <a:pPr marL="182880" indent="-182880">
              <a:lnSpc>
                <a:spcPct val="108000"/>
              </a:lnSpc>
              <a:spcAft>
                <a:spcPts val="300"/>
              </a:spcAft>
              <a:buClr>
                <a:srgbClr val="F5A623"/>
              </a:buClr>
              <a:buChar char="•"/>
            </a:pPr>
            <a:r>
              <a:rPr sz="1300" b="0" i="0" dirty="0">
                <a:solidFill>
                  <a:srgbClr val="F7F6F2"/>
                </a:solidFill>
                <a:latin typeface="Inter"/>
              </a:rPr>
              <a:t>Les </a:t>
            </a:r>
            <a:r>
              <a:rPr sz="1300" b="1" i="0" dirty="0">
                <a:solidFill>
                  <a:srgbClr val="F5A623"/>
                </a:solidFill>
                <a:latin typeface="Inter"/>
              </a:rPr>
              <a:t>motifs</a:t>
            </a:r>
            <a:r>
              <a:rPr sz="1300" b="0" i="0" dirty="0">
                <a:solidFill>
                  <a:srgbClr val="F7F6F2"/>
                </a:solidFill>
                <a:latin typeface="Inter"/>
              </a:rPr>
              <a:t> de code postal, de </a:t>
            </a:r>
            <a:r>
              <a:rPr sz="1300" b="0" i="0" dirty="0" err="1">
                <a:solidFill>
                  <a:srgbClr val="F7F6F2"/>
                </a:solidFill>
                <a:latin typeface="Inter"/>
              </a:rPr>
              <a:t>téléphone</a:t>
            </a:r>
            <a:r>
              <a:rPr sz="1300" b="0" i="0" dirty="0">
                <a:solidFill>
                  <a:srgbClr val="F7F6F2"/>
                </a:solidFill>
                <a:latin typeface="Inter"/>
              </a:rPr>
              <a:t> et de pays : </a:t>
            </a:r>
            <a:r>
              <a:rPr sz="1300" b="0" i="0" dirty="0" err="1">
                <a:solidFill>
                  <a:srgbClr val="F7F6F2"/>
                </a:solidFill>
                <a:latin typeface="Inter"/>
              </a:rPr>
              <a:t>lignes</a:t>
            </a:r>
            <a:r>
              <a:rPr sz="1300" b="0" i="0" dirty="0">
                <a:solidFill>
                  <a:srgbClr val="F7F6F2"/>
                </a:solidFill>
                <a:latin typeface="Inter"/>
              </a:rPr>
              <a:t> </a:t>
            </a:r>
            <a:r>
              <a:rPr sz="1300" b="0" i="0" dirty="0" err="1">
                <a:solidFill>
                  <a:srgbClr val="F7F6F2"/>
                </a:solidFill>
                <a:latin typeface="Inter"/>
              </a:rPr>
              <a:t>conformes</a:t>
            </a:r>
            <a:r>
              <a:rPr sz="1300" b="0" i="0" dirty="0">
                <a:solidFill>
                  <a:srgbClr val="F7F6F2"/>
                </a:solidFill>
                <a:latin typeface="Inter"/>
              </a:rPr>
              <a:t>, non </a:t>
            </a:r>
            <a:r>
              <a:rPr sz="1300" b="0" i="0" dirty="0" err="1">
                <a:solidFill>
                  <a:srgbClr val="F7F6F2"/>
                </a:solidFill>
                <a:latin typeface="Inter"/>
              </a:rPr>
              <a:t>conformes</a:t>
            </a:r>
            <a:r>
              <a:rPr sz="1300" b="0" i="0" dirty="0">
                <a:solidFill>
                  <a:srgbClr val="F7F6F2"/>
                </a:solidFill>
                <a:latin typeface="Inter"/>
              </a:rPr>
              <a:t>, un </a:t>
            </a:r>
            <a:r>
              <a:rPr sz="1300" b="0" i="0" dirty="0" err="1">
                <a:solidFill>
                  <a:srgbClr val="F7F6F2"/>
                </a:solidFill>
                <a:latin typeface="Inter"/>
              </a:rPr>
              <a:t>exemple</a:t>
            </a:r>
            <a:r>
              <a:rPr sz="1300" b="0" i="0" dirty="0">
                <a:solidFill>
                  <a:srgbClr val="F7F6F2"/>
                </a:solidFill>
                <a:latin typeface="Inter"/>
              </a:rPr>
              <a:t>.</a:t>
            </a:r>
          </a:p>
        </p:txBody>
      </p:sp>
      <p:graphicFrame>
        <p:nvGraphicFramePr>
          <p:cNvPr id="33" name="Table 32"/>
          <p:cNvGraphicFramePr>
            <a:graphicFrameLocks noGrp="1"/>
          </p:cNvGraphicFramePr>
          <p:nvPr>
            <p:extLst>
              <p:ext uri="{D42A27DB-BD31-4B8C-83A1-F6EECF244321}">
                <p14:modId xmlns:p14="http://schemas.microsoft.com/office/powerpoint/2010/main" val="2654051005"/>
              </p:ext>
            </p:extLst>
          </p:nvPr>
        </p:nvGraphicFramePr>
        <p:xfrm>
          <a:off x="582930" y="2141040"/>
          <a:ext cx="10908792" cy="2621280"/>
        </p:xfrm>
        <a:graphic>
          <a:graphicData uri="http://schemas.openxmlformats.org/drawingml/2006/table">
            <a:tbl>
              <a:tblPr/>
              <a:tblGrid>
                <a:gridCol w="548640">
                  <a:extLst>
                    <a:ext uri="{9D8B030D-6E8A-4147-A177-3AD203B41FA5}">
                      <a16:colId xmlns:a16="http://schemas.microsoft.com/office/drawing/2014/main" val="20000"/>
                    </a:ext>
                  </a:extLst>
                </a:gridCol>
                <a:gridCol w="1168868">
                  <a:extLst>
                    <a:ext uri="{9D8B030D-6E8A-4147-A177-3AD203B41FA5}">
                      <a16:colId xmlns:a16="http://schemas.microsoft.com/office/drawing/2014/main" val="20001"/>
                    </a:ext>
                  </a:extLst>
                </a:gridCol>
                <a:gridCol w="2310063">
                  <a:extLst>
                    <a:ext uri="{9D8B030D-6E8A-4147-A177-3AD203B41FA5}">
                      <a16:colId xmlns:a16="http://schemas.microsoft.com/office/drawing/2014/main" val="20002"/>
                    </a:ext>
                  </a:extLst>
                </a:gridCol>
                <a:gridCol w="3379069">
                  <a:extLst>
                    <a:ext uri="{9D8B030D-6E8A-4147-A177-3AD203B41FA5}">
                      <a16:colId xmlns:a16="http://schemas.microsoft.com/office/drawing/2014/main" val="20003"/>
                    </a:ext>
                  </a:extLst>
                </a:gridCol>
                <a:gridCol w="3502152">
                  <a:extLst>
                    <a:ext uri="{9D8B030D-6E8A-4147-A177-3AD203B41FA5}">
                      <a16:colId xmlns:a16="http://schemas.microsoft.com/office/drawing/2014/main" val="20004"/>
                    </a:ext>
                  </a:extLst>
                </a:gridCol>
              </a:tblGrid>
              <a:tr h="329184">
                <a:tc>
                  <a:txBody>
                    <a:bodyPr/>
                    <a:lstStyle/>
                    <a:p>
                      <a:r>
                        <a:rPr sz="1050" b="1" i="0" spc="60">
                          <a:solidFill>
                            <a:srgbClr val="F5A623"/>
                          </a:solidFill>
                          <a:latin typeface="Inter"/>
                        </a:rPr>
                        <a:t>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Colonne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dirty="0" err="1">
                          <a:solidFill>
                            <a:srgbClr val="F5A623"/>
                          </a:solidFill>
                          <a:latin typeface="Inter"/>
                        </a:rPr>
                        <a:t>Indicateur</a:t>
                      </a:r>
                      <a:r>
                        <a:rPr sz="1050" b="1" i="0" spc="60" dirty="0">
                          <a:solidFill>
                            <a:srgbClr val="F5A623"/>
                          </a:solidFill>
                          <a:latin typeface="Inter"/>
                        </a:rPr>
                        <a:t> (nulls, vides, </a:t>
                      </a:r>
                      <a:r>
                        <a:rPr sz="1050" b="1" i="0" spc="60" dirty="0" err="1">
                          <a:solidFill>
                            <a:srgbClr val="F5A623"/>
                          </a:solidFill>
                          <a:latin typeface="Inter"/>
                        </a:rPr>
                        <a:t>distincts</a:t>
                      </a:r>
                      <a:r>
                        <a:rPr sz="1050" b="1" i="0" spc="60" dirty="0">
                          <a:solidFill>
                            <a:srgbClr val="F5A623"/>
                          </a:solidFill>
                          <a:latin typeface="Inter"/>
                        </a:rPr>
                        <a:t>, motif)</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dirty="0">
                          <a:solidFill>
                            <a:srgbClr val="F5A623"/>
                          </a:solidFill>
                          <a:latin typeface="Inter"/>
                        </a:rPr>
                        <a:t>Valeur </a:t>
                      </a:r>
                      <a:r>
                        <a:rPr sz="1050" b="1" i="0" spc="60" dirty="0" err="1">
                          <a:solidFill>
                            <a:srgbClr val="F5A623"/>
                          </a:solidFill>
                          <a:latin typeface="Inter"/>
                        </a:rPr>
                        <a:t>mesurée</a:t>
                      </a:r>
                      <a:endParaRPr sz="1050" b="1" i="0" spc="6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Ce que cela change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29184">
                <a:tc>
                  <a:txBody>
                    <a:bodyPr/>
                    <a:lstStyle/>
                    <a:p>
                      <a:r>
                        <a:rPr sz="1150" b="1" i="0">
                          <a:solidFill>
                            <a:srgbClr val="F7F6F2"/>
                          </a:solidFill>
                          <a:latin typeface="Inter"/>
                        </a:rPr>
                        <a:t>1</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150" b="0" i="0" dirty="0">
                          <a:solidFill>
                            <a:srgbClr val="F5A623"/>
                          </a:solidFill>
                          <a:latin typeface="+mn-lt"/>
                        </a:rPr>
                        <a:t>nom, </a:t>
                      </a:r>
                      <a:r>
                        <a:rPr lang="fr-FR" sz="1150" b="0" i="0" dirty="0" err="1">
                          <a:solidFill>
                            <a:srgbClr val="F5A623"/>
                          </a:solidFill>
                          <a:latin typeface="+mn-lt"/>
                        </a:rPr>
                        <a:t>prenom</a:t>
                      </a:r>
                      <a:r>
                        <a:rPr lang="fr-FR" sz="1150" b="0" i="0" dirty="0">
                          <a:solidFill>
                            <a:srgbClr val="F5A623"/>
                          </a:solidFill>
                          <a:latin typeface="+mn-lt"/>
                        </a:rPr>
                        <a:t>, </a:t>
                      </a:r>
                      <a:r>
                        <a:rPr lang="fr-FR" sz="1150" b="0" i="0" dirty="0" err="1">
                          <a:solidFill>
                            <a:srgbClr val="F5A623"/>
                          </a:solidFill>
                          <a:latin typeface="+mn-lt"/>
                        </a:rPr>
                        <a:t>date_naissance</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Doublons après normalisation</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2 156 personnes en double sous des </a:t>
                      </a:r>
                      <a:r>
                        <a:rPr lang="fr-FR" sz="1150" b="0" i="0" dirty="0" err="1">
                          <a:solidFill>
                            <a:srgbClr val="F5A623"/>
                          </a:solidFill>
                          <a:latin typeface="+mn-lt"/>
                        </a:rPr>
                        <a:t>client_id</a:t>
                      </a:r>
                      <a:r>
                        <a:rPr lang="fr-FR" sz="1150" b="0" i="0" dirty="0">
                          <a:solidFill>
                            <a:srgbClr val="F5A623"/>
                          </a:solidFill>
                          <a:latin typeface="+mn-lt"/>
                        </a:rPr>
                        <a:t> différents &amp; 0 doublon de </a:t>
                      </a:r>
                      <a:r>
                        <a:rPr lang="fr-FR" sz="1150" b="0" i="0" dirty="0" err="1">
                          <a:solidFill>
                            <a:srgbClr val="F5A623"/>
                          </a:solidFill>
                          <a:latin typeface="+mn-lt"/>
                        </a:rPr>
                        <a:t>client_id</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Dédoublonnage nécessaire en Silver avant la fusion avec le CIF.</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29184">
                <a:tc>
                  <a:txBody>
                    <a:bodyPr/>
                    <a:lstStyle/>
                    <a:p>
                      <a:r>
                        <a:rPr sz="1150" b="1" i="0">
                          <a:solidFill>
                            <a:srgbClr val="F7F6F2"/>
                          </a:solidFill>
                          <a:latin typeface="Inter"/>
                        </a:rPr>
                        <a:t>2</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150" b="0" i="0" dirty="0">
                          <a:solidFill>
                            <a:srgbClr val="F5A623"/>
                          </a:solidFill>
                          <a:latin typeface="+mn-lt"/>
                        </a:rPr>
                        <a:t>pays</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Valeurs distinctes et conformité ISO</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18 valeurs distinctes &amp; 3 050 non conformes</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Les comptages par pays sont faussés ; une correspondance vers ISO 3166-1 est nécessaire.</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29184">
                <a:tc>
                  <a:txBody>
                    <a:bodyPr/>
                    <a:lstStyle/>
                    <a:p>
                      <a:r>
                        <a:rPr sz="1150" b="1" i="0">
                          <a:solidFill>
                            <a:srgbClr val="F7F6F2"/>
                          </a:solidFill>
                          <a:latin typeface="Inter"/>
                        </a:rPr>
                        <a:t>3</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150" b="0" i="0" dirty="0" err="1">
                          <a:solidFill>
                            <a:srgbClr val="F5A623"/>
                          </a:solidFill>
                          <a:latin typeface="+mn-lt"/>
                        </a:rPr>
                        <a:t>telephone</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Valeurs nulles, vides et formats</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5 999 NULL ; 4 000 vides ; 12 motifs &amp;66 470 au format cible</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Normalisation en Silver ; 21 271 numéros récupérables.</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29184">
                <a:tc>
                  <a:txBody>
                    <a:bodyPr/>
                    <a:lstStyle/>
                    <a:p>
                      <a:r>
                        <a:rPr sz="1150" b="1" i="0">
                          <a:solidFill>
                            <a:srgbClr val="F7F6F2"/>
                          </a:solidFill>
                          <a:latin typeface="Inter"/>
                        </a:rPr>
                        <a:t>4</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150" b="0" i="0" dirty="0" err="1">
                          <a:solidFill>
                            <a:srgbClr val="F5A623"/>
                          </a:solidFill>
                          <a:latin typeface="+mn-lt"/>
                        </a:rPr>
                        <a:t>date_creation</a:t>
                      </a:r>
                      <a:r>
                        <a:rPr lang="fr-FR" sz="1150" b="0" i="0" dirty="0">
                          <a:solidFill>
                            <a:srgbClr val="F5A623"/>
                          </a:solidFill>
                          <a:latin typeface="+mn-lt"/>
                        </a:rPr>
                        <a:t>, </a:t>
                      </a:r>
                      <a:r>
                        <a:rPr lang="fr-FR" sz="1150" b="0" i="0" dirty="0" err="1">
                          <a:solidFill>
                            <a:srgbClr val="F5A623"/>
                          </a:solidFill>
                          <a:latin typeface="+mn-lt"/>
                        </a:rPr>
                        <a:t>date_naissance</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Cohérence des dates</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3 476 clients créés avant leur naissance</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Dates non fiables pour l’âge et l’ancienneté  &amp;mise en quarantaine à prévoir.</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29184">
                <a:tc>
                  <a:txBody>
                    <a:bodyPr/>
                    <a:lstStyle/>
                    <a:p>
                      <a:r>
                        <a:rPr sz="1150" b="1" i="0">
                          <a:solidFill>
                            <a:srgbClr val="F7F6F2"/>
                          </a:solidFill>
                          <a:latin typeface="Inter"/>
                        </a:rPr>
                        <a:t>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150" b="0" i="0" dirty="0" err="1">
                          <a:solidFill>
                            <a:srgbClr val="F5A623"/>
                          </a:solidFill>
                          <a:latin typeface="+mn-lt"/>
                        </a:rPr>
                        <a:t>type_personne</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Valeurs distinctes et variantes</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8 valeurs pour 3 notions ; 140 variantes de casse ; 60 clients hors liste</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Segmentation faussée &amp; liste fermée de valeurs à imposer.</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bl>
          </a:graphicData>
        </a:graphic>
      </p:graphicFrame>
      <p:graphicFrame>
        <p:nvGraphicFramePr>
          <p:cNvPr id="34" name="Table 33"/>
          <p:cNvGraphicFramePr>
            <a:graphicFrameLocks noGrp="1"/>
          </p:cNvGraphicFramePr>
          <p:nvPr>
            <p:extLst>
              <p:ext uri="{D42A27DB-BD31-4B8C-83A1-F6EECF244321}">
                <p14:modId xmlns:p14="http://schemas.microsoft.com/office/powerpoint/2010/main" val="3104964023"/>
              </p:ext>
            </p:extLst>
          </p:nvPr>
        </p:nvGraphicFramePr>
        <p:xfrm>
          <a:off x="582930" y="4834433"/>
          <a:ext cx="10908792" cy="1429512"/>
        </p:xfrm>
        <a:graphic>
          <a:graphicData uri="http://schemas.openxmlformats.org/drawingml/2006/table">
            <a:tbl>
              <a:tblPr/>
              <a:tblGrid>
                <a:gridCol w="1390249">
                  <a:extLst>
                    <a:ext uri="{9D8B030D-6E8A-4147-A177-3AD203B41FA5}">
                      <a16:colId xmlns:a16="http://schemas.microsoft.com/office/drawing/2014/main" val="20000"/>
                    </a:ext>
                  </a:extLst>
                </a:gridCol>
                <a:gridCol w="3397718">
                  <a:extLst>
                    <a:ext uri="{9D8B030D-6E8A-4147-A177-3AD203B41FA5}">
                      <a16:colId xmlns:a16="http://schemas.microsoft.com/office/drawing/2014/main" val="20001"/>
                    </a:ext>
                  </a:extLst>
                </a:gridCol>
                <a:gridCol w="1704273">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2679192">
                  <a:extLst>
                    <a:ext uri="{9D8B030D-6E8A-4147-A177-3AD203B41FA5}">
                      <a16:colId xmlns:a16="http://schemas.microsoft.com/office/drawing/2014/main" val="20004"/>
                    </a:ext>
                  </a:extLst>
                </a:gridCol>
              </a:tblGrid>
              <a:tr h="329184">
                <a:tc>
                  <a:txBody>
                    <a:bodyPr/>
                    <a:lstStyle/>
                    <a:p>
                      <a:r>
                        <a:rPr sz="1050" b="1" i="0" spc="60" dirty="0" err="1">
                          <a:solidFill>
                            <a:srgbClr val="F5A623"/>
                          </a:solidFill>
                          <a:latin typeface="Inter"/>
                        </a:rPr>
                        <a:t>Attribut</a:t>
                      </a:r>
                      <a:endParaRPr sz="1050" b="1" i="0" spc="6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Motif testé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Conformes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Non conformes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Exemple non conforme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29184">
                <a:tc>
                  <a:txBody>
                    <a:bodyPr/>
                    <a:lstStyle/>
                    <a:p>
                      <a:r>
                        <a:rPr sz="1150" b="1" i="0" dirty="0">
                          <a:solidFill>
                            <a:srgbClr val="F7F6F2"/>
                          </a:solidFill>
                          <a:latin typeface="Inter"/>
                        </a:rPr>
                        <a:t>Code postal</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150" b="0" i="0" dirty="0">
                          <a:solidFill>
                            <a:srgbClr val="F5A623"/>
                          </a:solidFill>
                          <a:latin typeface="+mn-lt"/>
                        </a:rPr>
                        <a:t>FR : ^\d{5}$ ; CH/BE/LU : ^\d{4}$ ; PT : ^\d{4}-\d{3}$</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50" b="0" i="0" kern="1200" dirty="0">
                          <a:solidFill>
                            <a:srgbClr val="F5A623"/>
                          </a:solidFill>
                          <a:latin typeface="+mn-lt"/>
                          <a:ea typeface="+mn-ea"/>
                          <a:cs typeface="+mn-cs"/>
                        </a:rPr>
                        <a:t>98 480 (98,48 %)</a:t>
                      </a:r>
                      <a:endParaRPr sz="115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kern="1200" dirty="0">
                          <a:solidFill>
                            <a:srgbClr val="F5A623"/>
                          </a:solidFill>
                          <a:latin typeface="+mn-lt"/>
                          <a:ea typeface="+mn-ea"/>
                          <a:cs typeface="+mn-cs"/>
                        </a:rPr>
                        <a:t>1 520 (1,52%)</a:t>
                      </a:r>
                      <a:endParaRPr sz="115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Inter"/>
                        </a:rPr>
                        <a:t>1000</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29184">
                <a:tc>
                  <a:txBody>
                    <a:bodyPr/>
                    <a:lstStyle/>
                    <a:p>
                      <a:r>
                        <a:rPr sz="1150" b="1" i="0" dirty="0" err="1">
                          <a:solidFill>
                            <a:srgbClr val="F7F6F2"/>
                          </a:solidFill>
                          <a:latin typeface="Inter"/>
                        </a:rPr>
                        <a:t>Téléphone</a:t>
                      </a:r>
                      <a:endParaRPr sz="1150" b="1" i="0" dirty="0">
                        <a:solidFill>
                          <a:srgbClr val="F7F6F2"/>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150" b="0" i="0" dirty="0">
                          <a:solidFill>
                            <a:srgbClr val="F5A623"/>
                          </a:solidFill>
                          <a:latin typeface="+mn-lt"/>
                        </a:rPr>
                        <a:t>^0[1-9]\d{8}$</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50" b="0" i="0" kern="1200" dirty="0">
                          <a:solidFill>
                            <a:srgbClr val="F5A623"/>
                          </a:solidFill>
                          <a:latin typeface="+mn-lt"/>
                          <a:ea typeface="+mn-ea"/>
                          <a:cs typeface="+mn-cs"/>
                        </a:rPr>
                        <a:t>66 470 (66,47 %)</a:t>
                      </a:r>
                      <a:endParaRPr sz="115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kern="1200" dirty="0">
                          <a:solidFill>
                            <a:srgbClr val="F5A623"/>
                          </a:solidFill>
                          <a:latin typeface="+mn-lt"/>
                          <a:ea typeface="+mn-ea"/>
                          <a:cs typeface="+mn-cs"/>
                        </a:rPr>
                        <a:t>33 530, dont 9 999 absents</a:t>
                      </a:r>
                      <a:endParaRPr sz="115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+33582679882</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29184">
                <a:tc>
                  <a:txBody>
                    <a:bodyPr/>
                    <a:lstStyle/>
                    <a:p>
                      <a:r>
                        <a:rPr sz="1150" b="1" i="0" dirty="0">
                          <a:solidFill>
                            <a:srgbClr val="F7F6F2"/>
                          </a:solidFill>
                          <a:latin typeface="Inter"/>
                        </a:rPr>
                        <a:t>Pays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pt-BR" sz="1150" b="0" i="0" dirty="0">
                          <a:solidFill>
                            <a:srgbClr val="F5A623"/>
                          </a:solidFill>
                          <a:latin typeface="+mn-lt"/>
                        </a:rPr>
                        <a:t>^[A-Z]{2}$ + liste ISO 3166-1</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96 950 (96,95 %)</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3 050 (3,05)</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err="1">
                          <a:solidFill>
                            <a:srgbClr val="F5A623"/>
                          </a:solidFill>
                          <a:latin typeface="+mn-lt"/>
                        </a:rPr>
                        <a:t>Frnace</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bl>
          </a:graphicData>
        </a:graphic>
      </p:graphicFrame>
      <p:sp>
        <p:nvSpPr>
          <p:cNvPr id="35" name="TextBox 34"/>
          <p:cNvSpPr txBox="1"/>
          <p:nvPr/>
        </p:nvSpPr>
        <p:spPr>
          <a:xfrm>
            <a:off x="665226" y="6603633"/>
            <a:ext cx="10908792" cy="190245"/>
          </a:xfrm>
          <a:prstGeom prst="rect">
            <a:avLst/>
          </a:prstGeom>
          <a:noFill/>
        </p:spPr>
        <p:txBody>
          <a:bodyPr wrap="square" lIns="0" tIns="0" rIns="0" bIns="0" anchor="ctr">
            <a:spAutoFit/>
          </a:bodyPr>
          <a:lstStyle/>
          <a:p>
            <a:pPr>
              <a:lnSpc>
                <a:spcPct val="108000"/>
              </a:lnSpc>
              <a:spcAft>
                <a:spcPts val="400"/>
              </a:spcAft>
            </a:pPr>
            <a:r>
              <a:rPr lang="fr-FR" sz="1200" b="1" i="0" dirty="0">
                <a:solidFill>
                  <a:srgbClr val="F5A623"/>
                </a:solidFill>
                <a:latin typeface="Inter"/>
              </a:rPr>
              <a:t>notebooks/S1_US06_profil_crm_client.ipynb (cellules B, C, D) ; notebooks/S1_US07_motifs_regex.ipynb;  reports/S1_US06_profil_crm_client.html</a:t>
            </a:r>
            <a:endParaRPr sz="1200" b="1" i="0" dirty="0">
              <a:solidFill>
                <a:srgbClr val="F5A623"/>
              </a:solidFill>
              <a:latin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Dictionnaire du CIF : dix colonnes anonymes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11</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S1 · US-04</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PROFILAGE ET DIAGNOSTIC · 20 %</a:t>
            </a:r>
          </a:p>
        </p:txBody>
      </p:sp>
      <p:sp>
        <p:nvSpPr>
          <p:cNvPr id="28" name="Attendu"/>
          <p:cNvSpPr/>
          <p:nvPr/>
        </p:nvSpPr>
        <p:spPr>
          <a:xfrm>
            <a:off x="640080" y="1325880"/>
            <a:ext cx="10908792" cy="10329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329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300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Pour </a:t>
            </a:r>
            <a:r>
              <a:rPr sz="1300" b="1" i="0">
                <a:solidFill>
                  <a:srgbClr val="F5A623"/>
                </a:solidFill>
                <a:latin typeface="Inter"/>
              </a:rPr>
              <a:t>chacune des dix colonnes</a:t>
            </a:r>
            <a:r>
              <a:rPr sz="1300" b="0" i="0">
                <a:solidFill>
                  <a:srgbClr val="F7F6F2"/>
                </a:solidFill>
                <a:latin typeface="Inter"/>
              </a:rPr>
              <a:t> : un nom proposé, un type et une </a:t>
            </a:r>
            <a:r>
              <a:rPr sz="1300" b="1" i="0">
                <a:solidFill>
                  <a:srgbClr val="F5A623"/>
                </a:solidFill>
                <a:latin typeface="Inter"/>
              </a:rPr>
              <a:t>justification chiffrée</a:t>
            </a:r>
            <a:r>
              <a:rPr sz="1300" b="0" i="0">
                <a:solidFill>
                  <a:srgbClr val="F7F6F2"/>
                </a:solidFill>
                <a:latin typeface="Inter"/>
              </a:rPr>
              <a:t> (comment l'avez-vous déduit ?).</a:t>
            </a:r>
          </a:p>
        </p:txBody>
      </p:sp>
      <p:graphicFrame>
        <p:nvGraphicFramePr>
          <p:cNvPr id="33" name="Table 32"/>
          <p:cNvGraphicFramePr>
            <a:graphicFrameLocks noGrp="1"/>
          </p:cNvGraphicFramePr>
          <p:nvPr>
            <p:extLst>
              <p:ext uri="{D42A27DB-BD31-4B8C-83A1-F6EECF244321}">
                <p14:modId xmlns:p14="http://schemas.microsoft.com/office/powerpoint/2010/main" val="4287829023"/>
              </p:ext>
            </p:extLst>
          </p:nvPr>
        </p:nvGraphicFramePr>
        <p:xfrm>
          <a:off x="640080" y="2496007"/>
          <a:ext cx="10908792" cy="3840480"/>
        </p:xfrm>
        <a:graphic>
          <a:graphicData uri="http://schemas.openxmlformats.org/drawingml/2006/table">
            <a:tbl>
              <a:tblPr/>
              <a:tblGrid>
                <a:gridCol w="1828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5422392">
                  <a:extLst>
                    <a:ext uri="{9D8B030D-6E8A-4147-A177-3AD203B41FA5}">
                      <a16:colId xmlns:a16="http://schemas.microsoft.com/office/drawing/2014/main" val="20003"/>
                    </a:ext>
                  </a:extLst>
                </a:gridCol>
              </a:tblGrid>
              <a:tr h="320040">
                <a:tc>
                  <a:txBody>
                    <a:bodyPr/>
                    <a:lstStyle/>
                    <a:p>
                      <a:r>
                        <a:rPr sz="1000" b="1" i="0" spc="60">
                          <a:solidFill>
                            <a:srgbClr val="F5A623"/>
                          </a:solidFill>
                          <a:latin typeface="Inter"/>
                        </a:rPr>
                        <a:t>Colonne d'origine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Nom proposé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Type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Justification chiffrée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20040">
                <a:tc>
                  <a:txBody>
                    <a:bodyPr/>
                    <a:lstStyle/>
                    <a:p>
                      <a:r>
                        <a:rPr lang="fr-FR" sz="1100" b="0" i="0" dirty="0">
                          <a:solidFill>
                            <a:srgbClr val="F5A623"/>
                          </a:solidFill>
                          <a:latin typeface="+mn-lt"/>
                        </a:rPr>
                        <a:t>column0</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err="1">
                          <a:solidFill>
                            <a:srgbClr val="F5A623"/>
                          </a:solidFill>
                          <a:latin typeface="+mn-lt"/>
                        </a:rPr>
                        <a:t>id_client</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00" b="0" i="0" kern="1200" dirty="0">
                          <a:solidFill>
                            <a:srgbClr val="F5A623"/>
                          </a:solidFill>
                          <a:latin typeface="+mn-lt"/>
                          <a:ea typeface="+mn-ea"/>
                          <a:cs typeface="+mn-cs"/>
                        </a:rPr>
                        <a:t>CHAR(7)</a:t>
                      </a:r>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Inter"/>
                        </a:rPr>
                        <a:t>40 000 valeurs distincts  et pas de NULL</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20040">
                <a:tc>
                  <a:txBody>
                    <a:bodyPr/>
                    <a:lstStyle/>
                    <a:p>
                      <a:r>
                        <a:rPr lang="fr-FR" sz="1100" b="0" i="0" dirty="0">
                          <a:solidFill>
                            <a:srgbClr val="F5A623"/>
                          </a:solidFill>
                          <a:latin typeface="+mn-lt"/>
                        </a:rPr>
                        <a:t>column1</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Inter"/>
                        </a:rPr>
                        <a:t>nom</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00" b="0" i="0" kern="1200" dirty="0">
                          <a:solidFill>
                            <a:srgbClr val="F5A623"/>
                          </a:solidFill>
                          <a:latin typeface="+mn-lt"/>
                          <a:ea typeface="+mn-ea"/>
                          <a:cs typeface="+mn-cs"/>
                        </a:rPr>
                        <a:t>VARCHAR(50)</a:t>
                      </a:r>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Inter"/>
                        </a:rPr>
                        <a:t>731 valeurs distincts ,en majuscules et pas de valeurs nulles</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a:solidFill>
                            <a:srgbClr val="F5A623"/>
                          </a:solidFill>
                          <a:latin typeface="+mn-lt"/>
                        </a:rPr>
                        <a:t>column</a:t>
                      </a:r>
                      <a:r>
                        <a:rPr lang="fr-FR" sz="1100" b="0" i="0" dirty="0">
                          <a:solidFill>
                            <a:srgbClr val="F5A623"/>
                          </a:solidFill>
                          <a:latin typeface="Inter"/>
                        </a:rPr>
                        <a:t>2</a:t>
                      </a:r>
                      <a:endParaRPr lang="fr-FR" sz="1100" b="0" i="0" dirty="0">
                        <a:solidFill>
                          <a:srgbClr val="F5A623"/>
                        </a:solidFill>
                        <a:latin typeface="+mn-lt"/>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err="1">
                          <a:solidFill>
                            <a:srgbClr val="F5A623"/>
                          </a:solidFill>
                          <a:latin typeface="Inter"/>
                        </a:rPr>
                        <a:t>prenom</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00" b="0" i="0" kern="1200" dirty="0">
                          <a:solidFill>
                            <a:srgbClr val="F5A623"/>
                          </a:solidFill>
                          <a:latin typeface="+mn-lt"/>
                          <a:ea typeface="+mn-ea"/>
                          <a:cs typeface="+mn-cs"/>
                        </a:rPr>
                        <a:t>VARCHAR(50)</a:t>
                      </a:r>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Inter"/>
                        </a:rPr>
                        <a:t>180 </a:t>
                      </a:r>
                      <a:r>
                        <a:rPr lang="fr-FR" sz="1100" b="0" i="0" dirty="0">
                          <a:solidFill>
                            <a:srgbClr val="F5A623"/>
                          </a:solidFill>
                          <a:latin typeface="+mn-lt"/>
                        </a:rPr>
                        <a:t>valeurs distincts , 645 valeurs nulles où date de naissance est aussi nulle</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a:solidFill>
                            <a:srgbClr val="F5A623"/>
                          </a:solidFill>
                          <a:latin typeface="+mn-lt"/>
                        </a:rPr>
                        <a:t>Column3</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err="1">
                          <a:solidFill>
                            <a:srgbClr val="F5A623"/>
                          </a:solidFill>
                          <a:latin typeface="+mn-lt"/>
                        </a:rPr>
                        <a:t>date_de_naissance</a:t>
                      </a:r>
                      <a:endParaRPr lang="fr-FR" sz="1100" b="0" i="0" dirty="0">
                        <a:solidFill>
                          <a:srgbClr val="F5A623"/>
                        </a:solidFill>
                        <a:latin typeface="+mn-lt"/>
                      </a:endParaRPr>
                    </a:p>
                    <a:p>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00" b="0" i="0" kern="1200" dirty="0">
                          <a:solidFill>
                            <a:srgbClr val="F5A623"/>
                          </a:solidFill>
                          <a:latin typeface="+mn-lt"/>
                          <a:ea typeface="+mn-ea"/>
                          <a:cs typeface="+mn-cs"/>
                        </a:rPr>
                        <a:t>DATE</a:t>
                      </a:r>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Inter"/>
                        </a:rPr>
                        <a:t>Format jj/mm/</a:t>
                      </a:r>
                      <a:r>
                        <a:rPr lang="fr-FR" sz="1100" b="0" i="0" dirty="0" err="1">
                          <a:solidFill>
                            <a:srgbClr val="F5A623"/>
                          </a:solidFill>
                          <a:latin typeface="Inter"/>
                        </a:rPr>
                        <a:t>aaaa</a:t>
                      </a:r>
                      <a:r>
                        <a:rPr lang="fr-FR" sz="1100" b="0" i="0" dirty="0">
                          <a:solidFill>
                            <a:srgbClr val="F5A623"/>
                          </a:solidFill>
                          <a:latin typeface="Inter"/>
                        </a:rPr>
                        <a:t>, maximum 12 en mois et années entre 1938 et 2026 ce qui est cohérant </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a:solidFill>
                            <a:srgbClr val="F5A623"/>
                          </a:solidFill>
                          <a:latin typeface="+mn-lt"/>
                        </a:rPr>
                        <a:t>column4</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err="1">
                          <a:solidFill>
                            <a:srgbClr val="F5A623"/>
                          </a:solidFill>
                          <a:latin typeface="+mn-lt"/>
                        </a:rPr>
                        <a:t>adresse_voie</a:t>
                      </a:r>
                      <a:endParaRPr lang="fr-FR" sz="1100" b="0" i="0" dirty="0">
                        <a:solidFill>
                          <a:srgbClr val="F5A623"/>
                        </a:solidFill>
                        <a:latin typeface="+mn-lt"/>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00" b="0" i="0" kern="1200" dirty="0">
                          <a:solidFill>
                            <a:srgbClr val="F5A623"/>
                          </a:solidFill>
                          <a:latin typeface="+mn-lt"/>
                          <a:ea typeface="+mn-ea"/>
                          <a:cs typeface="+mn-cs"/>
                        </a:rPr>
                        <a:t>VARCHAR(100)</a:t>
                      </a:r>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Inter"/>
                        </a:rPr>
                        <a:t>98111 </a:t>
                      </a:r>
                      <a:r>
                        <a:rPr lang="fr-FR" sz="1100" b="0" i="0" dirty="0">
                          <a:solidFill>
                            <a:srgbClr val="F5A623"/>
                          </a:solidFill>
                          <a:latin typeface="+mn-lt"/>
                        </a:rPr>
                        <a:t>valeurs distincts , numéro + type de voie</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a:solidFill>
                            <a:srgbClr val="F5A623"/>
                          </a:solidFill>
                          <a:latin typeface="+mn-lt"/>
                        </a:rPr>
                        <a:t>column5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err="1">
                          <a:solidFill>
                            <a:srgbClr val="F5A623"/>
                          </a:solidFill>
                          <a:latin typeface="Inter"/>
                        </a:rPr>
                        <a:t>code_postal</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00" b="0" i="0" kern="1200" dirty="0">
                          <a:solidFill>
                            <a:srgbClr val="F5A623"/>
                          </a:solidFill>
                          <a:latin typeface="+mn-lt"/>
                          <a:ea typeface="+mn-ea"/>
                          <a:cs typeface="+mn-cs"/>
                        </a:rPr>
                        <a:t>VARCHAR(10)</a:t>
                      </a:r>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mn-lt"/>
                        </a:rPr>
                        <a:t>188 valeurs distincts format 5 chiffres</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6"/>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a:solidFill>
                            <a:srgbClr val="F5A623"/>
                          </a:solidFill>
                          <a:latin typeface="+mn-lt"/>
                        </a:rPr>
                        <a:t>column6</a:t>
                      </a:r>
                      <a:endParaRPr lang="fr-FR" sz="1100" b="0" i="0" dirty="0">
                        <a:solidFill>
                          <a:srgbClr val="F5A623"/>
                        </a:solidFill>
                        <a:latin typeface="+mn-lt"/>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Inter"/>
                        </a:rPr>
                        <a:t>ville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00" b="0" i="0" kern="1200" dirty="0">
                          <a:solidFill>
                            <a:srgbClr val="F5A623"/>
                          </a:solidFill>
                          <a:latin typeface="+mn-lt"/>
                          <a:ea typeface="+mn-ea"/>
                          <a:cs typeface="+mn-cs"/>
                        </a:rPr>
                        <a:t>VARCHAR(50)</a:t>
                      </a:r>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mn-lt"/>
                        </a:rPr>
                        <a:t>172 valeurs distincts  en majuscules</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7"/>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a:solidFill>
                            <a:srgbClr val="F5A623"/>
                          </a:solidFill>
                          <a:latin typeface="+mn-lt"/>
                        </a:rPr>
                        <a:t>column7</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err="1">
                          <a:solidFill>
                            <a:srgbClr val="F5A623"/>
                          </a:solidFill>
                          <a:latin typeface="+mn-lt"/>
                        </a:rPr>
                        <a:t>code_pays</a:t>
                      </a:r>
                      <a:endParaRPr lang="fr-FR" sz="1100" b="0" i="0" dirty="0">
                        <a:solidFill>
                          <a:srgbClr val="F5A623"/>
                        </a:solidFill>
                        <a:latin typeface="+mn-lt"/>
                      </a:endParaRPr>
                    </a:p>
                    <a:p>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00" b="0" i="0" kern="1200" dirty="0">
                          <a:solidFill>
                            <a:srgbClr val="F5A623"/>
                          </a:solidFill>
                          <a:latin typeface="+mn-lt"/>
                          <a:ea typeface="+mn-ea"/>
                          <a:cs typeface="+mn-cs"/>
                        </a:rPr>
                        <a:t>CHAR(2)</a:t>
                      </a:r>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a:solidFill>
                            <a:srgbClr val="F5A623"/>
                          </a:solidFill>
                          <a:latin typeface="+mn-lt"/>
                        </a:rPr>
                        <a:t>Motif 9 valeurs distinctes ressemblant à des pays ex : FR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8"/>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a:solidFill>
                            <a:srgbClr val="F5A623"/>
                          </a:solidFill>
                          <a:latin typeface="+mn-lt"/>
                        </a:rPr>
                        <a:t>column8</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err="1">
                          <a:solidFill>
                            <a:srgbClr val="F5A623"/>
                          </a:solidFill>
                          <a:latin typeface="+mn-lt"/>
                        </a:rPr>
                        <a:t>telephone</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kern="1200" dirty="0">
                          <a:solidFill>
                            <a:srgbClr val="F5A623"/>
                          </a:solidFill>
                          <a:latin typeface="+mn-lt"/>
                          <a:ea typeface="+mn-ea"/>
                          <a:cs typeface="+mn-cs"/>
                        </a:rPr>
                        <a:t>CHAR(10)</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a:solidFill>
                            <a:srgbClr val="F5A623"/>
                          </a:solidFill>
                          <a:latin typeface="+mn-lt"/>
                        </a:rPr>
                        <a:t>33676</a:t>
                      </a:r>
                      <a:r>
                        <a:rPr lang="fr-FR" sz="1100" b="0" i="0" dirty="0">
                          <a:solidFill>
                            <a:srgbClr val="F5A623"/>
                          </a:solidFill>
                          <a:latin typeface="Inter"/>
                        </a:rPr>
                        <a:t> valeurs unique en 10 chiffres</a:t>
                      </a:r>
                      <a:endParaRPr lang="fr-FR" sz="1100" b="0" i="0" dirty="0">
                        <a:solidFill>
                          <a:srgbClr val="F5A623"/>
                        </a:solidFill>
                        <a:latin typeface="+mn-lt"/>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9"/>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dirty="0" err="1">
                          <a:solidFill>
                            <a:srgbClr val="F5A623"/>
                          </a:solidFill>
                          <a:latin typeface="+mn-lt"/>
                        </a:rPr>
                        <a:t>columnç</a:t>
                      </a:r>
                      <a:endParaRPr lang="fr-FR" sz="1100" b="0" i="0" dirty="0">
                        <a:solidFill>
                          <a:srgbClr val="F5A623"/>
                        </a:solidFill>
                        <a:latin typeface="+mn-lt"/>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Inter"/>
                        </a:rPr>
                        <a:t>email</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100" b="0" i="0" kern="1200" dirty="0">
                          <a:solidFill>
                            <a:srgbClr val="F5A623"/>
                          </a:solidFill>
                          <a:latin typeface="+mn-lt"/>
                          <a:ea typeface="+mn-ea"/>
                          <a:cs typeface="+mn-cs"/>
                        </a:rPr>
                        <a:t>VARCHAR(100)</a:t>
                      </a:r>
                    </a:p>
                    <a:p>
                      <a:pPr marL="0" algn="l" defTabSz="914400" rtl="0" eaLnBrk="1" latinLnBrk="0" hangingPunct="1"/>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kern="1200" dirty="0">
                          <a:solidFill>
                            <a:srgbClr val="F5A623"/>
                          </a:solidFill>
                          <a:latin typeface="+mn-lt"/>
                          <a:ea typeface="+mn-ea"/>
                          <a:cs typeface="+mn-cs"/>
                        </a:rPr>
                        <a:t>21128 valeurs uniques , présence d’un ‘@’ et d’un ‘.’</a:t>
                      </a:r>
                      <a:endParaRPr sz="110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Trois directions, trois définitions du « client actif »</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12</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S1 · US-09</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PROFILAGE ET DIAGNOSTIC · 20 %</a:t>
            </a:r>
          </a:p>
        </p:txBody>
      </p:sp>
      <p:sp>
        <p:nvSpPr>
          <p:cNvPr id="28" name="Attendu"/>
          <p:cNvSpPr/>
          <p:nvPr/>
        </p:nvSpPr>
        <p:spPr>
          <a:xfrm>
            <a:off x="640080" y="1334347"/>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dirty="0">
                <a:solidFill>
                  <a:srgbClr val="F7F6F2"/>
                </a:solidFill>
                <a:latin typeface="Inter"/>
              </a:rPr>
              <a:t>Le </a:t>
            </a:r>
            <a:r>
              <a:rPr sz="1300" b="1" i="0" dirty="0" err="1">
                <a:solidFill>
                  <a:srgbClr val="F5A623"/>
                </a:solidFill>
                <a:latin typeface="Inter"/>
              </a:rPr>
              <a:t>nombre</a:t>
            </a:r>
            <a:r>
              <a:rPr sz="1300" b="1" i="0" dirty="0">
                <a:solidFill>
                  <a:srgbClr val="F5A623"/>
                </a:solidFill>
                <a:latin typeface="Inter"/>
              </a:rPr>
              <a:t> de clients </a:t>
            </a:r>
            <a:r>
              <a:rPr sz="1300" b="1" i="0" dirty="0" err="1">
                <a:solidFill>
                  <a:srgbClr val="F5A623"/>
                </a:solidFill>
                <a:latin typeface="Inter"/>
              </a:rPr>
              <a:t>actifs</a:t>
            </a:r>
            <a:r>
              <a:rPr sz="1300" b="0" i="0" dirty="0">
                <a:solidFill>
                  <a:srgbClr val="F7F6F2"/>
                </a:solidFill>
                <a:latin typeface="Inter"/>
              </a:rPr>
              <a:t> </a:t>
            </a:r>
            <a:r>
              <a:rPr sz="1300" b="0" i="0" dirty="0" err="1">
                <a:solidFill>
                  <a:srgbClr val="F7F6F2"/>
                </a:solidFill>
                <a:latin typeface="Inter"/>
              </a:rPr>
              <a:t>selon</a:t>
            </a:r>
            <a:r>
              <a:rPr sz="1300" b="0" i="0" dirty="0">
                <a:solidFill>
                  <a:srgbClr val="F7F6F2"/>
                </a:solidFill>
                <a:latin typeface="Inter"/>
              </a:rPr>
              <a:t> </a:t>
            </a:r>
            <a:r>
              <a:rPr sz="1300" b="0" i="0" dirty="0" err="1">
                <a:solidFill>
                  <a:srgbClr val="F7F6F2"/>
                </a:solidFill>
                <a:latin typeface="Inter"/>
              </a:rPr>
              <a:t>chaque</a:t>
            </a:r>
            <a:r>
              <a:rPr sz="1300" b="0" i="0" dirty="0">
                <a:solidFill>
                  <a:srgbClr val="F7F6F2"/>
                </a:solidFill>
                <a:latin typeface="Inter"/>
              </a:rPr>
              <a:t> direction, avec la </a:t>
            </a:r>
            <a:r>
              <a:rPr sz="1300" b="0" i="0" dirty="0" err="1">
                <a:solidFill>
                  <a:srgbClr val="F7F6F2"/>
                </a:solidFill>
                <a:latin typeface="Inter"/>
              </a:rPr>
              <a:t>définition</a:t>
            </a:r>
            <a:r>
              <a:rPr sz="1300" b="0" i="0" dirty="0">
                <a:solidFill>
                  <a:srgbClr val="F7F6F2"/>
                </a:solidFill>
                <a:latin typeface="Inter"/>
              </a:rPr>
              <a:t> </a:t>
            </a:r>
            <a:r>
              <a:rPr sz="1300" b="0" i="0" dirty="0" err="1">
                <a:solidFill>
                  <a:srgbClr val="F7F6F2"/>
                </a:solidFill>
                <a:latin typeface="Inter"/>
              </a:rPr>
              <a:t>utilisée</a:t>
            </a:r>
            <a:r>
              <a:rPr sz="1300" b="0" i="0" dirty="0">
                <a:solidFill>
                  <a:srgbClr val="F7F6F2"/>
                </a:solidFill>
                <a:latin typeface="Inter"/>
              </a:rPr>
              <a:t>.</a:t>
            </a:r>
          </a:p>
          <a:p>
            <a:pPr marL="182880" indent="-182880">
              <a:lnSpc>
                <a:spcPct val="108000"/>
              </a:lnSpc>
              <a:spcAft>
                <a:spcPts val="300"/>
              </a:spcAft>
              <a:buClr>
                <a:srgbClr val="F5A623"/>
              </a:buClr>
              <a:buChar char="•"/>
            </a:pPr>
            <a:r>
              <a:rPr sz="1300" b="0" i="0" dirty="0" err="1">
                <a:solidFill>
                  <a:srgbClr val="F7F6F2"/>
                </a:solidFill>
                <a:latin typeface="Inter"/>
              </a:rPr>
              <a:t>L'</a:t>
            </a:r>
            <a:r>
              <a:rPr sz="1300" b="1" i="0" dirty="0" err="1">
                <a:solidFill>
                  <a:srgbClr val="F5A623"/>
                </a:solidFill>
                <a:latin typeface="Inter"/>
              </a:rPr>
              <a:t>écart</a:t>
            </a:r>
            <a:r>
              <a:rPr sz="1300" b="0" i="0" dirty="0">
                <a:solidFill>
                  <a:srgbClr val="F7F6F2"/>
                </a:solidFill>
                <a:latin typeface="Inter"/>
              </a:rPr>
              <a:t> avec la </a:t>
            </a:r>
            <a:r>
              <a:rPr sz="1300" b="0" i="0" dirty="0" err="1">
                <a:solidFill>
                  <a:srgbClr val="F7F6F2"/>
                </a:solidFill>
                <a:latin typeface="Inter"/>
              </a:rPr>
              <a:t>définition</a:t>
            </a:r>
            <a:r>
              <a:rPr sz="1300" b="0" i="0" dirty="0">
                <a:solidFill>
                  <a:srgbClr val="F7F6F2"/>
                </a:solidFill>
                <a:latin typeface="Inter"/>
              </a:rPr>
              <a:t> de la fiche </a:t>
            </a:r>
            <a:r>
              <a:rPr sz="1300" b="1" i="0" dirty="0">
                <a:solidFill>
                  <a:srgbClr val="F5A623"/>
                </a:solidFill>
                <a:latin typeface="Inter"/>
              </a:rPr>
              <a:t>CD-001</a:t>
            </a:r>
            <a:r>
              <a:rPr sz="1300" b="0" i="0" dirty="0">
                <a:solidFill>
                  <a:srgbClr val="F7F6F2"/>
                </a:solidFill>
                <a:latin typeface="Inter"/>
              </a:rPr>
              <a:t>, et la </a:t>
            </a:r>
            <a:r>
              <a:rPr sz="1300" b="0" i="0" dirty="0" err="1">
                <a:solidFill>
                  <a:srgbClr val="F7F6F2"/>
                </a:solidFill>
                <a:latin typeface="Inter"/>
              </a:rPr>
              <a:t>conséquence</a:t>
            </a:r>
            <a:r>
              <a:rPr sz="1300" b="0" i="0" dirty="0">
                <a:solidFill>
                  <a:srgbClr val="F7F6F2"/>
                </a:solidFill>
                <a:latin typeface="Inter"/>
              </a:rPr>
              <a:t> pour la </a:t>
            </a:r>
            <a:r>
              <a:rPr sz="1300" b="0" i="0" dirty="0" err="1">
                <a:solidFill>
                  <a:srgbClr val="F7F6F2"/>
                </a:solidFill>
                <a:latin typeface="Inter"/>
              </a:rPr>
              <a:t>gouvernance</a:t>
            </a:r>
            <a:r>
              <a:rPr sz="1300" b="0" i="0" dirty="0">
                <a:solidFill>
                  <a:srgbClr val="F7F6F2"/>
                </a:solidFill>
                <a:latin typeface="Inter"/>
              </a:rPr>
              <a:t>.</a:t>
            </a:r>
          </a:p>
        </p:txBody>
      </p:sp>
      <p:graphicFrame>
        <p:nvGraphicFramePr>
          <p:cNvPr id="33" name="Table 32"/>
          <p:cNvGraphicFramePr>
            <a:graphicFrameLocks noGrp="1"/>
          </p:cNvGraphicFramePr>
          <p:nvPr>
            <p:extLst>
              <p:ext uri="{D42A27DB-BD31-4B8C-83A1-F6EECF244321}">
                <p14:modId xmlns:p14="http://schemas.microsoft.com/office/powerpoint/2010/main" val="1936255571"/>
              </p:ext>
            </p:extLst>
          </p:nvPr>
        </p:nvGraphicFramePr>
        <p:xfrm>
          <a:off x="572347" y="2478567"/>
          <a:ext cx="10908792" cy="2529840"/>
        </p:xfrm>
        <a:graphic>
          <a:graphicData uri="http://schemas.openxmlformats.org/drawingml/2006/table">
            <a:tbl>
              <a:tblPr/>
              <a:tblGrid>
                <a:gridCol w="1053253">
                  <a:extLst>
                    <a:ext uri="{9D8B030D-6E8A-4147-A177-3AD203B41FA5}">
                      <a16:colId xmlns:a16="http://schemas.microsoft.com/office/drawing/2014/main" val="20000"/>
                    </a:ext>
                  </a:extLst>
                </a:gridCol>
                <a:gridCol w="5122334">
                  <a:extLst>
                    <a:ext uri="{9D8B030D-6E8A-4147-A177-3AD203B41FA5}">
                      <a16:colId xmlns:a16="http://schemas.microsoft.com/office/drawing/2014/main" val="20001"/>
                    </a:ext>
                  </a:extLst>
                </a:gridCol>
                <a:gridCol w="812800">
                  <a:extLst>
                    <a:ext uri="{9D8B030D-6E8A-4147-A177-3AD203B41FA5}">
                      <a16:colId xmlns:a16="http://schemas.microsoft.com/office/drawing/2014/main" val="20002"/>
                    </a:ext>
                  </a:extLst>
                </a:gridCol>
                <a:gridCol w="3920405">
                  <a:extLst>
                    <a:ext uri="{9D8B030D-6E8A-4147-A177-3AD203B41FA5}">
                      <a16:colId xmlns:a16="http://schemas.microsoft.com/office/drawing/2014/main" val="20003"/>
                    </a:ext>
                  </a:extLst>
                </a:gridCol>
              </a:tblGrid>
              <a:tr h="384048">
                <a:tc>
                  <a:txBody>
                    <a:bodyPr/>
                    <a:lstStyle/>
                    <a:p>
                      <a:r>
                        <a:rPr sz="1100" b="1" i="0" spc="60">
                          <a:solidFill>
                            <a:srgbClr val="F5A623"/>
                          </a:solidFill>
                          <a:latin typeface="Inter"/>
                        </a:rPr>
                        <a:t>Direction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dirty="0" err="1">
                          <a:solidFill>
                            <a:srgbClr val="F5A623"/>
                          </a:solidFill>
                          <a:latin typeface="Inter"/>
                        </a:rPr>
                        <a:t>Définition</a:t>
                      </a:r>
                      <a:r>
                        <a:rPr sz="1100" b="1" i="0" spc="60" dirty="0">
                          <a:solidFill>
                            <a:srgbClr val="F5A623"/>
                          </a:solidFill>
                          <a:latin typeface="Inter"/>
                        </a:rPr>
                        <a:t> </a:t>
                      </a:r>
                      <a:r>
                        <a:rPr sz="1100" b="1" i="0" spc="60" dirty="0" err="1">
                          <a:solidFill>
                            <a:srgbClr val="F5A623"/>
                          </a:solidFill>
                          <a:latin typeface="Inter"/>
                        </a:rPr>
                        <a:t>utilisée</a:t>
                      </a:r>
                      <a:endParaRPr sz="1100" b="1" i="0" spc="6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Nombre de clients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Écart avec CD-001</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84048">
                <a:tc>
                  <a:txBody>
                    <a:bodyPr/>
                    <a:lstStyle/>
                    <a:p>
                      <a:r>
                        <a:rPr sz="1200" b="1" i="0">
                          <a:solidFill>
                            <a:srgbClr val="F7F6F2"/>
                          </a:solidFill>
                          <a:latin typeface="Inter"/>
                        </a:rPr>
                        <a:t>Commerciale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mn-lt"/>
                        </a:rPr>
                        <a:t>Au moins un contrat, même expiré ou sans activité récente.</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50 508</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Définition large qui peut surestimer le périmètre client et gonfler les </a:t>
                      </a:r>
                      <a:r>
                        <a:rPr lang="fr-FR" sz="1200" b="0" i="0" dirty="0" err="1">
                          <a:solidFill>
                            <a:srgbClr val="F5A623"/>
                          </a:solidFill>
                          <a:latin typeface="+mn-lt"/>
                        </a:rPr>
                        <a:t>reportings</a:t>
                      </a:r>
                      <a:r>
                        <a:rPr lang="fr-FR" sz="1200" b="0" i="0" dirty="0">
                          <a:solidFill>
                            <a:srgbClr val="F5A623"/>
                          </a:solidFill>
                          <a:latin typeface="+mn-lt"/>
                        </a:rPr>
                        <a:t> commerciaux.</a:t>
                      </a:r>
                    </a:p>
                    <a:p>
                      <a:r>
                        <a:rPr lang="fr-FR" sz="1200" b="0" i="0" dirty="0">
                          <a:solidFill>
                            <a:srgbClr val="F5A623"/>
                          </a:solidFill>
                          <a:latin typeface="+mn-lt"/>
                        </a:rPr>
                        <a:t> +35 548 d’ écart avec CD-001</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84048">
                <a:tc>
                  <a:txBody>
                    <a:bodyPr/>
                    <a:lstStyle/>
                    <a:p>
                      <a:r>
                        <a:rPr sz="1200" b="1" i="0">
                          <a:solidFill>
                            <a:srgbClr val="F7F6F2"/>
                          </a:solidFill>
                          <a:latin typeface="Inter"/>
                        </a:rPr>
                        <a:t>Sinistres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200" b="0" i="0" dirty="0">
                          <a:solidFill>
                            <a:srgbClr val="F5A623"/>
                          </a:solidFill>
                          <a:latin typeface="+mn-lt"/>
                        </a:rPr>
                        <a:t>Au moins un contrat en cours à la date de référence.</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15 183</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Définition adaptée à la gestion des sinistres, avec un périmètre nettement plus restreint.</a:t>
                      </a:r>
                    </a:p>
                    <a:p>
                      <a:r>
                        <a:rPr lang="fr-FR" sz="1200" b="0" i="0" dirty="0">
                          <a:solidFill>
                            <a:srgbClr val="F5A623"/>
                          </a:solidFill>
                          <a:latin typeface="+mn-lt"/>
                        </a:rPr>
                        <a:t>+223 d’écart avec CD-001</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84048">
                <a:tc>
                  <a:txBody>
                    <a:bodyPr/>
                    <a:lstStyle/>
                    <a:p>
                      <a:r>
                        <a:rPr sz="1200" b="1" i="0">
                          <a:solidFill>
                            <a:srgbClr val="F7F6F2"/>
                          </a:solidFill>
                          <a:latin typeface="Inter"/>
                        </a:rPr>
                        <a:t>Risques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a:solidFill>
                            <a:srgbClr val="F5A623"/>
                          </a:solidFill>
                          <a:latin typeface="+mn-lt"/>
                        </a:rPr>
                        <a:t>Au moins un contrat en cours et une cotisation à jour dans les trois derniers mois.</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14 960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Définition plus stricte, adaptée à l’analyse du risque. L’écart avec la définition commerciale révèle un manque d’harmonisation.</a:t>
                      </a:r>
                    </a:p>
                    <a:p>
                      <a:r>
                        <a:rPr lang="fr-FR" sz="1200" b="0" i="0" dirty="0">
                          <a:solidFill>
                            <a:srgbClr val="F5A623"/>
                          </a:solidFill>
                          <a:latin typeface="+mn-lt"/>
                        </a:rPr>
                        <a:t>0 d’écart avec CD-001</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bl>
          </a:graphicData>
        </a:graphic>
      </p:graphicFrame>
      <p:sp>
        <p:nvSpPr>
          <p:cNvPr id="34" name="TextBox 33"/>
          <p:cNvSpPr txBox="1"/>
          <p:nvPr/>
        </p:nvSpPr>
        <p:spPr>
          <a:xfrm>
            <a:off x="572347" y="5053314"/>
            <a:ext cx="10908792" cy="256032"/>
          </a:xfrm>
          <a:prstGeom prst="rect">
            <a:avLst/>
          </a:prstGeom>
          <a:noFill/>
        </p:spPr>
        <p:txBody>
          <a:bodyPr wrap="square" lIns="0" tIns="0" rIns="0" bIns="0" anchor="ctr">
            <a:spAutoFit/>
          </a:bodyPr>
          <a:lstStyle/>
          <a:p>
            <a:pPr>
              <a:lnSpc>
                <a:spcPct val="108000"/>
              </a:lnSpc>
              <a:spcAft>
                <a:spcPts val="400"/>
              </a:spcAft>
            </a:pPr>
            <a:r>
              <a:rPr sz="1100" b="1" i="0" spc="120" dirty="0">
                <a:solidFill>
                  <a:srgbClr val="F5A623"/>
                </a:solidFill>
                <a:latin typeface="Inter"/>
              </a:rPr>
              <a:t>CONSÉQUENCE POUR LA GOUVERNANCE, EN TROIS PHRASES</a:t>
            </a:r>
          </a:p>
        </p:txBody>
      </p:sp>
      <p:sp>
        <p:nvSpPr>
          <p:cNvPr id="35" name="Zone à rédiger"/>
          <p:cNvSpPr/>
          <p:nvPr/>
        </p:nvSpPr>
        <p:spPr>
          <a:xfrm>
            <a:off x="572347" y="5354254"/>
            <a:ext cx="10908792" cy="979626"/>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lang="fr-FR" sz="1200" i="1" dirty="0">
                <a:solidFill>
                  <a:srgbClr val="8E99A4"/>
                </a:solidFill>
                <a:latin typeface="Inter"/>
              </a:rPr>
              <a:t>Les trois directions n’utilisent pas la même définition du “client actif”, ce qui explique les écarts importants entre leurs chiffres : 50 508 pour Commerciale, 15 183 pour Sinistres et 14 960 pour Risques. Ces différences créent des </a:t>
            </a:r>
            <a:r>
              <a:rPr lang="fr-FR" sz="1200" i="1" dirty="0" err="1">
                <a:solidFill>
                  <a:srgbClr val="8E99A4"/>
                </a:solidFill>
                <a:latin typeface="Inter"/>
              </a:rPr>
              <a:t>reportings</a:t>
            </a:r>
            <a:r>
              <a:rPr lang="fr-FR" sz="1200" i="1" dirty="0">
                <a:solidFill>
                  <a:srgbClr val="8E99A4"/>
                </a:solidFill>
                <a:latin typeface="Inter"/>
              </a:rPr>
              <a:t> qui ne sont pas alignés et rendent les décisions difficiles, car chacun travaille avec une base de clients différente. Pour améliorer la gouvernance, il devient essentiel de choisir une définition commune afin que toutes les directions utilisent les mêmes règles et puissent piloter l’activité de manière cohérente.</a:t>
            </a:r>
          </a:p>
          <a:p>
            <a:pPr algn="l"/>
            <a:endParaRPr lang="fr-FR" sz="1200" i="1" dirty="0">
              <a:solidFill>
                <a:srgbClr val="8E99A4"/>
              </a:solidFill>
              <a:latin typeface="Inter"/>
            </a:endParaRPr>
          </a:p>
          <a:p>
            <a:pPr algn="l"/>
            <a:endParaRPr lang="fr-FR" sz="1200" i="1" dirty="0">
              <a:solidFill>
                <a:srgbClr val="8E99A4"/>
              </a:solidFill>
              <a:latin typeface="Inter"/>
            </a:endParaRPr>
          </a:p>
          <a:p>
            <a:r>
              <a:rPr lang="fr-FR" sz="1200" i="1" dirty="0">
                <a:solidFill>
                  <a:srgbClr val="8E99A4"/>
                </a:solidFill>
              </a:rPr>
              <a:t>https://github.com/ruthabebeneg/td-qualite-g02/blob/main/notebooks/US-09_client_actif.ipynb</a:t>
            </a:r>
            <a:endParaRPr lang="fr-FR" sz="1200" i="1" dirty="0">
              <a:solidFill>
                <a:srgbClr val="8E99A4"/>
              </a:solidFill>
              <a:latin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dirty="0"/>
              <a:t>Bilan de S1 : </a:t>
            </a:r>
            <a:r>
              <a:rPr sz="2800" dirty="0" err="1"/>
              <a:t>critères</a:t>
            </a:r>
            <a:r>
              <a:rPr sz="2800" dirty="0"/>
              <a:t> de fin et </a:t>
            </a:r>
            <a:r>
              <a:rPr sz="2800" dirty="0" err="1"/>
              <a:t>difficultés</a:t>
            </a:r>
            <a:endParaRPr sz="2800" dirty="0"/>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13</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S1 · BILAN</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PROFILAGE ET DIAGNOSTIC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Chaque critère coché est </a:t>
            </a:r>
            <a:r>
              <a:rPr sz="1300" b="1" i="0">
                <a:solidFill>
                  <a:srgbClr val="F5A623"/>
                </a:solidFill>
                <a:latin typeface="Inter"/>
              </a:rPr>
              <a:t>démontré</a:t>
            </a:r>
            <a:r>
              <a:rPr sz="1300" b="0" i="0">
                <a:solidFill>
                  <a:srgbClr val="F7F6F2"/>
                </a:solidFill>
                <a:latin typeface="Inter"/>
              </a:rPr>
              <a:t> par une page de ce livrable ou par un fichier du dépôt.</a:t>
            </a:r>
          </a:p>
          <a:p>
            <a:pPr marL="182880" indent="-182880">
              <a:lnSpc>
                <a:spcPct val="108000"/>
              </a:lnSpc>
              <a:spcAft>
                <a:spcPts val="300"/>
              </a:spcAft>
              <a:buClr>
                <a:srgbClr val="F5A623"/>
              </a:buClr>
              <a:buChar char="•"/>
            </a:pPr>
            <a:r>
              <a:rPr sz="1300" b="0" i="0">
                <a:solidFill>
                  <a:srgbClr val="F7F6F2"/>
                </a:solidFill>
                <a:latin typeface="Inter"/>
              </a:rPr>
              <a:t>Les difficultés sont </a:t>
            </a:r>
            <a:r>
              <a:rPr sz="1300" b="1" i="0">
                <a:solidFill>
                  <a:srgbClr val="F5A623"/>
                </a:solidFill>
                <a:latin typeface="Inter"/>
              </a:rPr>
              <a:t>chiffrées en temps perdu</a:t>
            </a:r>
            <a:r>
              <a:rPr sz="1300" b="0" i="0">
                <a:solidFill>
                  <a:srgbClr val="F7F6F2"/>
                </a:solidFill>
                <a:latin typeface="Inter"/>
              </a:rPr>
              <a:t> ; un point de reprise utilisé est </a:t>
            </a:r>
            <a:r>
              <a:rPr sz="1300" b="1" i="0">
                <a:solidFill>
                  <a:srgbClr val="F5A623"/>
                </a:solidFill>
                <a:latin typeface="Inter"/>
              </a:rPr>
              <a:t>déclaré</a:t>
            </a:r>
            <a:r>
              <a:rPr sz="1300" b="0" i="0">
                <a:solidFill>
                  <a:srgbClr val="F7F6F2"/>
                </a:solidFill>
                <a:latin typeface="Inter"/>
              </a:rPr>
              <a:t>.</a:t>
            </a:r>
          </a:p>
        </p:txBody>
      </p:sp>
      <p:sp>
        <p:nvSpPr>
          <p:cNvPr id="33" name="Rectangle 32"/>
          <p:cNvSpPr/>
          <p:nvPr/>
        </p:nvSpPr>
        <p:spPr>
          <a:xfrm>
            <a:off x="640080" y="2579827"/>
            <a:ext cx="5120640" cy="354665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Icône ok" descr="Icône ok"/>
          <p:cNvPicPr>
            <a:picLocks noChangeAspect="1"/>
          </p:cNvPicPr>
          <p:nvPr/>
        </p:nvPicPr>
        <p:blipFill>
          <a:blip r:embed="rId4"/>
          <a:stretch>
            <a:fillRect/>
          </a:stretch>
        </p:blipFill>
        <p:spPr>
          <a:xfrm>
            <a:off x="868680" y="2735275"/>
            <a:ext cx="310896" cy="310896"/>
          </a:xfrm>
          <a:prstGeom prst="rect">
            <a:avLst/>
          </a:prstGeom>
        </p:spPr>
      </p:pic>
      <p:sp>
        <p:nvSpPr>
          <p:cNvPr id="35" name="TextBox 34"/>
          <p:cNvSpPr txBox="1"/>
          <p:nvPr/>
        </p:nvSpPr>
        <p:spPr>
          <a:xfrm>
            <a:off x="1289304" y="2753563"/>
            <a:ext cx="4572000" cy="274320"/>
          </a:xfrm>
          <a:prstGeom prst="rect">
            <a:avLst/>
          </a:prstGeom>
          <a:noFill/>
        </p:spPr>
        <p:txBody>
          <a:bodyPr wrap="square" lIns="0" tIns="0" rIns="0" bIns="0" anchor="ctr">
            <a:spAutoFit/>
          </a:bodyPr>
          <a:lstStyle/>
          <a:p>
            <a:pPr>
              <a:lnSpc>
                <a:spcPct val="108000"/>
              </a:lnSpc>
              <a:spcAft>
                <a:spcPts val="400"/>
              </a:spcAft>
            </a:pPr>
            <a:r>
              <a:rPr sz="1300" b="1" i="0" spc="120">
                <a:solidFill>
                  <a:srgbClr val="F7F6F2"/>
                </a:solidFill>
                <a:latin typeface="Inter"/>
              </a:rPr>
              <a:t>CRITÈRES DE FIN</a:t>
            </a:r>
          </a:p>
        </p:txBody>
      </p:sp>
      <p:sp>
        <p:nvSpPr>
          <p:cNvPr id="36" name="TextBox 35"/>
          <p:cNvSpPr txBox="1"/>
          <p:nvPr/>
        </p:nvSpPr>
        <p:spPr>
          <a:xfrm>
            <a:off x="868680" y="3219907"/>
            <a:ext cx="4663440" cy="1803442"/>
          </a:xfrm>
          <a:prstGeom prst="rect">
            <a:avLst/>
          </a:prstGeom>
          <a:noFill/>
        </p:spPr>
        <p:txBody>
          <a:bodyPr wrap="square" lIns="0" tIns="0" rIns="0" bIns="0" anchor="t">
            <a:spAutoFit/>
          </a:bodyPr>
          <a:lstStyle/>
          <a:p>
            <a:pPr>
              <a:lnSpc>
                <a:spcPct val="108000"/>
              </a:lnSpc>
              <a:spcAft>
                <a:spcPts val="700"/>
              </a:spcAft>
            </a:pPr>
            <a:r>
              <a:rPr sz="1250" b="0" i="0" dirty="0">
                <a:solidFill>
                  <a:srgbClr val="F7F6F2"/>
                </a:solidFill>
                <a:latin typeface="Consolas"/>
              </a:rPr>
              <a:t>[ </a:t>
            </a:r>
            <a:r>
              <a:rPr lang="fr-FR" sz="1250" b="0" i="0" dirty="0">
                <a:solidFill>
                  <a:srgbClr val="F7F6F2"/>
                </a:solidFill>
                <a:latin typeface="Consolas"/>
              </a:rPr>
              <a:t>ok</a:t>
            </a:r>
            <a:r>
              <a:rPr sz="1250" b="0" i="0" dirty="0">
                <a:solidFill>
                  <a:srgbClr val="F7F6F2"/>
                </a:solidFill>
                <a:latin typeface="Consolas"/>
              </a:rPr>
              <a:t>]</a:t>
            </a:r>
            <a:r>
              <a:rPr sz="1250" b="0" i="0" dirty="0">
                <a:solidFill>
                  <a:srgbClr val="F7F6F2"/>
                </a:solidFill>
                <a:latin typeface="Inter"/>
              </a:rPr>
              <a:t> Les sept tables bronze existent et </a:t>
            </a:r>
            <a:r>
              <a:rPr sz="1250" b="0" i="0" dirty="0" err="1">
                <a:solidFill>
                  <a:srgbClr val="F7F6F2"/>
                </a:solidFill>
                <a:latin typeface="Inter"/>
              </a:rPr>
              <a:t>chaque</a:t>
            </a:r>
            <a:r>
              <a:rPr sz="1250" b="0" i="0" dirty="0">
                <a:solidFill>
                  <a:srgbClr val="F7F6F2"/>
                </a:solidFill>
                <a:latin typeface="Inter"/>
              </a:rPr>
              <a:t> </a:t>
            </a:r>
            <a:r>
              <a:rPr sz="1250" b="0" i="0" dirty="0" err="1">
                <a:solidFill>
                  <a:srgbClr val="F7F6F2"/>
                </a:solidFill>
                <a:latin typeface="Inter"/>
              </a:rPr>
              <a:t>ligne</a:t>
            </a:r>
            <a:r>
              <a:rPr sz="1250" b="0" i="0" dirty="0">
                <a:solidFill>
                  <a:srgbClr val="F7F6F2"/>
                </a:solidFill>
                <a:latin typeface="Inter"/>
              </a:rPr>
              <a:t> </a:t>
            </a:r>
            <a:r>
              <a:rPr sz="1250" b="0" i="0" dirty="0" err="1">
                <a:solidFill>
                  <a:srgbClr val="F7F6F2"/>
                </a:solidFill>
                <a:latin typeface="Inter"/>
              </a:rPr>
              <a:t>porte</a:t>
            </a:r>
            <a:r>
              <a:rPr sz="1250" b="0" i="0" dirty="0">
                <a:solidFill>
                  <a:srgbClr val="F7F6F2"/>
                </a:solidFill>
                <a:latin typeface="Inter"/>
              </a:rPr>
              <a:t> </a:t>
            </a:r>
            <a:r>
              <a:rPr sz="1250" b="0" i="0" dirty="0" err="1">
                <a:solidFill>
                  <a:srgbClr val="F7F6F2"/>
                </a:solidFill>
                <a:latin typeface="Inter"/>
              </a:rPr>
              <a:t>ses</a:t>
            </a:r>
            <a:r>
              <a:rPr sz="1250" b="0" i="0" dirty="0">
                <a:solidFill>
                  <a:srgbClr val="F7F6F2"/>
                </a:solidFill>
                <a:latin typeface="Inter"/>
              </a:rPr>
              <a:t> quatre </a:t>
            </a:r>
            <a:r>
              <a:rPr sz="1250" b="0" i="0" dirty="0" err="1">
                <a:solidFill>
                  <a:srgbClr val="F7F6F2"/>
                </a:solidFill>
                <a:latin typeface="Inter"/>
              </a:rPr>
              <a:t>métadonnées</a:t>
            </a:r>
            <a:r>
              <a:rPr sz="1250" b="0" i="0" dirty="0">
                <a:solidFill>
                  <a:srgbClr val="F7F6F2"/>
                </a:solidFill>
                <a:latin typeface="Inter"/>
              </a:rPr>
              <a:t>.</a:t>
            </a:r>
          </a:p>
          <a:p>
            <a:pPr>
              <a:lnSpc>
                <a:spcPct val="108000"/>
              </a:lnSpc>
              <a:spcAft>
                <a:spcPts val="700"/>
              </a:spcAft>
            </a:pPr>
            <a:r>
              <a:rPr sz="1250" b="0" i="0" dirty="0">
                <a:solidFill>
                  <a:srgbClr val="F7F6F2"/>
                </a:solidFill>
                <a:latin typeface="Consolas"/>
              </a:rPr>
              <a:t>[</a:t>
            </a:r>
            <a:r>
              <a:rPr lang="fr-FR" sz="1250" b="0" i="0" dirty="0">
                <a:solidFill>
                  <a:srgbClr val="F7F6F2"/>
                </a:solidFill>
                <a:latin typeface="Consolas"/>
              </a:rPr>
              <a:t>ok</a:t>
            </a:r>
            <a:r>
              <a:rPr sz="1250" b="0" i="0" dirty="0">
                <a:solidFill>
                  <a:srgbClr val="F7F6F2"/>
                </a:solidFill>
                <a:latin typeface="Consolas"/>
              </a:rPr>
              <a:t>]</a:t>
            </a:r>
            <a:r>
              <a:rPr sz="1250" b="0" i="0" dirty="0">
                <a:solidFill>
                  <a:srgbClr val="F7F6F2"/>
                </a:solidFill>
                <a:latin typeface="Inter"/>
              </a:rPr>
              <a:t> La </a:t>
            </a:r>
            <a:r>
              <a:rPr sz="1250" b="0" i="0" dirty="0" err="1">
                <a:solidFill>
                  <a:srgbClr val="F7F6F2"/>
                </a:solidFill>
                <a:latin typeface="Inter"/>
              </a:rPr>
              <a:t>porte</a:t>
            </a:r>
            <a:r>
              <a:rPr sz="1250" b="0" i="0" dirty="0">
                <a:solidFill>
                  <a:srgbClr val="F7F6F2"/>
                </a:solidFill>
                <a:latin typeface="Inter"/>
              </a:rPr>
              <a:t> B ne montre </a:t>
            </a:r>
            <a:r>
              <a:rPr sz="1250" b="0" i="0" dirty="0" err="1">
                <a:solidFill>
                  <a:srgbClr val="F7F6F2"/>
                </a:solidFill>
                <a:latin typeface="Inter"/>
              </a:rPr>
              <a:t>aucun</a:t>
            </a:r>
            <a:r>
              <a:rPr sz="1250" b="0" i="0" dirty="0">
                <a:solidFill>
                  <a:srgbClr val="F7F6F2"/>
                </a:solidFill>
                <a:latin typeface="Inter"/>
              </a:rPr>
              <a:t> </a:t>
            </a:r>
            <a:r>
              <a:rPr sz="1250" b="0" i="0" dirty="0" err="1">
                <a:solidFill>
                  <a:srgbClr val="F7F6F2"/>
                </a:solidFill>
                <a:latin typeface="Inter"/>
              </a:rPr>
              <a:t>écart</a:t>
            </a:r>
            <a:r>
              <a:rPr sz="1250" b="0" i="0" dirty="0">
                <a:solidFill>
                  <a:srgbClr val="F7F6F2"/>
                </a:solidFill>
                <a:latin typeface="Inter"/>
              </a:rPr>
              <a:t> de </a:t>
            </a:r>
            <a:r>
              <a:rPr sz="1250" b="0" i="0" dirty="0" err="1">
                <a:solidFill>
                  <a:srgbClr val="F7F6F2"/>
                </a:solidFill>
                <a:latin typeface="Inter"/>
              </a:rPr>
              <a:t>comptage</a:t>
            </a:r>
            <a:r>
              <a:rPr sz="1250" b="0" i="0" dirty="0">
                <a:solidFill>
                  <a:srgbClr val="F7F6F2"/>
                </a:solidFill>
                <a:latin typeface="Inter"/>
              </a:rPr>
              <a:t> </a:t>
            </a:r>
            <a:r>
              <a:rPr sz="1250" b="0" i="0" dirty="0" err="1">
                <a:solidFill>
                  <a:srgbClr val="F7F6F2"/>
                </a:solidFill>
                <a:latin typeface="Inter"/>
              </a:rPr>
              <a:t>ni</a:t>
            </a:r>
            <a:r>
              <a:rPr sz="1250" b="0" i="0" dirty="0">
                <a:solidFill>
                  <a:srgbClr val="F7F6F2"/>
                </a:solidFill>
                <a:latin typeface="Inter"/>
              </a:rPr>
              <a:t> de </a:t>
            </a:r>
            <a:r>
              <a:rPr sz="1250" b="0" i="0" dirty="0" err="1">
                <a:solidFill>
                  <a:srgbClr val="F7F6F2"/>
                </a:solidFill>
                <a:latin typeface="Inter"/>
              </a:rPr>
              <a:t>somme</a:t>
            </a:r>
            <a:r>
              <a:rPr sz="1250" b="0" i="0" dirty="0">
                <a:solidFill>
                  <a:srgbClr val="F7F6F2"/>
                </a:solidFill>
                <a:latin typeface="Inter"/>
              </a:rPr>
              <a:t> de </a:t>
            </a:r>
            <a:r>
              <a:rPr sz="1250" b="0" i="0" dirty="0" err="1">
                <a:solidFill>
                  <a:srgbClr val="F7F6F2"/>
                </a:solidFill>
                <a:latin typeface="Inter"/>
              </a:rPr>
              <a:t>contrôle</a:t>
            </a:r>
            <a:r>
              <a:rPr sz="1250" b="0" i="0" dirty="0">
                <a:solidFill>
                  <a:srgbClr val="F7F6F2"/>
                </a:solidFill>
                <a:latin typeface="Inter"/>
              </a:rPr>
              <a:t>.</a:t>
            </a:r>
          </a:p>
          <a:p>
            <a:pPr>
              <a:lnSpc>
                <a:spcPct val="108000"/>
              </a:lnSpc>
              <a:spcAft>
                <a:spcPts val="700"/>
              </a:spcAft>
            </a:pPr>
            <a:r>
              <a:rPr sz="1250" b="0" i="0" dirty="0">
                <a:solidFill>
                  <a:srgbClr val="F7F6F2"/>
                </a:solidFill>
                <a:latin typeface="Consolas"/>
              </a:rPr>
              <a:t>[</a:t>
            </a:r>
            <a:r>
              <a:rPr lang="fr-FR" sz="1250" b="0" i="0" dirty="0">
                <a:solidFill>
                  <a:srgbClr val="F7F6F2"/>
                </a:solidFill>
                <a:latin typeface="Consolas"/>
              </a:rPr>
              <a:t>ok</a:t>
            </a:r>
            <a:r>
              <a:rPr sz="1250" b="0" i="0" dirty="0">
                <a:solidFill>
                  <a:srgbClr val="F7F6F2"/>
                </a:solidFill>
                <a:latin typeface="Consolas"/>
              </a:rPr>
              <a:t>]</a:t>
            </a:r>
            <a:r>
              <a:rPr sz="1250" b="0" i="0" dirty="0">
                <a:solidFill>
                  <a:srgbClr val="F7F6F2"/>
                </a:solidFill>
                <a:latin typeface="Inter"/>
              </a:rPr>
              <a:t> </a:t>
            </a:r>
            <a:r>
              <a:rPr sz="1250" b="0" i="0" dirty="0" err="1">
                <a:solidFill>
                  <a:srgbClr val="F7F6F2"/>
                </a:solidFill>
                <a:latin typeface="Inter"/>
              </a:rPr>
              <a:t>Relancer</a:t>
            </a:r>
            <a:r>
              <a:rPr sz="1250" b="0" i="0" dirty="0">
                <a:solidFill>
                  <a:srgbClr val="F7F6F2"/>
                </a:solidFill>
                <a:latin typeface="Inter"/>
              </a:rPr>
              <a:t> </a:t>
            </a:r>
            <a:r>
              <a:rPr sz="1250" b="0" i="0" dirty="0" err="1">
                <a:solidFill>
                  <a:srgbClr val="F7F6F2"/>
                </a:solidFill>
                <a:latin typeface="Inter"/>
              </a:rPr>
              <a:t>l'ingestion</a:t>
            </a:r>
            <a:r>
              <a:rPr sz="1250" b="0" i="0" dirty="0">
                <a:solidFill>
                  <a:srgbClr val="F7F6F2"/>
                </a:solidFill>
                <a:latin typeface="Inter"/>
              </a:rPr>
              <a:t> du </a:t>
            </a:r>
            <a:r>
              <a:rPr sz="1250" b="0" i="0" dirty="0" err="1">
                <a:solidFill>
                  <a:srgbClr val="F7F6F2"/>
                </a:solidFill>
                <a:latin typeface="Inter"/>
              </a:rPr>
              <a:t>même</a:t>
            </a:r>
            <a:r>
              <a:rPr sz="1250" b="0" i="0" dirty="0">
                <a:solidFill>
                  <a:srgbClr val="F7F6F2"/>
                </a:solidFill>
                <a:latin typeface="Inter"/>
              </a:rPr>
              <a:t> lot ne </a:t>
            </a:r>
            <a:r>
              <a:rPr sz="1250" b="0" i="0" dirty="0" err="1">
                <a:solidFill>
                  <a:srgbClr val="F7F6F2"/>
                </a:solidFill>
                <a:latin typeface="Inter"/>
              </a:rPr>
              <a:t>crée</a:t>
            </a:r>
            <a:r>
              <a:rPr sz="1250" b="0" i="0" dirty="0">
                <a:solidFill>
                  <a:srgbClr val="F7F6F2"/>
                </a:solidFill>
                <a:latin typeface="Inter"/>
              </a:rPr>
              <a:t> </a:t>
            </a:r>
            <a:r>
              <a:rPr sz="1250" b="0" i="0" dirty="0" err="1">
                <a:solidFill>
                  <a:srgbClr val="F7F6F2"/>
                </a:solidFill>
                <a:latin typeface="Inter"/>
              </a:rPr>
              <a:t>aucun</a:t>
            </a:r>
            <a:r>
              <a:rPr sz="1250" b="0" i="0" dirty="0">
                <a:solidFill>
                  <a:srgbClr val="F7F6F2"/>
                </a:solidFill>
                <a:latin typeface="Inter"/>
              </a:rPr>
              <a:t> </a:t>
            </a:r>
            <a:r>
              <a:rPr sz="1250" b="0" i="0" dirty="0" err="1">
                <a:solidFill>
                  <a:srgbClr val="F7F6F2"/>
                </a:solidFill>
                <a:latin typeface="Inter"/>
              </a:rPr>
              <a:t>doublon</a:t>
            </a:r>
            <a:r>
              <a:rPr sz="1250" b="0" i="0" dirty="0">
                <a:solidFill>
                  <a:srgbClr val="F7F6F2"/>
                </a:solidFill>
                <a:latin typeface="Inter"/>
              </a:rPr>
              <a:t>.</a:t>
            </a:r>
          </a:p>
          <a:p>
            <a:pPr>
              <a:lnSpc>
                <a:spcPct val="108000"/>
              </a:lnSpc>
              <a:spcAft>
                <a:spcPts val="700"/>
              </a:spcAft>
            </a:pPr>
            <a:r>
              <a:rPr sz="1250" b="0" i="0" dirty="0">
                <a:solidFill>
                  <a:srgbClr val="F7F6F2"/>
                </a:solidFill>
                <a:latin typeface="Consolas"/>
              </a:rPr>
              <a:t>[</a:t>
            </a:r>
            <a:r>
              <a:rPr lang="fr-FR" sz="1250" b="0" i="0" dirty="0">
                <a:solidFill>
                  <a:srgbClr val="F7F6F2"/>
                </a:solidFill>
                <a:latin typeface="Consolas"/>
              </a:rPr>
              <a:t>ok</a:t>
            </a:r>
            <a:r>
              <a:rPr sz="1250" b="0" i="0" dirty="0">
                <a:solidFill>
                  <a:srgbClr val="F7F6F2"/>
                </a:solidFill>
                <a:latin typeface="Consolas"/>
              </a:rPr>
              <a:t>]</a:t>
            </a:r>
            <a:r>
              <a:rPr sz="1250" b="0" i="0" dirty="0">
                <a:solidFill>
                  <a:srgbClr val="F7F6F2"/>
                </a:solidFill>
                <a:latin typeface="Inter"/>
              </a:rPr>
              <a:t> Un </a:t>
            </a:r>
            <a:r>
              <a:rPr sz="1250" b="0" i="0" dirty="0" err="1">
                <a:solidFill>
                  <a:srgbClr val="F7F6F2"/>
                </a:solidFill>
                <a:latin typeface="Inter"/>
              </a:rPr>
              <a:t>écart</a:t>
            </a:r>
            <a:r>
              <a:rPr sz="1250" b="0" i="0" dirty="0">
                <a:solidFill>
                  <a:srgbClr val="F7F6F2"/>
                </a:solidFill>
                <a:latin typeface="Inter"/>
              </a:rPr>
              <a:t> </a:t>
            </a:r>
            <a:r>
              <a:rPr sz="1250" b="0" i="0" dirty="0" err="1">
                <a:solidFill>
                  <a:srgbClr val="F7F6F2"/>
                </a:solidFill>
                <a:latin typeface="Inter"/>
              </a:rPr>
              <a:t>introduit</a:t>
            </a:r>
            <a:r>
              <a:rPr sz="1250" b="0" i="0" dirty="0">
                <a:solidFill>
                  <a:srgbClr val="F7F6F2"/>
                </a:solidFill>
                <a:latin typeface="Inter"/>
              </a:rPr>
              <a:t> </a:t>
            </a:r>
            <a:r>
              <a:rPr sz="1250" b="0" i="0" dirty="0" err="1">
                <a:solidFill>
                  <a:srgbClr val="F7F6F2"/>
                </a:solidFill>
                <a:latin typeface="Inter"/>
              </a:rPr>
              <a:t>volontairement</a:t>
            </a:r>
            <a:r>
              <a:rPr sz="1250" b="0" i="0" dirty="0">
                <a:solidFill>
                  <a:srgbClr val="F7F6F2"/>
                </a:solidFill>
                <a:latin typeface="Inter"/>
              </a:rPr>
              <a:t> fait </a:t>
            </a:r>
            <a:r>
              <a:rPr sz="1250" b="0" i="0" dirty="0" err="1">
                <a:solidFill>
                  <a:srgbClr val="F7F6F2"/>
                </a:solidFill>
                <a:latin typeface="Inter"/>
              </a:rPr>
              <a:t>échouer</a:t>
            </a:r>
            <a:r>
              <a:rPr sz="1250" b="0" i="0" dirty="0">
                <a:solidFill>
                  <a:srgbClr val="F7F6F2"/>
                </a:solidFill>
                <a:latin typeface="Inter"/>
              </a:rPr>
              <a:t> la </a:t>
            </a:r>
            <a:r>
              <a:rPr sz="1250" b="0" i="0" dirty="0" err="1">
                <a:solidFill>
                  <a:srgbClr val="F7F6F2"/>
                </a:solidFill>
                <a:latin typeface="Inter"/>
              </a:rPr>
              <a:t>porte</a:t>
            </a:r>
            <a:r>
              <a:rPr sz="1250" b="0" i="0" dirty="0">
                <a:solidFill>
                  <a:srgbClr val="F7F6F2"/>
                </a:solidFill>
                <a:latin typeface="Inter"/>
              </a:rPr>
              <a:t>.</a:t>
            </a:r>
          </a:p>
          <a:p>
            <a:pPr>
              <a:lnSpc>
                <a:spcPct val="108000"/>
              </a:lnSpc>
              <a:spcAft>
                <a:spcPts val="700"/>
              </a:spcAft>
            </a:pPr>
            <a:r>
              <a:rPr sz="1250" b="0" i="0" dirty="0">
                <a:solidFill>
                  <a:srgbClr val="F7F6F2"/>
                </a:solidFill>
                <a:latin typeface="Consolas"/>
              </a:rPr>
              <a:t>[ </a:t>
            </a:r>
            <a:r>
              <a:rPr lang="fr-FR" sz="1250" b="0" i="0" dirty="0">
                <a:solidFill>
                  <a:srgbClr val="F7F6F2"/>
                </a:solidFill>
                <a:latin typeface="Consolas"/>
              </a:rPr>
              <a:t>ok</a:t>
            </a:r>
            <a:r>
              <a:rPr sz="1250" b="0" i="0" dirty="0">
                <a:solidFill>
                  <a:srgbClr val="F7F6F2"/>
                </a:solidFill>
                <a:latin typeface="Consolas"/>
              </a:rPr>
              <a:t>]</a:t>
            </a:r>
            <a:r>
              <a:rPr sz="1250" b="0" i="0" dirty="0">
                <a:solidFill>
                  <a:srgbClr val="F7F6F2"/>
                </a:solidFill>
                <a:latin typeface="Inter"/>
              </a:rPr>
              <a:t> RQ-021 est </a:t>
            </a:r>
            <a:r>
              <a:rPr sz="1250" b="0" i="0" dirty="0" err="1">
                <a:solidFill>
                  <a:srgbClr val="F7F6F2"/>
                </a:solidFill>
                <a:latin typeface="Inter"/>
              </a:rPr>
              <a:t>écrite</a:t>
            </a:r>
            <a:r>
              <a:rPr sz="1250" b="0" i="0" dirty="0">
                <a:solidFill>
                  <a:srgbClr val="F7F6F2"/>
                </a:solidFill>
                <a:latin typeface="Inter"/>
              </a:rPr>
              <a:t> dans </a:t>
            </a:r>
            <a:r>
              <a:rPr sz="1250" b="0" i="0" dirty="0" err="1">
                <a:solidFill>
                  <a:srgbClr val="F7F6F2"/>
                </a:solidFill>
                <a:latin typeface="Inter"/>
              </a:rPr>
              <a:t>dq.dq_history</a:t>
            </a:r>
            <a:r>
              <a:rPr sz="1250" b="0" i="0" dirty="0">
                <a:solidFill>
                  <a:srgbClr val="F7F6F2"/>
                </a:solidFill>
                <a:latin typeface="Inter"/>
              </a:rPr>
              <a:t> (couche BRONZE).</a:t>
            </a:r>
          </a:p>
        </p:txBody>
      </p:sp>
      <p:sp>
        <p:nvSpPr>
          <p:cNvPr id="37" name="TextBox 36"/>
          <p:cNvSpPr txBox="1"/>
          <p:nvPr/>
        </p:nvSpPr>
        <p:spPr>
          <a:xfrm>
            <a:off x="640080" y="5852160"/>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Remplacez [ ] par [x] une fois le critère démontré.</a:t>
            </a:r>
          </a:p>
        </p:txBody>
      </p:sp>
      <p:sp>
        <p:nvSpPr>
          <p:cNvPr id="38" name="TextBox 37"/>
          <p:cNvSpPr txBox="1"/>
          <p:nvPr/>
        </p:nvSpPr>
        <p:spPr>
          <a:xfrm>
            <a:off x="5943600" y="257982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DIFFICULTÉS RENCONTRÉES ET TEMPS PERDU</a:t>
            </a:r>
          </a:p>
        </p:txBody>
      </p:sp>
      <p:sp>
        <p:nvSpPr>
          <p:cNvPr id="39" name="Zone à rédiger"/>
          <p:cNvSpPr/>
          <p:nvPr/>
        </p:nvSpPr>
        <p:spPr>
          <a:xfrm>
            <a:off x="5943600" y="2872435"/>
            <a:ext cx="5605272" cy="117043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lang="fr-FR" sz="1200" i="1" dirty="0">
                <a:solidFill>
                  <a:srgbClr val="8E99A4"/>
                </a:solidFill>
                <a:latin typeface="Inter"/>
              </a:rPr>
              <a:t>On a manqué de temps pour terminer la séance dans les temps, du mal à définir quelle user story allait à quel rôle. </a:t>
            </a:r>
            <a:endParaRPr sz="1200" i="1" dirty="0">
              <a:solidFill>
                <a:srgbClr val="8E99A4"/>
              </a:solidFill>
              <a:latin typeface="Inter"/>
            </a:endParaRPr>
          </a:p>
        </p:txBody>
      </p:sp>
      <p:sp>
        <p:nvSpPr>
          <p:cNvPr id="40" name="TextBox 39"/>
          <p:cNvSpPr txBox="1"/>
          <p:nvPr/>
        </p:nvSpPr>
        <p:spPr>
          <a:xfrm>
            <a:off x="5943600" y="4180027"/>
            <a:ext cx="5605272" cy="256032"/>
          </a:xfrm>
          <a:prstGeom prst="rect">
            <a:avLst/>
          </a:prstGeom>
          <a:noFill/>
        </p:spPr>
        <p:txBody>
          <a:bodyPr wrap="square" lIns="0" tIns="0" rIns="0" bIns="0" anchor="ctr">
            <a:spAutoFit/>
          </a:bodyPr>
          <a:lstStyle/>
          <a:p>
            <a:pPr>
              <a:lnSpc>
                <a:spcPct val="108000"/>
              </a:lnSpc>
              <a:spcAft>
                <a:spcPts val="400"/>
              </a:spcAft>
            </a:pPr>
            <a:r>
              <a:rPr sz="1100" b="1" i="0" spc="120" dirty="0">
                <a:solidFill>
                  <a:srgbClr val="F5A623"/>
                </a:solidFill>
                <a:latin typeface="Inter"/>
              </a:rPr>
              <a:t>POINT DE REPRISE UTILISÉ (OUI / NON, LEQUEL)</a:t>
            </a:r>
          </a:p>
        </p:txBody>
      </p:sp>
      <p:sp>
        <p:nvSpPr>
          <p:cNvPr id="41" name="Zone à rédiger"/>
          <p:cNvSpPr/>
          <p:nvPr/>
        </p:nvSpPr>
        <p:spPr>
          <a:xfrm>
            <a:off x="5943600" y="4472635"/>
            <a:ext cx="5605272" cy="62179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r>
              <a:rPr lang="fr-FR" sz="1200" i="1" dirty="0">
                <a:solidFill>
                  <a:srgbClr val="8E99A4"/>
                </a:solidFill>
              </a:rPr>
              <a:t>Comme il s’agissait de la première séance on n’avait pas de point de reprise. </a:t>
            </a:r>
          </a:p>
          <a:p>
            <a:pPr algn="l"/>
            <a:endParaRPr lang="fr-FR" sz="1200" i="1" dirty="0">
              <a:solidFill>
                <a:srgbClr val="8E99A4"/>
              </a:solidFill>
              <a:latin typeface="Inter"/>
            </a:endParaRPr>
          </a:p>
        </p:txBody>
      </p:sp>
      <p:sp>
        <p:nvSpPr>
          <p:cNvPr id="42" name="TextBox 41"/>
          <p:cNvSpPr txBox="1"/>
          <p:nvPr/>
        </p:nvSpPr>
        <p:spPr>
          <a:xfrm>
            <a:off x="5943600" y="523158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CE QUE NOUS FERIONS AUTREMENT</a:t>
            </a:r>
          </a:p>
        </p:txBody>
      </p:sp>
      <p:sp>
        <p:nvSpPr>
          <p:cNvPr id="43" name="Zone à rédiger"/>
          <p:cNvSpPr/>
          <p:nvPr/>
        </p:nvSpPr>
        <p:spPr>
          <a:xfrm>
            <a:off x="5943600" y="5524195"/>
            <a:ext cx="5605272" cy="602284"/>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lang="fr-FR" sz="1200" i="1" dirty="0">
                <a:solidFill>
                  <a:srgbClr val="8E99A4"/>
                </a:solidFill>
                <a:latin typeface="Inter"/>
              </a:rPr>
              <a:t>Communiquer plus pour pouvoir s’aider mutuellement lors d’un blocage.</a:t>
            </a:r>
            <a:endParaRPr sz="1200" i="1" dirty="0">
              <a:solidFill>
                <a:srgbClr val="8E99A4"/>
              </a:solidFill>
              <a:latin typeface="Inte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2"/>
          </p:nvPr>
        </p:nvSpPr>
        <p:spPr/>
        <p:txBody>
          <a:bodyPr/>
          <a:lstStyle/>
          <a:p>
            <a:r>
              <a:t>02</a:t>
            </a:r>
          </a:p>
        </p:txBody>
      </p:sp>
      <p:sp>
        <p:nvSpPr>
          <p:cNvPr id="3" name="Title 2"/>
          <p:cNvSpPr>
            <a:spLocks noGrp="1"/>
          </p:cNvSpPr>
          <p:nvPr>
            <p:ph type="title" idx="103"/>
          </p:nvPr>
        </p:nvSpPr>
        <p:spPr/>
        <p:txBody>
          <a:bodyPr/>
          <a:lstStyle/>
          <a:p>
            <a:r>
              <a:t>Règles en tests automatisés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14</a:t>
            </a:fld>
            <a:endParaRPr lang="en-US"/>
          </a:p>
        </p:txBody>
      </p:sp>
      <p:sp>
        <p:nvSpPr>
          <p:cNvPr id="26" name="TextBox 25"/>
          <p:cNvSpPr txBox="1"/>
          <p:nvPr/>
        </p:nvSpPr>
        <p:spPr>
          <a:xfrm>
            <a:off x="640080" y="4892040"/>
            <a:ext cx="6400800" cy="1097280"/>
          </a:xfrm>
          <a:prstGeom prst="rect">
            <a:avLst/>
          </a:prstGeom>
          <a:noFill/>
        </p:spPr>
        <p:txBody>
          <a:bodyPr wrap="square" lIns="0" tIns="0" rIns="0" bIns="0" anchor="t">
            <a:spAutoFit/>
          </a:bodyPr>
          <a:lstStyle/>
          <a:p>
            <a:pPr>
              <a:lnSpc>
                <a:spcPct val="115000"/>
              </a:lnSpc>
              <a:spcAft>
                <a:spcPts val="400"/>
              </a:spcAft>
            </a:pPr>
            <a:r>
              <a:rPr sz="1600" b="0" i="0">
                <a:solidFill>
                  <a:srgbClr val="B8C0C8"/>
                </a:solidFill>
                <a:latin typeface="Inter"/>
              </a:rPr>
              <a:t>Séance 2 · Great Expectations · US-10, 11, 13, 15. Une règle métier devient un test nommé par son identifiant RQ.</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Règles en tests : une expectation par règle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15</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S2 · US-10</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RÈGLES ET TESTS · 20 %</a:t>
            </a:r>
          </a:p>
        </p:txBody>
      </p:sp>
      <p:sp>
        <p:nvSpPr>
          <p:cNvPr id="28" name="Attendu"/>
          <p:cNvSpPr/>
          <p:nvPr/>
        </p:nvSpPr>
        <p:spPr>
          <a:xfrm>
            <a:off x="700346" y="996131"/>
            <a:ext cx="11261667" cy="110781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37338" y="992522"/>
            <a:ext cx="63010" cy="1102958"/>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914400" y="1102324"/>
            <a:ext cx="274320" cy="274320"/>
          </a:xfrm>
          <a:prstGeom prst="rect">
            <a:avLst/>
          </a:prstGeom>
        </p:spPr>
      </p:pic>
      <p:sp>
        <p:nvSpPr>
          <p:cNvPr id="31" name="TextBox 30"/>
          <p:cNvSpPr txBox="1"/>
          <p:nvPr/>
        </p:nvSpPr>
        <p:spPr>
          <a:xfrm>
            <a:off x="1248987" y="1113037"/>
            <a:ext cx="7315200" cy="256032"/>
          </a:xfrm>
          <a:prstGeom prst="rect">
            <a:avLst/>
          </a:prstGeom>
          <a:noFill/>
        </p:spPr>
        <p:txBody>
          <a:bodyPr wrap="square" lIns="0" tIns="0" rIns="0" bIns="0" anchor="ctr">
            <a:spAutoFit/>
          </a:bodyPr>
          <a:lstStyle/>
          <a:p>
            <a:pPr>
              <a:lnSpc>
                <a:spcPct val="108000"/>
              </a:lnSpc>
              <a:spcAft>
                <a:spcPts val="400"/>
              </a:spcAft>
            </a:pPr>
            <a:r>
              <a:rPr sz="1200" b="1" i="0" spc="140" dirty="0">
                <a:solidFill>
                  <a:srgbClr val="F5A623"/>
                </a:solidFill>
                <a:latin typeface="Inter"/>
              </a:rPr>
              <a:t>ATTENDU SUR CETTE PAGE</a:t>
            </a:r>
          </a:p>
        </p:txBody>
      </p:sp>
      <p:sp>
        <p:nvSpPr>
          <p:cNvPr id="32" name="TextBox 31"/>
          <p:cNvSpPr txBox="1"/>
          <p:nvPr/>
        </p:nvSpPr>
        <p:spPr>
          <a:xfrm>
            <a:off x="914400" y="1502017"/>
            <a:ext cx="10360152" cy="7821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dirty="0">
                <a:solidFill>
                  <a:srgbClr val="F7F6F2"/>
                </a:solidFill>
                <a:latin typeface="Inter"/>
              </a:rPr>
              <a:t>Pour </a:t>
            </a:r>
            <a:r>
              <a:rPr sz="1300" b="1" i="0" dirty="0">
                <a:solidFill>
                  <a:srgbClr val="F5A623"/>
                </a:solidFill>
                <a:latin typeface="Inter"/>
              </a:rPr>
              <a:t>RQ-001, 002, 003, 005, 009, 010 et 020</a:t>
            </a:r>
            <a:r>
              <a:rPr sz="1300" b="0" i="0" dirty="0">
                <a:solidFill>
                  <a:srgbClr val="F7F6F2"/>
                </a:solidFill>
                <a:latin typeface="Inter"/>
              </a:rPr>
              <a:t> : </a:t>
            </a:r>
            <a:r>
              <a:rPr sz="1300" b="0" i="0" dirty="0" err="1">
                <a:solidFill>
                  <a:srgbClr val="F7F6F2"/>
                </a:solidFill>
                <a:latin typeface="Inter"/>
              </a:rPr>
              <a:t>l'expectation</a:t>
            </a:r>
            <a:r>
              <a:rPr sz="1300" b="0" i="0" dirty="0">
                <a:solidFill>
                  <a:srgbClr val="F7F6F2"/>
                </a:solidFill>
                <a:latin typeface="Inter"/>
              </a:rPr>
              <a:t> </a:t>
            </a:r>
            <a:r>
              <a:rPr sz="1300" b="0" i="0" dirty="0" err="1">
                <a:solidFill>
                  <a:srgbClr val="F7F6F2"/>
                </a:solidFill>
                <a:latin typeface="Inter"/>
              </a:rPr>
              <a:t>porte</a:t>
            </a:r>
            <a:r>
              <a:rPr sz="1300" b="0" i="0" dirty="0">
                <a:solidFill>
                  <a:srgbClr val="F7F6F2"/>
                </a:solidFill>
                <a:latin typeface="Inter"/>
              </a:rPr>
              <a:t> son </a:t>
            </a:r>
            <a:r>
              <a:rPr sz="1300" b="1" i="0" dirty="0" err="1">
                <a:solidFill>
                  <a:srgbClr val="F5A623"/>
                </a:solidFill>
                <a:latin typeface="Inter"/>
              </a:rPr>
              <a:t>rule_id</a:t>
            </a:r>
            <a:r>
              <a:rPr sz="1300" b="0" i="0" dirty="0">
                <a:solidFill>
                  <a:srgbClr val="F7F6F2"/>
                </a:solidFill>
                <a:latin typeface="Inter"/>
              </a:rPr>
              <a:t>, avec </a:t>
            </a:r>
            <a:r>
              <a:rPr sz="1300" b="0" i="0" dirty="0" err="1">
                <a:solidFill>
                  <a:srgbClr val="F7F6F2"/>
                </a:solidFill>
                <a:latin typeface="Inter"/>
              </a:rPr>
              <a:t>lignes</a:t>
            </a:r>
            <a:r>
              <a:rPr sz="1300" b="0" i="0" dirty="0">
                <a:solidFill>
                  <a:srgbClr val="F7F6F2"/>
                </a:solidFill>
                <a:latin typeface="Inter"/>
              </a:rPr>
              <a:t> </a:t>
            </a:r>
            <a:r>
              <a:rPr sz="1300" b="0" i="0" dirty="0" err="1">
                <a:solidFill>
                  <a:srgbClr val="F7F6F2"/>
                </a:solidFill>
                <a:latin typeface="Inter"/>
              </a:rPr>
              <a:t>testées</a:t>
            </a:r>
            <a:r>
              <a:rPr sz="1300" b="0" i="0" dirty="0">
                <a:solidFill>
                  <a:srgbClr val="F7F6F2"/>
                </a:solidFill>
                <a:latin typeface="Inter"/>
              </a:rPr>
              <a:t>, </a:t>
            </a:r>
            <a:r>
              <a:rPr sz="1300" b="0" i="0" dirty="0" err="1">
                <a:solidFill>
                  <a:srgbClr val="F7F6F2"/>
                </a:solidFill>
                <a:latin typeface="Inter"/>
              </a:rPr>
              <a:t>échecs</a:t>
            </a:r>
            <a:r>
              <a:rPr sz="1300" b="0" i="0" dirty="0">
                <a:solidFill>
                  <a:srgbClr val="F7F6F2"/>
                </a:solidFill>
                <a:latin typeface="Inter"/>
              </a:rPr>
              <a:t>, </a:t>
            </a:r>
            <a:r>
              <a:rPr sz="1300" b="0" i="0" dirty="0" err="1">
                <a:solidFill>
                  <a:srgbClr val="F7F6F2"/>
                </a:solidFill>
                <a:latin typeface="Inter"/>
              </a:rPr>
              <a:t>taux</a:t>
            </a:r>
            <a:r>
              <a:rPr sz="1300" b="0" i="0" dirty="0">
                <a:solidFill>
                  <a:srgbClr val="F7F6F2"/>
                </a:solidFill>
                <a:latin typeface="Inter"/>
              </a:rPr>
              <a:t> et </a:t>
            </a:r>
            <a:r>
              <a:rPr sz="1300" b="0" i="0" dirty="0" err="1">
                <a:solidFill>
                  <a:srgbClr val="F7F6F2"/>
                </a:solidFill>
                <a:latin typeface="Inter"/>
              </a:rPr>
              <a:t>sévérité</a:t>
            </a:r>
            <a:r>
              <a:rPr sz="1300" b="0" i="0" dirty="0">
                <a:solidFill>
                  <a:srgbClr val="F7F6F2"/>
                </a:solidFill>
                <a:latin typeface="Inter"/>
              </a:rPr>
              <a:t>.</a:t>
            </a:r>
          </a:p>
          <a:p>
            <a:pPr marL="182880" indent="-182880">
              <a:lnSpc>
                <a:spcPct val="108000"/>
              </a:lnSpc>
              <a:spcAft>
                <a:spcPts val="300"/>
              </a:spcAft>
              <a:buClr>
                <a:srgbClr val="F5A623"/>
              </a:buClr>
              <a:buChar char="•"/>
            </a:pPr>
            <a:r>
              <a:rPr sz="1300" b="0" i="0" dirty="0">
                <a:solidFill>
                  <a:srgbClr val="F7F6F2"/>
                </a:solidFill>
                <a:latin typeface="Inter"/>
              </a:rPr>
              <a:t>La base et la table </a:t>
            </a:r>
            <a:r>
              <a:rPr sz="1300" b="0" i="0" dirty="0" err="1">
                <a:solidFill>
                  <a:srgbClr val="F7F6F2"/>
                </a:solidFill>
                <a:latin typeface="Inter"/>
              </a:rPr>
              <a:t>visées</a:t>
            </a:r>
            <a:r>
              <a:rPr sz="1300" b="0" i="0" dirty="0">
                <a:solidFill>
                  <a:srgbClr val="F7F6F2"/>
                </a:solidFill>
                <a:latin typeface="Inter"/>
              </a:rPr>
              <a:t> </a:t>
            </a:r>
            <a:r>
              <a:rPr sz="1300" b="0" i="0" dirty="0" err="1">
                <a:solidFill>
                  <a:srgbClr val="F7F6F2"/>
                </a:solidFill>
                <a:latin typeface="Inter"/>
              </a:rPr>
              <a:t>sont</a:t>
            </a:r>
            <a:r>
              <a:rPr sz="1300" b="0" i="0" dirty="0">
                <a:solidFill>
                  <a:srgbClr val="F7F6F2"/>
                </a:solidFill>
                <a:latin typeface="Inter"/>
              </a:rPr>
              <a:t> des </a:t>
            </a:r>
            <a:r>
              <a:rPr sz="1300" b="1" i="0" dirty="0" err="1">
                <a:solidFill>
                  <a:srgbClr val="F5A623"/>
                </a:solidFill>
                <a:latin typeface="Inter"/>
              </a:rPr>
              <a:t>paramètres</a:t>
            </a:r>
            <a:r>
              <a:rPr sz="1300" b="0" i="0" dirty="0">
                <a:solidFill>
                  <a:srgbClr val="F7F6F2"/>
                </a:solidFill>
                <a:latin typeface="Inter"/>
              </a:rPr>
              <a:t> : la suite se relance sur silver sans modification.</a:t>
            </a:r>
          </a:p>
        </p:txBody>
      </p:sp>
      <p:graphicFrame>
        <p:nvGraphicFramePr>
          <p:cNvPr id="33" name="Table 32"/>
          <p:cNvGraphicFramePr>
            <a:graphicFrameLocks noGrp="1"/>
          </p:cNvGraphicFramePr>
          <p:nvPr>
            <p:extLst>
              <p:ext uri="{D42A27DB-BD31-4B8C-83A1-F6EECF244321}">
                <p14:modId xmlns:p14="http://schemas.microsoft.com/office/powerpoint/2010/main" val="1866384677"/>
              </p:ext>
            </p:extLst>
          </p:nvPr>
        </p:nvGraphicFramePr>
        <p:xfrm>
          <a:off x="668841" y="2228429"/>
          <a:ext cx="11293173" cy="3681897"/>
        </p:xfrm>
        <a:graphic>
          <a:graphicData uri="http://schemas.openxmlformats.org/drawingml/2006/table">
            <a:tbl>
              <a:tblPr/>
              <a:tblGrid>
                <a:gridCol w="866999">
                  <a:extLst>
                    <a:ext uri="{9D8B030D-6E8A-4147-A177-3AD203B41FA5}">
                      <a16:colId xmlns:a16="http://schemas.microsoft.com/office/drawing/2014/main" val="20000"/>
                    </a:ext>
                  </a:extLst>
                </a:gridCol>
                <a:gridCol w="1719800">
                  <a:extLst>
                    <a:ext uri="{9D8B030D-6E8A-4147-A177-3AD203B41FA5}">
                      <a16:colId xmlns:a16="http://schemas.microsoft.com/office/drawing/2014/main" val="20001"/>
                    </a:ext>
                  </a:extLst>
                </a:gridCol>
                <a:gridCol w="4055644">
                  <a:extLst>
                    <a:ext uri="{9D8B030D-6E8A-4147-A177-3AD203B41FA5}">
                      <a16:colId xmlns:a16="http://schemas.microsoft.com/office/drawing/2014/main" val="20002"/>
                    </a:ext>
                  </a:extLst>
                </a:gridCol>
                <a:gridCol w="761503">
                  <a:extLst>
                    <a:ext uri="{9D8B030D-6E8A-4147-A177-3AD203B41FA5}">
                      <a16:colId xmlns:a16="http://schemas.microsoft.com/office/drawing/2014/main" val="20003"/>
                    </a:ext>
                  </a:extLst>
                </a:gridCol>
                <a:gridCol w="906959">
                  <a:extLst>
                    <a:ext uri="{9D8B030D-6E8A-4147-A177-3AD203B41FA5}">
                      <a16:colId xmlns:a16="http://schemas.microsoft.com/office/drawing/2014/main" val="20004"/>
                    </a:ext>
                  </a:extLst>
                </a:gridCol>
                <a:gridCol w="1751985">
                  <a:extLst>
                    <a:ext uri="{9D8B030D-6E8A-4147-A177-3AD203B41FA5}">
                      <a16:colId xmlns:a16="http://schemas.microsoft.com/office/drawing/2014/main" val="20005"/>
                    </a:ext>
                  </a:extLst>
                </a:gridCol>
                <a:gridCol w="1230283">
                  <a:extLst>
                    <a:ext uri="{9D8B030D-6E8A-4147-A177-3AD203B41FA5}">
                      <a16:colId xmlns:a16="http://schemas.microsoft.com/office/drawing/2014/main" val="20006"/>
                    </a:ext>
                  </a:extLst>
                </a:gridCol>
              </a:tblGrid>
              <a:tr h="253963">
                <a:tc>
                  <a:txBody>
                    <a:bodyPr/>
                    <a:lstStyle/>
                    <a:p>
                      <a:r>
                        <a:rPr sz="1100" b="1" i="0" spc="60" dirty="0" err="1">
                          <a:solidFill>
                            <a:srgbClr val="F5A623"/>
                          </a:solidFill>
                          <a:latin typeface="Inter"/>
                        </a:rPr>
                        <a:t>Règle</a:t>
                      </a:r>
                      <a:endParaRPr sz="1100" b="1" i="0" spc="6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dirty="0">
                          <a:solidFill>
                            <a:srgbClr val="F5A623"/>
                          </a:solidFill>
                          <a:latin typeface="Inter"/>
                        </a:rPr>
                        <a:t>Table bronze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dirty="0">
                          <a:solidFill>
                            <a:srgbClr val="F5A623"/>
                          </a:solidFill>
                          <a:latin typeface="Inter"/>
                        </a:rPr>
                        <a:t>Expectation (type)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dirty="0" err="1">
                          <a:solidFill>
                            <a:srgbClr val="F5A623"/>
                          </a:solidFill>
                          <a:latin typeface="Inter"/>
                        </a:rPr>
                        <a:t>Testées</a:t>
                      </a:r>
                      <a:endParaRPr sz="1100" b="1" i="0" spc="6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dirty="0" err="1">
                          <a:solidFill>
                            <a:srgbClr val="F5A623"/>
                          </a:solidFill>
                          <a:latin typeface="Inter"/>
                        </a:rPr>
                        <a:t>En</a:t>
                      </a:r>
                      <a:r>
                        <a:rPr sz="1100" b="1" i="0" spc="60" dirty="0">
                          <a:solidFill>
                            <a:srgbClr val="F5A623"/>
                          </a:solidFill>
                          <a:latin typeface="Inter"/>
                        </a:rPr>
                        <a:t> </a:t>
                      </a:r>
                      <a:r>
                        <a:rPr sz="1100" b="1" i="0" spc="60" dirty="0" err="1">
                          <a:solidFill>
                            <a:srgbClr val="F5A623"/>
                          </a:solidFill>
                          <a:latin typeface="Inter"/>
                        </a:rPr>
                        <a:t>échec</a:t>
                      </a:r>
                      <a:endParaRPr sz="1100" b="1" i="0" spc="6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dirty="0" err="1">
                          <a:solidFill>
                            <a:srgbClr val="F5A623"/>
                          </a:solidFill>
                          <a:latin typeface="Inter"/>
                        </a:rPr>
                        <a:t>Taux</a:t>
                      </a:r>
                      <a:endParaRPr sz="1100" b="1" i="0" spc="6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dirty="0" err="1">
                          <a:solidFill>
                            <a:srgbClr val="F5A623"/>
                          </a:solidFill>
                          <a:latin typeface="Inter"/>
                        </a:rPr>
                        <a:t>Sévérité</a:t>
                      </a:r>
                      <a:endParaRPr sz="1100" b="1" i="0" spc="6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448170">
                <a:tc>
                  <a:txBody>
                    <a:bodyPr/>
                    <a:lstStyle/>
                    <a:p>
                      <a:r>
                        <a:rPr sz="1200" b="1" i="0" dirty="0">
                          <a:solidFill>
                            <a:srgbClr val="F7F6F2"/>
                          </a:solidFill>
                          <a:latin typeface="Inter"/>
                        </a:rPr>
                        <a:t>RQ-001</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err="1">
                          <a:solidFill>
                            <a:srgbClr val="F5A623"/>
                          </a:solidFill>
                          <a:latin typeface="+mn-lt"/>
                        </a:rPr>
                        <a:t>bronze.crm_contrat</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en-US" sz="1200" b="0" i="0" dirty="0" err="1">
                          <a:solidFill>
                            <a:srgbClr val="F5A623"/>
                          </a:solidFill>
                          <a:latin typeface="+mn-lt"/>
                        </a:rPr>
                        <a:t>expect_column_values_to_be_in_set</a:t>
                      </a:r>
                      <a:r>
                        <a:rPr lang="en-US" sz="1200" b="0" i="0" dirty="0">
                          <a:solidFill>
                            <a:srgbClr val="F5A623"/>
                          </a:solidFill>
                          <a:latin typeface="+mn-lt"/>
                        </a:rPr>
                        <a:t> : date fin &gt; </a:t>
                      </a:r>
                      <a:r>
                        <a:rPr lang="en-US" sz="1200" b="0" i="0" dirty="0" err="1">
                          <a:solidFill>
                            <a:srgbClr val="F5A623"/>
                          </a:solidFill>
                          <a:latin typeface="+mn-lt"/>
                        </a:rPr>
                        <a:t>datedébut</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100 000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800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Non : 99,20 % &lt;100 %</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BLOQUANTE</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448170">
                <a:tc>
                  <a:txBody>
                    <a:bodyPr/>
                    <a:lstStyle/>
                    <a:p>
                      <a:r>
                        <a:rPr sz="1200" b="1" i="0" dirty="0">
                          <a:solidFill>
                            <a:srgbClr val="F7F6F2"/>
                          </a:solidFill>
                          <a:latin typeface="Inter"/>
                        </a:rPr>
                        <a:t>RQ-002</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200" b="0" i="0" dirty="0" err="1">
                          <a:solidFill>
                            <a:srgbClr val="F5A623"/>
                          </a:solidFill>
                          <a:latin typeface="+mn-lt"/>
                        </a:rPr>
                        <a:t>bronze.crm_contrat</a:t>
                      </a:r>
                      <a:r>
                        <a:rPr lang="fr-FR" sz="1200" b="0" i="0" dirty="0">
                          <a:solidFill>
                            <a:srgbClr val="F5A623"/>
                          </a:solidFill>
                          <a:latin typeface="+mn-lt"/>
                        </a:rPr>
                        <a:t> +</a:t>
                      </a:r>
                      <a:r>
                        <a:rPr lang="fr-FR" sz="1200" b="0" i="0" dirty="0" err="1">
                          <a:solidFill>
                            <a:srgbClr val="F5A623"/>
                          </a:solidFill>
                          <a:latin typeface="+mn-lt"/>
                        </a:rPr>
                        <a:t>bronze.crm_client</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mn-lt"/>
                        </a:rPr>
                        <a:t>expect_column_values_to_be_in_set</a:t>
                      </a:r>
                      <a:r>
                        <a:rPr lang="fr-FR" sz="1200" b="0" i="0" dirty="0">
                          <a:solidFill>
                            <a:srgbClr val="F5A623"/>
                          </a:solidFill>
                          <a:latin typeface="+mn-lt"/>
                        </a:rPr>
                        <a:t> : souscripteur majeur au </a:t>
                      </a:r>
                      <a:r>
                        <a:rPr lang="fr-FR" sz="1200" b="0" i="0" dirty="0" err="1">
                          <a:solidFill>
                            <a:srgbClr val="F5A623"/>
                          </a:solidFill>
                          <a:latin typeface="+mn-lt"/>
                        </a:rPr>
                        <a:t>debut</a:t>
                      </a:r>
                      <a:r>
                        <a:rPr lang="fr-FR" sz="1200" b="0" i="0" dirty="0">
                          <a:solidFill>
                            <a:srgbClr val="F5A623"/>
                          </a:solidFill>
                          <a:latin typeface="+mn-lt"/>
                        </a:rPr>
                        <a:t> du contrat</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91 875</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301</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Non : 99,67 % &lt;100 %</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BLOQUANTE</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482012">
                <a:tc>
                  <a:txBody>
                    <a:bodyPr/>
                    <a:lstStyle/>
                    <a:p>
                      <a:r>
                        <a:rPr sz="1200" b="1" i="0" dirty="0">
                          <a:solidFill>
                            <a:srgbClr val="F7F6F2"/>
                          </a:solidFill>
                          <a:latin typeface="Inter"/>
                        </a:rPr>
                        <a:t>RQ-003</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err="1">
                          <a:solidFill>
                            <a:srgbClr val="F5A623"/>
                          </a:solidFill>
                          <a:latin typeface="+mn-lt"/>
                        </a:rPr>
                        <a:t>bronze.crm_client</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en-US" sz="1200" b="0" i="0" dirty="0" err="1">
                          <a:solidFill>
                            <a:srgbClr val="F5A623"/>
                          </a:solidFill>
                          <a:latin typeface="+mn-lt"/>
                        </a:rPr>
                        <a:t>expect_column_values_to_be_in_set</a:t>
                      </a:r>
                      <a:r>
                        <a:rPr lang="en-US" sz="1200" b="0" i="0" dirty="0">
                          <a:solidFill>
                            <a:srgbClr val="F5A623"/>
                          </a:solidFill>
                          <a:latin typeface="+mn-lt"/>
                        </a:rPr>
                        <a:t> : telephone </a:t>
                      </a:r>
                      <a:r>
                        <a:rPr lang="en-US" sz="1200" b="0" i="0" dirty="0" err="1">
                          <a:solidFill>
                            <a:srgbClr val="F5A623"/>
                          </a:solidFill>
                          <a:latin typeface="+mn-lt"/>
                        </a:rPr>
                        <a:t>renseigné</a:t>
                      </a:r>
                      <a:r>
                        <a:rPr lang="en-US" sz="1200" b="0" i="0" dirty="0">
                          <a:solidFill>
                            <a:srgbClr val="F5A623"/>
                          </a:solidFill>
                          <a:latin typeface="+mn-lt"/>
                        </a:rPr>
                        <a:t> pour les </a:t>
                      </a:r>
                      <a:r>
                        <a:rPr lang="en-US" sz="1200" b="0" i="0" dirty="0" err="1">
                          <a:solidFill>
                            <a:srgbClr val="F5A623"/>
                          </a:solidFill>
                          <a:latin typeface="+mn-lt"/>
                        </a:rPr>
                        <a:t>souscripteurs</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49 978</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5995</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Non : 88,00 % &lt;98 %</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AVERTISSEMENT</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480955">
                <a:tc>
                  <a:txBody>
                    <a:bodyPr/>
                    <a:lstStyle/>
                    <a:p>
                      <a:r>
                        <a:rPr sz="1200" b="1" i="0">
                          <a:solidFill>
                            <a:srgbClr val="F7F6F2"/>
                          </a:solidFill>
                          <a:latin typeface="Inter"/>
                        </a:rPr>
                        <a:t>RQ-005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200" b="0" i="0" dirty="0" err="1">
                          <a:solidFill>
                            <a:srgbClr val="F5A623"/>
                          </a:solidFill>
                          <a:latin typeface="+mn-lt"/>
                        </a:rPr>
                        <a:t>bronze.crm_client</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err="1">
                          <a:solidFill>
                            <a:srgbClr val="F5A623"/>
                          </a:solidFill>
                          <a:latin typeface="+mn-lt"/>
                        </a:rPr>
                        <a:t>expect_column_values_to_be_in_set</a:t>
                      </a:r>
                      <a:r>
                        <a:rPr lang="fr-FR" sz="1200" b="0" i="0" dirty="0">
                          <a:solidFill>
                            <a:srgbClr val="F5A623"/>
                          </a:solidFill>
                          <a:latin typeface="+mn-lt"/>
                        </a:rPr>
                        <a:t> : code postal français à 5 chiffres</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97 037</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1478</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Oui : 98,48 % ≥98 %</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AVERTISSEMENT</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448170">
                <a:tc>
                  <a:txBody>
                    <a:bodyPr/>
                    <a:lstStyle/>
                    <a:p>
                      <a:r>
                        <a:rPr sz="1200" b="1" i="0">
                          <a:solidFill>
                            <a:srgbClr val="F7F6F2"/>
                          </a:solidFill>
                          <a:latin typeface="Inter"/>
                        </a:rPr>
                        <a:t>RQ-009</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err="1">
                          <a:solidFill>
                            <a:srgbClr val="F5A623"/>
                          </a:solidFill>
                          <a:latin typeface="+mn-lt"/>
                        </a:rPr>
                        <a:t>bronze.crm_client</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en-US" sz="1200" b="0" i="0" dirty="0" err="1">
                          <a:solidFill>
                            <a:srgbClr val="F5A623"/>
                          </a:solidFill>
                          <a:latin typeface="+mn-lt"/>
                        </a:rPr>
                        <a:t>expect_column_values_to_be_in_set</a:t>
                      </a:r>
                      <a:r>
                        <a:rPr lang="en-US" sz="1200" b="0" i="0" dirty="0">
                          <a:solidFill>
                            <a:srgbClr val="F5A623"/>
                          </a:solidFill>
                          <a:latin typeface="+mn-lt"/>
                        </a:rPr>
                        <a:t> : type de </a:t>
                      </a:r>
                      <a:r>
                        <a:rPr lang="en-US" sz="1200" b="0" i="0" dirty="0" err="1">
                          <a:solidFill>
                            <a:srgbClr val="F5A623"/>
                          </a:solidFill>
                          <a:latin typeface="+mn-lt"/>
                        </a:rPr>
                        <a:t>personne</a:t>
                      </a:r>
                      <a:r>
                        <a:rPr lang="en-US" sz="1200" b="0" i="0" dirty="0">
                          <a:solidFill>
                            <a:srgbClr val="F5A623"/>
                          </a:solidFill>
                          <a:latin typeface="+mn-lt"/>
                        </a:rPr>
                        <a:t> </a:t>
                      </a:r>
                      <a:r>
                        <a:rPr lang="en-US" sz="1200" b="0" i="0" dirty="0" err="1">
                          <a:solidFill>
                            <a:srgbClr val="F5A623"/>
                          </a:solidFill>
                          <a:latin typeface="+mn-lt"/>
                        </a:rPr>
                        <a:t>autorisé</a:t>
                      </a:r>
                      <a:r>
                        <a:rPr lang="en-US" sz="1200" b="0" i="0" dirty="0">
                          <a:solidFill>
                            <a:srgbClr val="F5A623"/>
                          </a:solidFill>
                          <a:latin typeface="+mn-lt"/>
                        </a:rPr>
                        <a:t> </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100 000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200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Non : 99,8 % &lt;100 %</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BLOQUANTE</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r h="448170">
                <a:tc>
                  <a:txBody>
                    <a:bodyPr/>
                    <a:lstStyle/>
                    <a:p>
                      <a:r>
                        <a:rPr sz="1200" b="1" i="0">
                          <a:solidFill>
                            <a:srgbClr val="F7F6F2"/>
                          </a:solidFill>
                          <a:latin typeface="Inter"/>
                        </a:rPr>
                        <a:t>RQ-010</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200" b="0" i="0" dirty="0" err="1">
                          <a:solidFill>
                            <a:srgbClr val="F5A623"/>
                          </a:solidFill>
                          <a:latin typeface="+mn-lt"/>
                        </a:rPr>
                        <a:t>bronze.crm_contrat</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en-US" sz="1200" b="0" i="0" dirty="0" err="1">
                          <a:solidFill>
                            <a:srgbClr val="F5A623"/>
                          </a:solidFill>
                          <a:latin typeface="+mn-lt"/>
                        </a:rPr>
                        <a:t>expect_column_values_to_be_in_set</a:t>
                      </a:r>
                      <a:r>
                        <a:rPr lang="en-US" sz="1200" b="0" i="0" dirty="0">
                          <a:solidFill>
                            <a:srgbClr val="F5A623"/>
                          </a:solidFill>
                          <a:latin typeface="+mn-lt"/>
                        </a:rPr>
                        <a:t> : </a:t>
                      </a:r>
                      <a:r>
                        <a:rPr lang="en-US" sz="1200" b="0" i="0" dirty="0" err="1">
                          <a:solidFill>
                            <a:srgbClr val="F5A623"/>
                          </a:solidFill>
                          <a:latin typeface="+mn-lt"/>
                        </a:rPr>
                        <a:t>duree</a:t>
                      </a:r>
                      <a:r>
                        <a:rPr lang="en-US" sz="1200" b="0" i="0" dirty="0">
                          <a:solidFill>
                            <a:srgbClr val="F5A623"/>
                          </a:solidFill>
                          <a:latin typeface="+mn-lt"/>
                        </a:rPr>
                        <a:t> </a:t>
                      </a:r>
                      <a:r>
                        <a:rPr lang="en-US" sz="1200" b="0" i="0" dirty="0" err="1">
                          <a:solidFill>
                            <a:srgbClr val="F5A623"/>
                          </a:solidFill>
                          <a:latin typeface="+mn-lt"/>
                        </a:rPr>
                        <a:t>parmi</a:t>
                      </a:r>
                      <a:r>
                        <a:rPr lang="en-US" sz="1200" b="0" i="0" dirty="0">
                          <a:solidFill>
                            <a:srgbClr val="F5A623"/>
                          </a:solidFill>
                          <a:latin typeface="+mn-lt"/>
                        </a:rPr>
                        <a:t> 12,24, 36, 60 </a:t>
                      </a:r>
                      <a:r>
                        <a:rPr lang="en-US" sz="1200" b="0" i="0" dirty="0" err="1">
                          <a:solidFill>
                            <a:srgbClr val="F5A623"/>
                          </a:solidFill>
                          <a:latin typeface="+mn-lt"/>
                        </a:rPr>
                        <a:t>mois</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100 000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600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Non : 99,40 % &lt;100 %</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BLOQUANTE</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6"/>
                  </a:ext>
                </a:extLst>
              </a:tr>
              <a:tr h="627438">
                <a:tc>
                  <a:txBody>
                    <a:bodyPr/>
                    <a:lstStyle/>
                    <a:p>
                      <a:r>
                        <a:rPr sz="1200" b="1" i="0" dirty="0">
                          <a:solidFill>
                            <a:srgbClr val="F7F6F2"/>
                          </a:solidFill>
                          <a:latin typeface="Inter"/>
                        </a:rPr>
                        <a:t>RQ-020</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200" b="0" i="0" dirty="0" err="1">
                          <a:solidFill>
                            <a:srgbClr val="F5A623"/>
                          </a:solidFill>
                          <a:latin typeface="+mn-lt"/>
                        </a:rPr>
                        <a:t>bronze.crm_client</a:t>
                      </a:r>
                      <a:endParaRPr lang="fr-FR" sz="1200" b="0" i="0" dirty="0">
                        <a:solidFill>
                          <a:srgbClr val="F5A623"/>
                        </a:solidFill>
                        <a:latin typeface="+mn-lt"/>
                      </a:endParaRPr>
                    </a:p>
                    <a:p>
                      <a:r>
                        <a:rPr lang="fr-FR" sz="1200" b="0" i="0" dirty="0" err="1">
                          <a:solidFill>
                            <a:srgbClr val="F5A623"/>
                          </a:solidFill>
                          <a:latin typeface="+mn-lt"/>
                        </a:rPr>
                        <a:t>bronze.crm_contrat</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en-US" sz="1200" b="0" i="0" dirty="0" err="1">
                          <a:solidFill>
                            <a:srgbClr val="F5A623"/>
                          </a:solidFill>
                          <a:latin typeface="+mn-lt"/>
                        </a:rPr>
                        <a:t>expect_column_values_to_be_in_set</a:t>
                      </a:r>
                      <a:r>
                        <a:rPr lang="en-US" sz="1200" b="0" i="0" dirty="0">
                          <a:solidFill>
                            <a:srgbClr val="F5A623"/>
                          </a:solidFill>
                          <a:latin typeface="+mn-lt"/>
                        </a:rPr>
                        <a:t> : </a:t>
                      </a:r>
                      <a:r>
                        <a:rPr lang="en-US" sz="1200" b="0" i="0" dirty="0" err="1">
                          <a:solidFill>
                            <a:srgbClr val="F5A623"/>
                          </a:solidFill>
                          <a:latin typeface="+mn-lt"/>
                        </a:rPr>
                        <a:t>identifiant</a:t>
                      </a:r>
                      <a:r>
                        <a:rPr lang="en-US" sz="1200" b="0" i="0" dirty="0">
                          <a:solidFill>
                            <a:srgbClr val="F5A623"/>
                          </a:solidFill>
                          <a:latin typeface="+mn-lt"/>
                        </a:rPr>
                        <a:t> unique et non </a:t>
                      </a:r>
                      <a:r>
                        <a:rPr lang="en-US" sz="1200" b="0" i="0" dirty="0" err="1">
                          <a:solidFill>
                            <a:srgbClr val="F5A623"/>
                          </a:solidFill>
                          <a:latin typeface="+mn-lt"/>
                        </a:rPr>
                        <a:t>nul</a:t>
                      </a:r>
                      <a:r>
                        <a:rPr lang="en-US" sz="1200" b="0" i="0" dirty="0">
                          <a:solidFill>
                            <a:srgbClr val="F5A623"/>
                          </a:solidFill>
                          <a:latin typeface="+mn-lt"/>
                        </a:rPr>
                        <a:t> (client &amp; </a:t>
                      </a:r>
                      <a:r>
                        <a:rPr lang="en-US" sz="1200" b="0" i="0" dirty="0" err="1">
                          <a:solidFill>
                            <a:srgbClr val="F5A623"/>
                          </a:solidFill>
                          <a:latin typeface="+mn-lt"/>
                        </a:rPr>
                        <a:t>contrat</a:t>
                      </a:r>
                      <a:r>
                        <a:rPr lang="en-US" sz="1200" b="0" i="0" dirty="0">
                          <a:solidFill>
                            <a:srgbClr val="F5A623"/>
                          </a:solidFill>
                          <a:latin typeface="+mn-lt"/>
                        </a:rPr>
                        <a:t> id)</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100 000 +</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dirty="0">
                          <a:solidFill>
                            <a:srgbClr val="F5A623"/>
                          </a:solidFill>
                          <a:latin typeface="+mn-lt"/>
                        </a:rPr>
                        <a:t>100 000</a:t>
                      </a:r>
                    </a:p>
                    <a:p>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Inter"/>
                        </a:rPr>
                        <a:t>0+0</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Oui : 100,00 % ≥100 %</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200" b="0" i="0" dirty="0">
                          <a:solidFill>
                            <a:srgbClr val="F5A623"/>
                          </a:solidFill>
                          <a:latin typeface="+mn-lt"/>
                        </a:rPr>
                        <a:t>BLOQUANTE</a:t>
                      </a:r>
                      <a:endParaRPr sz="12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7"/>
                  </a:ext>
                </a:extLst>
              </a:tr>
            </a:tbl>
          </a:graphicData>
        </a:graphic>
      </p:graphicFrame>
      <p:sp>
        <p:nvSpPr>
          <p:cNvPr id="34" name="TextBox 33"/>
          <p:cNvSpPr txBox="1"/>
          <p:nvPr/>
        </p:nvSpPr>
        <p:spPr>
          <a:xfrm>
            <a:off x="668841" y="5959356"/>
            <a:ext cx="10908792" cy="642612"/>
          </a:xfrm>
          <a:prstGeom prst="rect">
            <a:avLst/>
          </a:prstGeom>
          <a:noFill/>
        </p:spPr>
        <p:txBody>
          <a:bodyPr wrap="square" lIns="0" tIns="0" rIns="0" bIns="0" anchor="t">
            <a:spAutoFit/>
          </a:bodyPr>
          <a:lstStyle/>
          <a:p>
            <a:pPr>
              <a:lnSpc>
                <a:spcPct val="108000"/>
              </a:lnSpc>
              <a:spcAft>
                <a:spcPts val="400"/>
              </a:spcAft>
            </a:pPr>
            <a:r>
              <a:rPr lang="fr-FR" sz="1100" b="0" i="1" dirty="0">
                <a:solidFill>
                  <a:srgbClr val="8E99A4"/>
                </a:solidFill>
                <a:latin typeface="Inter"/>
              </a:rPr>
              <a:t>Sévérité : bloquante ou avertissement. Chemin des suites de validation : voir le dépôt, reports/</a:t>
            </a:r>
            <a:r>
              <a:rPr lang="fr-FR" sz="1100" b="0" i="1" dirty="0" err="1">
                <a:solidFill>
                  <a:srgbClr val="8E99A4"/>
                </a:solidFill>
                <a:latin typeface="Inter"/>
              </a:rPr>
              <a:t>ge</a:t>
            </a:r>
            <a:r>
              <a:rPr lang="fr-FR" sz="1100" b="0" i="1" dirty="0">
                <a:solidFill>
                  <a:srgbClr val="8E99A4"/>
                </a:solidFill>
                <a:latin typeface="Inter"/>
              </a:rPr>
              <a:t>/</a:t>
            </a:r>
            <a:r>
              <a:rPr lang="fr-FR" sz="1100" b="0" i="1" dirty="0" err="1">
                <a:solidFill>
                  <a:srgbClr val="8E99A4"/>
                </a:solidFill>
                <a:latin typeface="Inter"/>
              </a:rPr>
              <a:t>gx</a:t>
            </a:r>
            <a:r>
              <a:rPr lang="fr-FR" sz="1100" b="0" i="1" dirty="0">
                <a:solidFill>
                  <a:srgbClr val="8E99A4"/>
                </a:solidFill>
                <a:latin typeface="Inter"/>
              </a:rPr>
              <a:t>/expectations.</a:t>
            </a:r>
          </a:p>
          <a:p>
            <a:pPr marL="628650" lvl="1" indent="-171450">
              <a:lnSpc>
                <a:spcPct val="108000"/>
              </a:lnSpc>
              <a:spcAft>
                <a:spcPts val="400"/>
              </a:spcAft>
              <a:buFont typeface="Arial" panose="020B0604020202020204" pitchFamily="34" charset="0"/>
              <a:buChar char="•"/>
            </a:pPr>
            <a:r>
              <a:rPr lang="fr-FR" sz="1100" i="1" dirty="0">
                <a:solidFill>
                  <a:srgbClr val="8E99A4"/>
                </a:solidFill>
                <a:hlinkClick r:id="rId4"/>
              </a:rPr>
              <a:t>https://github.com/ruthabebeneg/td-qualite-g02/blob/main/notebooks/S2_US10_regles_en_tests.ipynb</a:t>
            </a:r>
            <a:endParaRPr lang="fr-FR" sz="1100" i="1" dirty="0">
              <a:solidFill>
                <a:srgbClr val="8E99A4"/>
              </a:solidFill>
            </a:endParaRPr>
          </a:p>
          <a:p>
            <a:pPr>
              <a:lnSpc>
                <a:spcPct val="108000"/>
              </a:lnSpc>
              <a:spcAft>
                <a:spcPts val="400"/>
              </a:spcAft>
            </a:pPr>
            <a:endParaRPr lang="fr-FR" sz="1100" b="0" i="1" dirty="0">
              <a:solidFill>
                <a:srgbClr val="8E99A4"/>
              </a:solidFill>
              <a:latin typeface="Inte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2823" y="739832"/>
            <a:ext cx="10908792" cy="731520"/>
          </a:xfrm>
        </p:spPr>
        <p:txBody>
          <a:bodyPr lIns="0" tIns="0" rIns="0" bIns="0"/>
          <a:lstStyle/>
          <a:p>
            <a:r>
              <a:rPr sz="2800" dirty="0" err="1"/>
              <a:t>Pièges</a:t>
            </a:r>
            <a:r>
              <a:rPr sz="2800" dirty="0"/>
              <a:t> </a:t>
            </a:r>
            <a:r>
              <a:rPr sz="2800" dirty="0" err="1"/>
              <a:t>rencontrés</a:t>
            </a:r>
            <a:r>
              <a:rPr sz="2800" dirty="0"/>
              <a:t> et </a:t>
            </a:r>
            <a:r>
              <a:rPr sz="2800" dirty="0" err="1"/>
              <a:t>lignes</a:t>
            </a:r>
            <a:r>
              <a:rPr sz="2800" dirty="0"/>
              <a:t> </a:t>
            </a:r>
            <a:r>
              <a:rPr sz="2800" dirty="0" err="1"/>
              <a:t>en</a:t>
            </a:r>
            <a:r>
              <a:rPr sz="2800" dirty="0"/>
              <a:t> </a:t>
            </a:r>
            <a:r>
              <a:rPr sz="2800" dirty="0" err="1"/>
              <a:t>échec</a:t>
            </a:r>
            <a:endParaRPr sz="2800" dirty="0"/>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16</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S2 · US-10, 11</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RÈGLES ET TESTS · 20 %</a:t>
            </a:r>
          </a:p>
        </p:txBody>
      </p:sp>
      <p:sp>
        <p:nvSpPr>
          <p:cNvPr id="28" name="Attendu"/>
          <p:cNvSpPr/>
          <p:nvPr/>
        </p:nvSpPr>
        <p:spPr>
          <a:xfrm>
            <a:off x="640080" y="1325880"/>
            <a:ext cx="10908792" cy="11014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1014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7821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dirty="0">
                <a:solidFill>
                  <a:srgbClr val="F7F6F2"/>
                </a:solidFill>
                <a:latin typeface="Inter"/>
              </a:rPr>
              <a:t>Les </a:t>
            </a:r>
            <a:r>
              <a:rPr sz="1300" b="1" i="0" dirty="0" err="1">
                <a:solidFill>
                  <a:srgbClr val="F5A623"/>
                </a:solidFill>
                <a:latin typeface="Inter"/>
              </a:rPr>
              <a:t>pièges</a:t>
            </a:r>
            <a:r>
              <a:rPr sz="1300" b="0" i="0" dirty="0">
                <a:solidFill>
                  <a:srgbClr val="F7F6F2"/>
                </a:solidFill>
                <a:latin typeface="Inter"/>
              </a:rPr>
              <a:t> (</a:t>
            </a:r>
            <a:r>
              <a:rPr sz="1300" b="0" i="0" dirty="0" err="1">
                <a:solidFill>
                  <a:srgbClr val="F7F6F2"/>
                </a:solidFill>
                <a:latin typeface="Inter"/>
              </a:rPr>
              <a:t>nul</a:t>
            </a:r>
            <a:r>
              <a:rPr sz="1300" b="0" i="0" dirty="0">
                <a:solidFill>
                  <a:srgbClr val="F7F6F2"/>
                </a:solidFill>
                <a:latin typeface="Inter"/>
              </a:rPr>
              <a:t>, vide, blanc ; </a:t>
            </a:r>
            <a:r>
              <a:rPr sz="1300" b="0" i="0" dirty="0" err="1">
                <a:solidFill>
                  <a:srgbClr val="F7F6F2"/>
                </a:solidFill>
                <a:latin typeface="Inter"/>
              </a:rPr>
              <a:t>adresses</a:t>
            </a:r>
            <a:r>
              <a:rPr sz="1300" b="0" i="0" dirty="0">
                <a:solidFill>
                  <a:srgbClr val="F7F6F2"/>
                </a:solidFill>
                <a:latin typeface="Inter"/>
              </a:rPr>
              <a:t> </a:t>
            </a:r>
            <a:r>
              <a:rPr sz="1300" b="0" i="0" dirty="0" err="1">
                <a:solidFill>
                  <a:srgbClr val="F7F6F2"/>
                </a:solidFill>
                <a:latin typeface="Inter"/>
              </a:rPr>
              <a:t>étrangères</a:t>
            </a:r>
            <a:r>
              <a:rPr sz="1300" b="0" i="0" dirty="0">
                <a:solidFill>
                  <a:srgbClr val="F7F6F2"/>
                </a:solidFill>
                <a:latin typeface="Inter"/>
              </a:rPr>
              <a:t> ; </a:t>
            </a:r>
            <a:r>
              <a:rPr sz="1300" b="0" i="0" dirty="0" err="1">
                <a:solidFill>
                  <a:srgbClr val="F7F6F2"/>
                </a:solidFill>
                <a:latin typeface="Inter"/>
              </a:rPr>
              <a:t>comparaisons</a:t>
            </a:r>
            <a:r>
              <a:rPr sz="1300" b="0" i="0" dirty="0">
                <a:solidFill>
                  <a:srgbClr val="F7F6F2"/>
                </a:solidFill>
                <a:latin typeface="Inter"/>
              </a:rPr>
              <a:t> </a:t>
            </a:r>
            <a:r>
              <a:rPr sz="1300" b="0" i="0" dirty="0" err="1">
                <a:solidFill>
                  <a:srgbClr val="F7F6F2"/>
                </a:solidFill>
                <a:latin typeface="Inter"/>
              </a:rPr>
              <a:t>exactes</a:t>
            </a:r>
            <a:r>
              <a:rPr sz="1300" b="0" i="0" dirty="0">
                <a:solidFill>
                  <a:srgbClr val="F7F6F2"/>
                </a:solidFill>
                <a:latin typeface="Inter"/>
              </a:rPr>
              <a:t>) avec le </a:t>
            </a:r>
            <a:r>
              <a:rPr sz="1300" b="0" i="0" dirty="0" err="1">
                <a:solidFill>
                  <a:srgbClr val="F7F6F2"/>
                </a:solidFill>
                <a:latin typeface="Inter"/>
              </a:rPr>
              <a:t>chiffre</a:t>
            </a:r>
            <a:r>
              <a:rPr sz="1300" b="0" i="0" dirty="0">
                <a:solidFill>
                  <a:srgbClr val="F7F6F2"/>
                </a:solidFill>
                <a:latin typeface="Inter"/>
              </a:rPr>
              <a:t> </a:t>
            </a:r>
            <a:r>
              <a:rPr sz="1300" b="1" i="0" dirty="0" err="1">
                <a:solidFill>
                  <a:srgbClr val="F5A623"/>
                </a:solidFill>
                <a:latin typeface="Inter"/>
              </a:rPr>
              <a:t>avant</a:t>
            </a:r>
            <a:r>
              <a:rPr sz="1300" b="0" i="0" dirty="0">
                <a:solidFill>
                  <a:srgbClr val="F7F6F2"/>
                </a:solidFill>
                <a:latin typeface="Inter"/>
              </a:rPr>
              <a:t> et </a:t>
            </a:r>
            <a:r>
              <a:rPr sz="1300" b="1" i="0" dirty="0">
                <a:solidFill>
                  <a:srgbClr val="F5A623"/>
                </a:solidFill>
                <a:latin typeface="Inter"/>
              </a:rPr>
              <a:t>après</a:t>
            </a:r>
            <a:r>
              <a:rPr sz="1300" b="0" i="0" dirty="0">
                <a:solidFill>
                  <a:srgbClr val="F7F6F2"/>
                </a:solidFill>
                <a:latin typeface="Inter"/>
              </a:rPr>
              <a:t> correction.</a:t>
            </a:r>
          </a:p>
          <a:p>
            <a:pPr marL="182880" indent="-182880">
              <a:lnSpc>
                <a:spcPct val="108000"/>
              </a:lnSpc>
              <a:spcAft>
                <a:spcPts val="300"/>
              </a:spcAft>
              <a:buClr>
                <a:srgbClr val="F5A623"/>
              </a:buClr>
              <a:buChar char="•"/>
            </a:pPr>
            <a:r>
              <a:rPr sz="1300" b="0" i="0" dirty="0">
                <a:solidFill>
                  <a:srgbClr val="F7F6F2"/>
                </a:solidFill>
                <a:latin typeface="Inter"/>
              </a:rPr>
              <a:t>Un </a:t>
            </a:r>
            <a:r>
              <a:rPr sz="1300" b="1" i="0" dirty="0" err="1">
                <a:solidFill>
                  <a:srgbClr val="F5A623"/>
                </a:solidFill>
                <a:latin typeface="Inter"/>
              </a:rPr>
              <a:t>échantillon</a:t>
            </a:r>
            <a:r>
              <a:rPr sz="1300" b="1" i="0" dirty="0">
                <a:solidFill>
                  <a:srgbClr val="F5A623"/>
                </a:solidFill>
                <a:latin typeface="Inter"/>
              </a:rPr>
              <a:t> </a:t>
            </a:r>
            <a:r>
              <a:rPr sz="1300" b="1" i="0" dirty="0" err="1">
                <a:solidFill>
                  <a:srgbClr val="F5A623"/>
                </a:solidFill>
                <a:latin typeface="Inter"/>
              </a:rPr>
              <a:t>commenté</a:t>
            </a:r>
            <a:r>
              <a:rPr sz="1300" b="1" i="0" dirty="0">
                <a:solidFill>
                  <a:srgbClr val="F5A623"/>
                </a:solidFill>
                <a:latin typeface="Inter"/>
              </a:rPr>
              <a:t> de 20 </a:t>
            </a:r>
            <a:r>
              <a:rPr sz="1300" b="1" i="0" dirty="0" err="1">
                <a:solidFill>
                  <a:srgbClr val="F5A623"/>
                </a:solidFill>
                <a:latin typeface="Inter"/>
              </a:rPr>
              <a:t>lignes</a:t>
            </a:r>
            <a:r>
              <a:rPr sz="1300" b="0" i="0" dirty="0">
                <a:solidFill>
                  <a:srgbClr val="F7F6F2"/>
                </a:solidFill>
                <a:latin typeface="Inter"/>
              </a:rPr>
              <a:t> </a:t>
            </a:r>
            <a:r>
              <a:rPr sz="1300" b="0" i="0" dirty="0" err="1">
                <a:solidFill>
                  <a:srgbClr val="F7F6F2"/>
                </a:solidFill>
                <a:latin typeface="Inter"/>
              </a:rPr>
              <a:t>en</a:t>
            </a:r>
            <a:r>
              <a:rPr sz="1300" b="0" i="0" dirty="0">
                <a:solidFill>
                  <a:srgbClr val="F7F6F2"/>
                </a:solidFill>
                <a:latin typeface="Inter"/>
              </a:rPr>
              <a:t> </a:t>
            </a:r>
            <a:r>
              <a:rPr sz="1300" b="0" i="0" dirty="0" err="1">
                <a:solidFill>
                  <a:srgbClr val="F7F6F2"/>
                </a:solidFill>
                <a:latin typeface="Inter"/>
              </a:rPr>
              <a:t>échec</a:t>
            </a:r>
            <a:r>
              <a:rPr sz="1300" b="0" i="0" dirty="0">
                <a:solidFill>
                  <a:srgbClr val="F7F6F2"/>
                </a:solidFill>
                <a:latin typeface="Inter"/>
              </a:rPr>
              <a:t> : </a:t>
            </a:r>
            <a:r>
              <a:rPr sz="1300" b="0" i="0" dirty="0" err="1">
                <a:solidFill>
                  <a:srgbClr val="F7F6F2"/>
                </a:solidFill>
                <a:latin typeface="Inter"/>
              </a:rPr>
              <a:t>famille</a:t>
            </a:r>
            <a:r>
              <a:rPr sz="1300" b="0" i="0" dirty="0">
                <a:solidFill>
                  <a:srgbClr val="F7F6F2"/>
                </a:solidFill>
                <a:latin typeface="Inter"/>
              </a:rPr>
              <a:t> </a:t>
            </a:r>
            <a:r>
              <a:rPr sz="1300" b="0" i="0" dirty="0" err="1">
                <a:solidFill>
                  <a:srgbClr val="F7F6F2"/>
                </a:solidFill>
                <a:latin typeface="Inter"/>
              </a:rPr>
              <a:t>d'erreur</a:t>
            </a:r>
            <a:r>
              <a:rPr sz="1300" b="0" i="0" dirty="0">
                <a:solidFill>
                  <a:srgbClr val="F7F6F2"/>
                </a:solidFill>
                <a:latin typeface="Inter"/>
              </a:rPr>
              <a:t>, cause probable, action </a:t>
            </a:r>
            <a:r>
              <a:rPr sz="1300" b="0" i="0" dirty="0" err="1">
                <a:solidFill>
                  <a:srgbClr val="F7F6F2"/>
                </a:solidFill>
                <a:latin typeface="Inter"/>
              </a:rPr>
              <a:t>proposée</a:t>
            </a:r>
            <a:r>
              <a:rPr sz="1300" b="0" i="0" dirty="0">
                <a:solidFill>
                  <a:srgbClr val="F7F6F2"/>
                </a:solidFill>
                <a:latin typeface="Inter"/>
              </a:rPr>
              <a:t>.</a:t>
            </a:r>
          </a:p>
        </p:txBody>
      </p:sp>
      <p:graphicFrame>
        <p:nvGraphicFramePr>
          <p:cNvPr id="33" name="Table 32"/>
          <p:cNvGraphicFramePr>
            <a:graphicFrameLocks noGrp="1"/>
          </p:cNvGraphicFramePr>
          <p:nvPr>
            <p:extLst>
              <p:ext uri="{D42A27DB-BD31-4B8C-83A1-F6EECF244321}">
                <p14:modId xmlns:p14="http://schemas.microsoft.com/office/powerpoint/2010/main" val="3186880250"/>
              </p:ext>
            </p:extLst>
          </p:nvPr>
        </p:nvGraphicFramePr>
        <p:xfrm>
          <a:off x="642823" y="2498514"/>
          <a:ext cx="10908792" cy="1355494"/>
        </p:xfrm>
        <a:graphic>
          <a:graphicData uri="http://schemas.openxmlformats.org/drawingml/2006/table">
            <a:tbl>
              <a:tblPr/>
              <a:tblGrid>
                <a:gridCol w="714895">
                  <a:extLst>
                    <a:ext uri="{9D8B030D-6E8A-4147-A177-3AD203B41FA5}">
                      <a16:colId xmlns:a16="http://schemas.microsoft.com/office/drawing/2014/main" val="20000"/>
                    </a:ext>
                  </a:extLst>
                </a:gridCol>
                <a:gridCol w="2061556">
                  <a:extLst>
                    <a:ext uri="{9D8B030D-6E8A-4147-A177-3AD203B41FA5}">
                      <a16:colId xmlns:a16="http://schemas.microsoft.com/office/drawing/2014/main" val="20001"/>
                    </a:ext>
                  </a:extLst>
                </a:gridCol>
                <a:gridCol w="3059084">
                  <a:extLst>
                    <a:ext uri="{9D8B030D-6E8A-4147-A177-3AD203B41FA5}">
                      <a16:colId xmlns:a16="http://schemas.microsoft.com/office/drawing/2014/main" val="20002"/>
                    </a:ext>
                  </a:extLst>
                </a:gridCol>
                <a:gridCol w="2576945">
                  <a:extLst>
                    <a:ext uri="{9D8B030D-6E8A-4147-A177-3AD203B41FA5}">
                      <a16:colId xmlns:a16="http://schemas.microsoft.com/office/drawing/2014/main" val="20003"/>
                    </a:ext>
                  </a:extLst>
                </a:gridCol>
                <a:gridCol w="2496312">
                  <a:extLst>
                    <a:ext uri="{9D8B030D-6E8A-4147-A177-3AD203B41FA5}">
                      <a16:colId xmlns:a16="http://schemas.microsoft.com/office/drawing/2014/main" val="20004"/>
                    </a:ext>
                  </a:extLst>
                </a:gridCol>
              </a:tblGrid>
              <a:tr h="296314">
                <a:tc>
                  <a:txBody>
                    <a:bodyPr/>
                    <a:lstStyle/>
                    <a:p>
                      <a:r>
                        <a:rPr sz="1050" b="1" i="0" spc="60">
                          <a:solidFill>
                            <a:srgbClr val="F5A623"/>
                          </a:solidFill>
                          <a:latin typeface="Inter"/>
                        </a:rPr>
                        <a:t>Règle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dirty="0" err="1">
                          <a:solidFill>
                            <a:srgbClr val="F5A623"/>
                          </a:solidFill>
                          <a:latin typeface="Inter"/>
                        </a:rPr>
                        <a:t>Piège</a:t>
                      </a:r>
                      <a:endParaRPr sz="1050" b="1" i="0" spc="6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dirty="0">
                          <a:solidFill>
                            <a:srgbClr val="F5A623"/>
                          </a:solidFill>
                          <a:latin typeface="Inter"/>
                        </a:rPr>
                        <a:t>Avant correction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Après correction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Preuve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412560">
                <a:tc>
                  <a:txBody>
                    <a:bodyPr/>
                    <a:lstStyle/>
                    <a:p>
                      <a:r>
                        <a:rPr lang="fr-FR" sz="1150" b="0" i="0" dirty="0">
                          <a:solidFill>
                            <a:srgbClr val="F5A623"/>
                          </a:solidFill>
                          <a:latin typeface="+mn-lt"/>
                        </a:rPr>
                        <a:t>RQ-003</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Téléphone NULL, vide ou blanc</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5 995 manquants sur 49 978 : 2 000 NULL, 1 996 vides, 1 999 blancs</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Les vides et blancs sont normalisés; 5 995 valeurs restent à compléter</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Le nettoyage ne remplace pas une donnée absente</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576162">
                <a:tc>
                  <a:txBody>
                    <a:bodyPr/>
                    <a:lstStyle/>
                    <a:p>
                      <a:r>
                        <a:rPr lang="fr-FR" sz="1150" b="0" i="0" dirty="0">
                          <a:solidFill>
                            <a:srgbClr val="F5A623"/>
                          </a:solidFill>
                          <a:latin typeface="+mn-lt"/>
                        </a:rPr>
                        <a:t>RQ-005</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Code postal étranger</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2 317 codes invalides en contrôlant tous les pays</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1 478 codes invalides en France; 839 cas étrangers sont écartés du contrôle français</a:t>
                      </a:r>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50" b="0" i="0" dirty="0">
                          <a:solidFill>
                            <a:srgbClr val="F5A623"/>
                          </a:solidFill>
                          <a:latin typeface="+mn-lt"/>
                        </a:rPr>
                        <a:t>Le format français ne s’applique pas aux adresses étrangères</a:t>
                      </a:r>
                    </a:p>
                    <a:p>
                      <a:endParaRPr sz="115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bl>
          </a:graphicData>
        </a:graphic>
      </p:graphicFrame>
      <p:sp>
        <p:nvSpPr>
          <p:cNvPr id="35" name="TextBox 34"/>
          <p:cNvSpPr txBox="1"/>
          <p:nvPr/>
        </p:nvSpPr>
        <p:spPr>
          <a:xfrm>
            <a:off x="4097883" y="5858746"/>
            <a:ext cx="5909717" cy="1347998"/>
          </a:xfrm>
          <a:prstGeom prst="rect">
            <a:avLst/>
          </a:prstGeom>
          <a:noFill/>
        </p:spPr>
        <p:txBody>
          <a:bodyPr wrap="square" lIns="0" tIns="0" rIns="0" bIns="0" anchor="t">
            <a:spAutoFit/>
          </a:bodyPr>
          <a:lstStyle/>
          <a:p>
            <a:pPr>
              <a:lnSpc>
                <a:spcPct val="108000"/>
              </a:lnSpc>
              <a:spcAft>
                <a:spcPts val="400"/>
              </a:spcAft>
            </a:pPr>
            <a:r>
              <a:rPr sz="900" b="0" i="1" dirty="0">
                <a:solidFill>
                  <a:srgbClr val="8E99A4"/>
                </a:solidFill>
                <a:latin typeface="Inter"/>
              </a:rPr>
              <a:t>Chemins : export </a:t>
            </a:r>
            <a:r>
              <a:rPr sz="900" b="0" i="1" dirty="0" err="1">
                <a:solidFill>
                  <a:srgbClr val="8E99A4"/>
                </a:solidFill>
                <a:latin typeface="Inter"/>
              </a:rPr>
              <a:t>complet</a:t>
            </a:r>
            <a:r>
              <a:rPr sz="900" b="0" i="1" dirty="0">
                <a:solidFill>
                  <a:srgbClr val="8E99A4"/>
                </a:solidFill>
                <a:latin typeface="Inter"/>
              </a:rPr>
              <a:t> des </a:t>
            </a:r>
            <a:r>
              <a:rPr sz="900" b="0" i="1" dirty="0" err="1">
                <a:solidFill>
                  <a:srgbClr val="8E99A4"/>
                </a:solidFill>
                <a:latin typeface="Inter"/>
              </a:rPr>
              <a:t>lignes</a:t>
            </a:r>
            <a:r>
              <a:rPr sz="900" b="0" i="1" dirty="0">
                <a:solidFill>
                  <a:srgbClr val="8E99A4"/>
                </a:solidFill>
                <a:latin typeface="Inter"/>
              </a:rPr>
              <a:t> </a:t>
            </a:r>
            <a:r>
              <a:rPr sz="900" b="0" i="1" dirty="0" err="1">
                <a:solidFill>
                  <a:srgbClr val="8E99A4"/>
                </a:solidFill>
                <a:latin typeface="Inter"/>
              </a:rPr>
              <a:t>en</a:t>
            </a:r>
            <a:r>
              <a:rPr sz="900" b="0" i="1" dirty="0">
                <a:solidFill>
                  <a:srgbClr val="8E99A4"/>
                </a:solidFill>
                <a:latin typeface="Inter"/>
              </a:rPr>
              <a:t> </a:t>
            </a:r>
            <a:r>
              <a:rPr sz="900" b="0" i="1" dirty="0" err="1">
                <a:solidFill>
                  <a:srgbClr val="8E99A4"/>
                </a:solidFill>
                <a:latin typeface="Inter"/>
              </a:rPr>
              <a:t>échec</a:t>
            </a:r>
            <a:r>
              <a:rPr sz="900" b="0" i="1" dirty="0">
                <a:solidFill>
                  <a:srgbClr val="8E99A4"/>
                </a:solidFill>
                <a:latin typeface="Inter"/>
              </a:rPr>
              <a:t> ; </a:t>
            </a:r>
            <a:r>
              <a:rPr sz="900" b="0" i="1" dirty="0" err="1">
                <a:solidFill>
                  <a:srgbClr val="8E99A4"/>
                </a:solidFill>
                <a:latin typeface="Inter"/>
              </a:rPr>
              <a:t>échantillon</a:t>
            </a:r>
            <a:r>
              <a:rPr sz="900" b="0" i="1" dirty="0">
                <a:solidFill>
                  <a:srgbClr val="8E99A4"/>
                </a:solidFill>
                <a:latin typeface="Inter"/>
              </a:rPr>
              <a:t> </a:t>
            </a:r>
            <a:r>
              <a:rPr sz="900" b="0" i="1" dirty="0" err="1">
                <a:solidFill>
                  <a:srgbClr val="8E99A4"/>
                </a:solidFill>
                <a:latin typeface="Inter"/>
              </a:rPr>
              <a:t>commenté</a:t>
            </a:r>
            <a:r>
              <a:rPr sz="900" b="0" i="1" dirty="0">
                <a:solidFill>
                  <a:srgbClr val="8E99A4"/>
                </a:solidFill>
                <a:latin typeface="Inter"/>
              </a:rPr>
              <a:t> de 20 </a:t>
            </a:r>
            <a:r>
              <a:rPr sz="900" b="0" i="1" dirty="0" err="1">
                <a:solidFill>
                  <a:srgbClr val="8E99A4"/>
                </a:solidFill>
                <a:latin typeface="Inter"/>
              </a:rPr>
              <a:t>lignes</a:t>
            </a:r>
            <a:r>
              <a:rPr sz="900" b="0" i="1" dirty="0">
                <a:solidFill>
                  <a:srgbClr val="8E99A4"/>
                </a:solidFill>
                <a:latin typeface="Inter"/>
              </a:rPr>
              <a:t>.</a:t>
            </a:r>
            <a:endParaRPr lang="fr-FR" sz="900" b="0" i="1" dirty="0">
              <a:solidFill>
                <a:srgbClr val="8E99A4"/>
              </a:solidFill>
              <a:latin typeface="Inter"/>
            </a:endParaRPr>
          </a:p>
          <a:p>
            <a:pPr>
              <a:lnSpc>
                <a:spcPct val="108000"/>
              </a:lnSpc>
              <a:spcAft>
                <a:spcPts val="400"/>
              </a:spcAft>
            </a:pPr>
            <a:r>
              <a:rPr lang="fr-FR" sz="900" i="1" dirty="0">
                <a:solidFill>
                  <a:srgbClr val="8E99A4"/>
                </a:solidFill>
                <a:hlinkClick r:id="rId4"/>
              </a:rPr>
              <a:t>https://github.com/ruthabebeneg/td-qualite-g02/blob/main/notebooks/S2_US10_regles_en_tests.ipynb</a:t>
            </a:r>
            <a:endParaRPr lang="fr-FR" sz="900" i="1" dirty="0">
              <a:solidFill>
                <a:srgbClr val="8E99A4"/>
              </a:solidFill>
            </a:endParaRPr>
          </a:p>
          <a:p>
            <a:pPr>
              <a:lnSpc>
                <a:spcPct val="108000"/>
              </a:lnSpc>
              <a:spcAft>
                <a:spcPts val="400"/>
              </a:spcAft>
            </a:pPr>
            <a:r>
              <a:rPr lang="fr-FR" sz="900" i="1" dirty="0">
                <a:solidFill>
                  <a:srgbClr val="8E99A4"/>
                </a:solidFill>
                <a:hlinkClick r:id="rId5"/>
              </a:rPr>
              <a:t>https://github.com/ruthabebeneg/td-qualite-g02/blob/main/notebooks/S2_US11_lignes_en_echec.ipynb</a:t>
            </a:r>
            <a:endParaRPr lang="fr-FR" sz="900" i="1" dirty="0">
              <a:solidFill>
                <a:srgbClr val="8E99A4"/>
              </a:solidFill>
            </a:endParaRPr>
          </a:p>
          <a:p>
            <a:pPr>
              <a:lnSpc>
                <a:spcPct val="108000"/>
              </a:lnSpc>
              <a:spcAft>
                <a:spcPts val="400"/>
              </a:spcAft>
            </a:pPr>
            <a:r>
              <a:rPr lang="fr-FR" sz="900" i="1" dirty="0">
                <a:solidFill>
                  <a:srgbClr val="8E99A4"/>
                </a:solidFill>
                <a:hlinkClick r:id="rId6"/>
              </a:rPr>
              <a:t>https://github.com/ruthabebeneg/td-qualite-g02/blob/ruth/catalogue/S2_US11_echantillon_20_lignes_commente.csv</a:t>
            </a:r>
            <a:endParaRPr lang="fr-FR" sz="900" i="1" dirty="0">
              <a:solidFill>
                <a:srgbClr val="8E99A4"/>
              </a:solidFill>
            </a:endParaRPr>
          </a:p>
          <a:p>
            <a:pPr>
              <a:lnSpc>
                <a:spcPct val="108000"/>
              </a:lnSpc>
              <a:spcAft>
                <a:spcPts val="400"/>
              </a:spcAft>
            </a:pPr>
            <a:r>
              <a:rPr lang="fr-FR" sz="900" i="1" dirty="0">
                <a:solidFill>
                  <a:srgbClr val="8E99A4"/>
                </a:solidFill>
                <a:hlinkClick r:id="rId7"/>
              </a:rPr>
              <a:t>https://github.com/ruthabebeneg/td-qualite-g02/blob/ruth/catalogue/S2_US11_bilan_par_regle.csv</a:t>
            </a:r>
            <a:endParaRPr lang="fr-FR" sz="900" i="1" dirty="0">
              <a:solidFill>
                <a:srgbClr val="8E99A4"/>
              </a:solidFill>
            </a:endParaRPr>
          </a:p>
          <a:p>
            <a:pPr>
              <a:lnSpc>
                <a:spcPct val="108000"/>
              </a:lnSpc>
              <a:spcAft>
                <a:spcPts val="400"/>
              </a:spcAft>
            </a:pPr>
            <a:endParaRPr lang="fr-FR" sz="900" i="1" dirty="0">
              <a:solidFill>
                <a:srgbClr val="8E99A4"/>
              </a:solidFill>
            </a:endParaRPr>
          </a:p>
          <a:p>
            <a:pPr>
              <a:lnSpc>
                <a:spcPct val="108000"/>
              </a:lnSpc>
              <a:spcAft>
                <a:spcPts val="400"/>
              </a:spcAft>
            </a:pPr>
            <a:endParaRPr sz="900" b="0" i="1" dirty="0">
              <a:solidFill>
                <a:srgbClr val="8E99A4"/>
              </a:solidFill>
              <a:latin typeface="Inter"/>
            </a:endParaRPr>
          </a:p>
        </p:txBody>
      </p:sp>
      <p:graphicFrame>
        <p:nvGraphicFramePr>
          <p:cNvPr id="4" name="Tableau 3">
            <a:extLst>
              <a:ext uri="{FF2B5EF4-FFF2-40B4-BE49-F238E27FC236}">
                <a16:creationId xmlns:a16="http://schemas.microsoft.com/office/drawing/2014/main" id="{80D0EF90-7BC8-0E51-FEFD-EA2D19732699}"/>
              </a:ext>
            </a:extLst>
          </p:cNvPr>
          <p:cNvGraphicFramePr>
            <a:graphicFrameLocks noGrp="1"/>
          </p:cNvGraphicFramePr>
          <p:nvPr>
            <p:extLst>
              <p:ext uri="{D42A27DB-BD31-4B8C-83A1-F6EECF244321}">
                <p14:modId xmlns:p14="http://schemas.microsoft.com/office/powerpoint/2010/main" val="994237977"/>
              </p:ext>
            </p:extLst>
          </p:nvPr>
        </p:nvGraphicFramePr>
        <p:xfrm>
          <a:off x="640078" y="3925206"/>
          <a:ext cx="10908790" cy="1915356"/>
        </p:xfrm>
        <a:graphic>
          <a:graphicData uri="http://schemas.openxmlformats.org/drawingml/2006/table">
            <a:tbl>
              <a:tblPr firstRow="1" bandRow="1">
                <a:tableStyleId>{5C22544A-7EE6-4342-B048-85BDC9FD1C3A}</a:tableStyleId>
              </a:tblPr>
              <a:tblGrid>
                <a:gridCol w="2181758">
                  <a:extLst>
                    <a:ext uri="{9D8B030D-6E8A-4147-A177-3AD203B41FA5}">
                      <a16:colId xmlns:a16="http://schemas.microsoft.com/office/drawing/2014/main" val="1869573024"/>
                    </a:ext>
                  </a:extLst>
                </a:gridCol>
                <a:gridCol w="2181758">
                  <a:extLst>
                    <a:ext uri="{9D8B030D-6E8A-4147-A177-3AD203B41FA5}">
                      <a16:colId xmlns:a16="http://schemas.microsoft.com/office/drawing/2014/main" val="445504707"/>
                    </a:ext>
                  </a:extLst>
                </a:gridCol>
                <a:gridCol w="2181758">
                  <a:extLst>
                    <a:ext uri="{9D8B030D-6E8A-4147-A177-3AD203B41FA5}">
                      <a16:colId xmlns:a16="http://schemas.microsoft.com/office/drawing/2014/main" val="3505338690"/>
                    </a:ext>
                  </a:extLst>
                </a:gridCol>
                <a:gridCol w="2181758">
                  <a:extLst>
                    <a:ext uri="{9D8B030D-6E8A-4147-A177-3AD203B41FA5}">
                      <a16:colId xmlns:a16="http://schemas.microsoft.com/office/drawing/2014/main" val="3906628653"/>
                    </a:ext>
                  </a:extLst>
                </a:gridCol>
                <a:gridCol w="2181758">
                  <a:extLst>
                    <a:ext uri="{9D8B030D-6E8A-4147-A177-3AD203B41FA5}">
                      <a16:colId xmlns:a16="http://schemas.microsoft.com/office/drawing/2014/main" val="2812030433"/>
                    </a:ext>
                  </a:extLst>
                </a:gridCol>
              </a:tblGrid>
              <a:tr h="239563">
                <a:tc>
                  <a:txBody>
                    <a:bodyPr/>
                    <a:lstStyle/>
                    <a:p>
                      <a:r>
                        <a:rPr sz="800" b="1" i="0" spc="60" dirty="0" err="1">
                          <a:solidFill>
                            <a:srgbClr val="F5A623"/>
                          </a:solidFill>
                          <a:latin typeface="Inter"/>
                        </a:rPr>
                        <a:t>Règle</a:t>
                      </a:r>
                      <a:endParaRPr sz="800" b="1" i="0" spc="60" dirty="0">
                        <a:solidFill>
                          <a:srgbClr val="F5A623"/>
                        </a:solidFill>
                        <a:latin typeface="Inter"/>
                      </a:endParaRPr>
                    </a:p>
                  </a:txBody>
                  <a:tcPr marL="73152" marR="73152" anchor="ctr">
                    <a:solidFill>
                      <a:schemeClr val="bg1">
                        <a:lumMod val="90000"/>
                        <a:lumOff val="10000"/>
                      </a:schemeClr>
                    </a:solidFill>
                  </a:tcPr>
                </a:tc>
                <a:tc>
                  <a:txBody>
                    <a:bodyPr/>
                    <a:lstStyle/>
                    <a:p>
                      <a:r>
                        <a:rPr sz="800" b="1" i="0" spc="60">
                          <a:solidFill>
                            <a:srgbClr val="F5A623"/>
                          </a:solidFill>
                          <a:latin typeface="Inter"/>
                        </a:rPr>
                        <a:t>Famille d'erreur</a:t>
                      </a:r>
                    </a:p>
                  </a:txBody>
                  <a:tcPr marL="73152" marR="73152" anchor="ctr">
                    <a:solidFill>
                      <a:schemeClr val="bg1">
                        <a:lumMod val="90000"/>
                        <a:lumOff val="10000"/>
                      </a:schemeClr>
                    </a:solidFill>
                  </a:tcPr>
                </a:tc>
                <a:tc>
                  <a:txBody>
                    <a:bodyPr/>
                    <a:lstStyle/>
                    <a:p>
                      <a:r>
                        <a:rPr sz="800" b="1" i="0" spc="60" dirty="0" err="1">
                          <a:solidFill>
                            <a:srgbClr val="F5A623"/>
                          </a:solidFill>
                          <a:latin typeface="Inter"/>
                        </a:rPr>
                        <a:t>Lignes</a:t>
                      </a:r>
                      <a:r>
                        <a:rPr sz="800" b="1" i="0" spc="60" dirty="0">
                          <a:solidFill>
                            <a:srgbClr val="F5A623"/>
                          </a:solidFill>
                          <a:latin typeface="Inter"/>
                        </a:rPr>
                        <a:t> (sur 20)</a:t>
                      </a:r>
                    </a:p>
                  </a:txBody>
                  <a:tcPr marL="73152" marR="73152" anchor="ctr">
                    <a:solidFill>
                      <a:schemeClr val="bg1">
                        <a:lumMod val="90000"/>
                        <a:lumOff val="10000"/>
                      </a:schemeClr>
                    </a:solidFill>
                  </a:tcPr>
                </a:tc>
                <a:tc>
                  <a:txBody>
                    <a:bodyPr/>
                    <a:lstStyle/>
                    <a:p>
                      <a:r>
                        <a:rPr sz="800" b="1" i="0" spc="60" dirty="0">
                          <a:solidFill>
                            <a:srgbClr val="F5A623"/>
                          </a:solidFill>
                          <a:latin typeface="Inter"/>
                        </a:rPr>
                        <a:t>Cause probable</a:t>
                      </a:r>
                    </a:p>
                  </a:txBody>
                  <a:tcPr marL="73152" marR="73152" anchor="ctr">
                    <a:solidFill>
                      <a:schemeClr val="bg1">
                        <a:lumMod val="90000"/>
                        <a:lumOff val="10000"/>
                      </a:schemeClr>
                    </a:solidFill>
                  </a:tcPr>
                </a:tc>
                <a:tc>
                  <a:txBody>
                    <a:bodyPr/>
                    <a:lstStyle/>
                    <a:p>
                      <a:r>
                        <a:rPr sz="800" b="1" i="0" spc="60" dirty="0">
                          <a:solidFill>
                            <a:srgbClr val="F5A623"/>
                          </a:solidFill>
                          <a:latin typeface="Inter"/>
                        </a:rPr>
                        <a:t>Action </a:t>
                      </a:r>
                      <a:r>
                        <a:rPr sz="800" b="1" i="0" spc="60" dirty="0" err="1">
                          <a:solidFill>
                            <a:srgbClr val="F5A623"/>
                          </a:solidFill>
                          <a:latin typeface="Inter"/>
                        </a:rPr>
                        <a:t>proposée</a:t>
                      </a:r>
                      <a:r>
                        <a:rPr sz="800" b="1" i="0" spc="60" dirty="0">
                          <a:solidFill>
                            <a:srgbClr val="F5A623"/>
                          </a:solidFill>
                          <a:latin typeface="Inter"/>
                        </a:rPr>
                        <a:t> (à qui ?)</a:t>
                      </a:r>
                    </a:p>
                  </a:txBody>
                  <a:tcPr marL="73152" marR="73152" anchor="ctr">
                    <a:solidFill>
                      <a:schemeClr val="bg1">
                        <a:lumMod val="90000"/>
                        <a:lumOff val="10000"/>
                      </a:schemeClr>
                    </a:solidFill>
                  </a:tcPr>
                </a:tc>
                <a:extLst>
                  <a:ext uri="{0D108BD9-81ED-4DB2-BD59-A6C34878D82A}">
                    <a16:rowId xmlns:a16="http://schemas.microsoft.com/office/drawing/2014/main" val="1488229664"/>
                  </a:ext>
                </a:extLst>
              </a:tr>
              <a:tr h="289102">
                <a:tc>
                  <a:txBody>
                    <a:bodyPr/>
                    <a:lstStyle/>
                    <a:p>
                      <a:pPr algn="l">
                        <a:buNone/>
                      </a:pPr>
                      <a:r>
                        <a:rPr lang="fr-FR" sz="800" b="0" i="0" dirty="0">
                          <a:solidFill>
                            <a:schemeClr val="accent2">
                              <a:lumMod val="75000"/>
                            </a:schemeClr>
                          </a:solidFill>
                          <a:effectLst/>
                          <a:latin typeface="Segoe WPC"/>
                        </a:rPr>
                        <a:t>RQ-001</a:t>
                      </a:r>
                    </a:p>
                  </a:txBody>
                  <a:tcPr marL="38100" marR="38100" marT="25400" marB="25400" anchor="ctr">
                    <a:solidFill>
                      <a:srgbClr val="2E2916"/>
                    </a:solidFill>
                  </a:tcPr>
                </a:tc>
                <a:tc>
                  <a:txBody>
                    <a:bodyPr/>
                    <a:lstStyle/>
                    <a:p>
                      <a:pPr algn="l">
                        <a:buNone/>
                      </a:pPr>
                      <a:r>
                        <a:rPr lang="fr-FR" sz="800" b="0" i="0">
                          <a:solidFill>
                            <a:schemeClr val="accent2">
                              <a:lumMod val="75000"/>
                            </a:schemeClr>
                          </a:solidFill>
                          <a:effectLst/>
                          <a:latin typeface="Segoe WPC"/>
                        </a:rPr>
                        <a:t>Cohérence des dates</a:t>
                      </a:r>
                    </a:p>
                  </a:txBody>
                  <a:tcPr marL="38100" marR="38100" marT="25400" marB="25400" anchor="ctr">
                    <a:solidFill>
                      <a:srgbClr val="2E2916"/>
                    </a:solidFill>
                  </a:tcPr>
                </a:tc>
                <a:tc>
                  <a:txBody>
                    <a:bodyPr/>
                    <a:lstStyle/>
                    <a:p>
                      <a:pPr algn="r">
                        <a:buNone/>
                      </a:pPr>
                      <a:r>
                        <a:rPr lang="fr-FR" sz="800" b="0" i="0" dirty="0">
                          <a:solidFill>
                            <a:schemeClr val="accent2">
                              <a:lumMod val="75000"/>
                            </a:schemeClr>
                          </a:solidFill>
                          <a:effectLst/>
                          <a:latin typeface="Segoe WPC"/>
                        </a:rPr>
                        <a:t>4/20</a:t>
                      </a:r>
                    </a:p>
                  </a:txBody>
                  <a:tcPr marL="38100" marR="38100" marT="25400" marB="25400" anchor="ctr">
                    <a:solidFill>
                      <a:srgbClr val="2E2916"/>
                    </a:solidFill>
                  </a:tcPr>
                </a:tc>
                <a:tc>
                  <a:txBody>
                    <a:bodyPr/>
                    <a:lstStyle/>
                    <a:p>
                      <a:pPr algn="l">
                        <a:buNone/>
                      </a:pPr>
                      <a:r>
                        <a:rPr lang="fr-FR" sz="800" b="0" i="0">
                          <a:solidFill>
                            <a:schemeClr val="accent2">
                              <a:lumMod val="75000"/>
                            </a:schemeClr>
                          </a:solidFill>
                          <a:effectLst/>
                          <a:latin typeface="Segoe WPC"/>
                        </a:rPr>
                        <a:t>Date absente ou date de fin antérieure ou égale au début</a:t>
                      </a:r>
                    </a:p>
                  </a:txBody>
                  <a:tcPr marL="38100" marR="38100" marT="25400" marB="25400" anchor="ctr">
                    <a:solidFill>
                      <a:srgbClr val="2E2916"/>
                    </a:solidFill>
                  </a:tcPr>
                </a:tc>
                <a:tc>
                  <a:txBody>
                    <a:bodyPr/>
                    <a:lstStyle/>
                    <a:p>
                      <a:pPr algn="l">
                        <a:buNone/>
                      </a:pPr>
                      <a:r>
                        <a:rPr lang="fr-FR" sz="800" b="0" i="0" dirty="0">
                          <a:solidFill>
                            <a:schemeClr val="accent2">
                              <a:lumMod val="75000"/>
                            </a:schemeClr>
                          </a:solidFill>
                          <a:effectLst/>
                          <a:latin typeface="Segoe WPC"/>
                        </a:rPr>
                        <a:t>Vérifier les dates et les corriger après validation (data steward)</a:t>
                      </a:r>
                    </a:p>
                  </a:txBody>
                  <a:tcPr marL="38100" marR="38100" marT="25400" marB="25400" anchor="ctr">
                    <a:solidFill>
                      <a:srgbClr val="2E2916"/>
                    </a:solidFill>
                  </a:tcPr>
                </a:tc>
                <a:extLst>
                  <a:ext uri="{0D108BD9-81ED-4DB2-BD59-A6C34878D82A}">
                    <a16:rowId xmlns:a16="http://schemas.microsoft.com/office/drawing/2014/main" val="1917238069"/>
                  </a:ext>
                </a:extLst>
              </a:tr>
              <a:tr h="289102">
                <a:tc>
                  <a:txBody>
                    <a:bodyPr/>
                    <a:lstStyle/>
                    <a:p>
                      <a:pPr algn="l">
                        <a:buNone/>
                      </a:pPr>
                      <a:r>
                        <a:rPr lang="fr-FR" sz="800" b="0" i="0" dirty="0">
                          <a:solidFill>
                            <a:schemeClr val="accent2">
                              <a:lumMod val="75000"/>
                            </a:schemeClr>
                          </a:solidFill>
                          <a:effectLst/>
                          <a:latin typeface="Segoe WPC"/>
                        </a:rPr>
                        <a:t>RQ-002</a:t>
                      </a:r>
                    </a:p>
                  </a:txBody>
                  <a:tcPr marL="38100" marR="38100" marT="25400" marB="25400" anchor="ctr">
                    <a:solidFill>
                      <a:srgbClr val="2E2916"/>
                    </a:solidFill>
                  </a:tcPr>
                </a:tc>
                <a:tc>
                  <a:txBody>
                    <a:bodyPr/>
                    <a:lstStyle/>
                    <a:p>
                      <a:pPr algn="l">
                        <a:buNone/>
                      </a:pPr>
                      <a:r>
                        <a:rPr lang="fr-FR" sz="800" b="0" i="0">
                          <a:solidFill>
                            <a:schemeClr val="accent2">
                              <a:lumMod val="75000"/>
                            </a:schemeClr>
                          </a:solidFill>
                          <a:effectLst/>
                          <a:latin typeface="Segoe WPC"/>
                        </a:rPr>
                        <a:t>Validité de l’âge</a:t>
                      </a:r>
                    </a:p>
                  </a:txBody>
                  <a:tcPr marL="38100" marR="38100" marT="25400" marB="25400" anchor="ctr">
                    <a:solidFill>
                      <a:srgbClr val="2E2916"/>
                    </a:solidFill>
                  </a:tcPr>
                </a:tc>
                <a:tc>
                  <a:txBody>
                    <a:bodyPr/>
                    <a:lstStyle/>
                    <a:p>
                      <a:pPr algn="r">
                        <a:buNone/>
                      </a:pPr>
                      <a:r>
                        <a:rPr lang="fr-FR" sz="800" b="0" i="0">
                          <a:solidFill>
                            <a:schemeClr val="accent2">
                              <a:lumMod val="75000"/>
                            </a:schemeClr>
                          </a:solidFill>
                          <a:effectLst/>
                          <a:latin typeface="Segoe WPC"/>
                        </a:rPr>
                        <a:t>4/20</a:t>
                      </a:r>
                    </a:p>
                  </a:txBody>
                  <a:tcPr marL="38100" marR="38100" marT="25400" marB="25400" anchor="ctr">
                    <a:solidFill>
                      <a:srgbClr val="2E2916"/>
                    </a:solidFill>
                  </a:tcPr>
                </a:tc>
                <a:tc>
                  <a:txBody>
                    <a:bodyPr/>
                    <a:lstStyle/>
                    <a:p>
                      <a:pPr algn="l">
                        <a:buNone/>
                      </a:pPr>
                      <a:r>
                        <a:rPr lang="fr-FR" sz="800" b="0" i="0">
                          <a:solidFill>
                            <a:schemeClr val="accent2">
                              <a:lumMod val="75000"/>
                            </a:schemeClr>
                          </a:solidFill>
                          <a:effectLst/>
                          <a:latin typeface="Segoe WPC"/>
                        </a:rPr>
                        <a:t>Âge inférieur à 18 ans au début du contrat</a:t>
                      </a:r>
                    </a:p>
                  </a:txBody>
                  <a:tcPr marL="38100" marR="38100" marT="25400" marB="25400" anchor="ctr">
                    <a:solidFill>
                      <a:srgbClr val="2E2916"/>
                    </a:solidFill>
                  </a:tcPr>
                </a:tc>
                <a:tc>
                  <a:txBody>
                    <a:bodyPr/>
                    <a:lstStyle/>
                    <a:p>
                      <a:pPr algn="l">
                        <a:buNone/>
                      </a:pPr>
                      <a:r>
                        <a:rPr lang="fr-FR" sz="800" b="0" i="0" dirty="0">
                          <a:solidFill>
                            <a:schemeClr val="accent2">
                              <a:lumMod val="75000"/>
                            </a:schemeClr>
                          </a:solidFill>
                          <a:effectLst/>
                          <a:latin typeface="Segoe WPC"/>
                        </a:rPr>
                        <a:t>Vérifier l’éligibilité du souscripteur au début du contrat (data </a:t>
                      </a:r>
                      <a:r>
                        <a:rPr lang="fr-FR" sz="800" b="0" i="0" dirty="0" err="1">
                          <a:solidFill>
                            <a:schemeClr val="accent2">
                              <a:lumMod val="75000"/>
                            </a:schemeClr>
                          </a:solidFill>
                          <a:effectLst/>
                          <a:latin typeface="Segoe WPC"/>
                        </a:rPr>
                        <a:t>owner</a:t>
                      </a:r>
                      <a:r>
                        <a:rPr lang="fr-FR" sz="800" b="0" i="0" dirty="0">
                          <a:solidFill>
                            <a:schemeClr val="accent2">
                              <a:lumMod val="75000"/>
                            </a:schemeClr>
                          </a:solidFill>
                          <a:effectLst/>
                          <a:latin typeface="Segoe WPC"/>
                        </a:rPr>
                        <a:t>)</a:t>
                      </a:r>
                    </a:p>
                  </a:txBody>
                  <a:tcPr marL="38100" marR="38100" marT="25400" marB="25400" anchor="ctr">
                    <a:solidFill>
                      <a:srgbClr val="2E2916"/>
                    </a:solidFill>
                  </a:tcPr>
                </a:tc>
                <a:extLst>
                  <a:ext uri="{0D108BD9-81ED-4DB2-BD59-A6C34878D82A}">
                    <a16:rowId xmlns:a16="http://schemas.microsoft.com/office/drawing/2014/main" val="1721093614"/>
                  </a:ext>
                </a:extLst>
              </a:tr>
              <a:tr h="202593">
                <a:tc>
                  <a:txBody>
                    <a:bodyPr/>
                    <a:lstStyle/>
                    <a:p>
                      <a:pPr algn="l">
                        <a:buNone/>
                      </a:pPr>
                      <a:r>
                        <a:rPr lang="fr-FR" sz="800" b="0" i="0">
                          <a:solidFill>
                            <a:schemeClr val="accent2">
                              <a:lumMod val="75000"/>
                            </a:schemeClr>
                          </a:solidFill>
                          <a:effectLst/>
                          <a:latin typeface="Segoe WPC"/>
                        </a:rPr>
                        <a:t>RQ-003</a:t>
                      </a:r>
                    </a:p>
                  </a:txBody>
                  <a:tcPr marL="38100" marR="38100" marT="25400" marB="25400" anchor="ctr">
                    <a:solidFill>
                      <a:srgbClr val="2E2916"/>
                    </a:solidFill>
                  </a:tcPr>
                </a:tc>
                <a:tc>
                  <a:txBody>
                    <a:bodyPr/>
                    <a:lstStyle/>
                    <a:p>
                      <a:pPr algn="l">
                        <a:buNone/>
                      </a:pPr>
                      <a:r>
                        <a:rPr lang="fr-FR" sz="800" b="0" i="0" dirty="0">
                          <a:solidFill>
                            <a:schemeClr val="accent2">
                              <a:lumMod val="75000"/>
                            </a:schemeClr>
                          </a:solidFill>
                          <a:effectLst/>
                          <a:latin typeface="Segoe WPC"/>
                        </a:rPr>
                        <a:t>Complétude du téléphone</a:t>
                      </a:r>
                    </a:p>
                  </a:txBody>
                  <a:tcPr marL="38100" marR="38100" marT="25400" marB="25400" anchor="ctr">
                    <a:solidFill>
                      <a:srgbClr val="2E2916"/>
                    </a:solidFill>
                  </a:tcPr>
                </a:tc>
                <a:tc>
                  <a:txBody>
                    <a:bodyPr/>
                    <a:lstStyle/>
                    <a:p>
                      <a:pPr algn="r">
                        <a:buNone/>
                      </a:pPr>
                      <a:r>
                        <a:rPr lang="fr-FR" sz="800" b="0" i="0">
                          <a:solidFill>
                            <a:schemeClr val="accent2">
                              <a:lumMod val="75000"/>
                            </a:schemeClr>
                          </a:solidFill>
                          <a:effectLst/>
                          <a:latin typeface="Segoe WPC"/>
                        </a:rPr>
                        <a:t>3/20</a:t>
                      </a:r>
                    </a:p>
                  </a:txBody>
                  <a:tcPr marL="38100" marR="38100" marT="25400" marB="25400" anchor="ctr">
                    <a:solidFill>
                      <a:srgbClr val="2E2916"/>
                    </a:solidFill>
                  </a:tcPr>
                </a:tc>
                <a:tc>
                  <a:txBody>
                    <a:bodyPr/>
                    <a:lstStyle/>
                    <a:p>
                      <a:pPr algn="l">
                        <a:buNone/>
                      </a:pPr>
                      <a:r>
                        <a:rPr lang="fr-FR" sz="800" b="0" i="0">
                          <a:solidFill>
                            <a:schemeClr val="accent2">
                              <a:lumMod val="75000"/>
                            </a:schemeClr>
                          </a:solidFill>
                          <a:effectLst/>
                          <a:latin typeface="Segoe WPC"/>
                        </a:rPr>
                        <a:t>Téléphone NULL, vide ou composé d’espaces</a:t>
                      </a:r>
                    </a:p>
                  </a:txBody>
                  <a:tcPr marL="38100" marR="38100" marT="25400" marB="25400" anchor="ctr">
                    <a:solidFill>
                      <a:srgbClr val="2E2916"/>
                    </a:solidFill>
                  </a:tcPr>
                </a:tc>
                <a:tc>
                  <a:txBody>
                    <a:bodyPr/>
                    <a:lstStyle/>
                    <a:p>
                      <a:pPr algn="l">
                        <a:buNone/>
                      </a:pPr>
                      <a:r>
                        <a:rPr lang="fr-FR" sz="800" b="0" i="0" dirty="0">
                          <a:solidFill>
                            <a:schemeClr val="accent2">
                              <a:lumMod val="75000"/>
                            </a:schemeClr>
                          </a:solidFill>
                          <a:effectLst/>
                          <a:latin typeface="Segoe WPC"/>
                        </a:rPr>
                        <a:t>Vérifier la source et compléter si possible (data steward)</a:t>
                      </a:r>
                    </a:p>
                  </a:txBody>
                  <a:tcPr marL="38100" marR="38100" marT="25400" marB="25400" anchor="ctr">
                    <a:solidFill>
                      <a:srgbClr val="2E2916"/>
                    </a:solidFill>
                  </a:tcPr>
                </a:tc>
                <a:extLst>
                  <a:ext uri="{0D108BD9-81ED-4DB2-BD59-A6C34878D82A}">
                    <a16:rowId xmlns:a16="http://schemas.microsoft.com/office/drawing/2014/main" val="3200717270"/>
                  </a:ext>
                </a:extLst>
              </a:tr>
              <a:tr h="202593">
                <a:tc>
                  <a:txBody>
                    <a:bodyPr/>
                    <a:lstStyle/>
                    <a:p>
                      <a:pPr algn="l">
                        <a:buNone/>
                      </a:pPr>
                      <a:r>
                        <a:rPr lang="fr-FR" sz="800" b="0" i="0">
                          <a:solidFill>
                            <a:schemeClr val="accent2">
                              <a:lumMod val="75000"/>
                            </a:schemeClr>
                          </a:solidFill>
                          <a:effectLst/>
                          <a:latin typeface="Segoe WPC"/>
                        </a:rPr>
                        <a:t>RQ-005</a:t>
                      </a:r>
                    </a:p>
                  </a:txBody>
                  <a:tcPr marL="38100" marR="38100" marT="25400" marB="25400" anchor="ctr">
                    <a:solidFill>
                      <a:srgbClr val="2E2916"/>
                    </a:solidFill>
                  </a:tcPr>
                </a:tc>
                <a:tc>
                  <a:txBody>
                    <a:bodyPr/>
                    <a:lstStyle/>
                    <a:p>
                      <a:pPr algn="l">
                        <a:buNone/>
                      </a:pPr>
                      <a:r>
                        <a:rPr lang="fr-FR" sz="800" b="0" i="0">
                          <a:solidFill>
                            <a:schemeClr val="accent2">
                              <a:lumMod val="75000"/>
                            </a:schemeClr>
                          </a:solidFill>
                          <a:effectLst/>
                          <a:latin typeface="Segoe WPC"/>
                        </a:rPr>
                        <a:t>Format du code postal</a:t>
                      </a:r>
                    </a:p>
                  </a:txBody>
                  <a:tcPr marL="38100" marR="38100" marT="25400" marB="25400" anchor="ctr">
                    <a:solidFill>
                      <a:srgbClr val="2E2916"/>
                    </a:solidFill>
                  </a:tcPr>
                </a:tc>
                <a:tc>
                  <a:txBody>
                    <a:bodyPr/>
                    <a:lstStyle/>
                    <a:p>
                      <a:pPr algn="r">
                        <a:buNone/>
                      </a:pPr>
                      <a:r>
                        <a:rPr lang="fr-FR" sz="800" b="0" i="0">
                          <a:solidFill>
                            <a:schemeClr val="accent2">
                              <a:lumMod val="75000"/>
                            </a:schemeClr>
                          </a:solidFill>
                          <a:effectLst/>
                          <a:latin typeface="Segoe WPC"/>
                        </a:rPr>
                        <a:t>3/20</a:t>
                      </a:r>
                    </a:p>
                  </a:txBody>
                  <a:tcPr marL="38100" marR="38100" marT="25400" marB="25400" anchor="ctr">
                    <a:solidFill>
                      <a:srgbClr val="2E2916"/>
                    </a:solidFill>
                  </a:tcPr>
                </a:tc>
                <a:tc>
                  <a:txBody>
                    <a:bodyPr/>
                    <a:lstStyle/>
                    <a:p>
                      <a:pPr algn="l">
                        <a:buNone/>
                      </a:pPr>
                      <a:r>
                        <a:rPr lang="fr-FR" sz="800" b="0" i="0">
                          <a:solidFill>
                            <a:schemeClr val="accent2">
                              <a:lumMod val="75000"/>
                            </a:schemeClr>
                          </a:solidFill>
                          <a:effectLst/>
                          <a:latin typeface="Segoe WPC"/>
                        </a:rPr>
                        <a:t>Code postal français mal formaté</a:t>
                      </a:r>
                    </a:p>
                  </a:txBody>
                  <a:tcPr marL="38100" marR="38100" marT="25400" marB="25400" anchor="ctr">
                    <a:solidFill>
                      <a:srgbClr val="2E2916"/>
                    </a:solidFill>
                  </a:tcPr>
                </a:tc>
                <a:tc>
                  <a:txBody>
                    <a:bodyPr/>
                    <a:lstStyle/>
                    <a:p>
                      <a:pPr algn="l">
                        <a:buNone/>
                      </a:pPr>
                      <a:r>
                        <a:rPr lang="fr-FR" sz="800" b="0" i="0" dirty="0">
                          <a:solidFill>
                            <a:schemeClr val="accent2">
                              <a:lumMod val="75000"/>
                            </a:schemeClr>
                          </a:solidFill>
                          <a:effectLst/>
                          <a:latin typeface="Segoe WPC"/>
                        </a:rPr>
                        <a:t>Vérifier et corriger le code postal (data steward)</a:t>
                      </a:r>
                    </a:p>
                  </a:txBody>
                  <a:tcPr marL="38100" marR="38100" marT="25400" marB="25400" anchor="ctr">
                    <a:solidFill>
                      <a:srgbClr val="2E2916"/>
                    </a:solidFill>
                  </a:tcPr>
                </a:tc>
                <a:extLst>
                  <a:ext uri="{0D108BD9-81ED-4DB2-BD59-A6C34878D82A}">
                    <a16:rowId xmlns:a16="http://schemas.microsoft.com/office/drawing/2014/main" val="4284489078"/>
                  </a:ext>
                </a:extLst>
              </a:tr>
              <a:tr h="202593">
                <a:tc>
                  <a:txBody>
                    <a:bodyPr/>
                    <a:lstStyle/>
                    <a:p>
                      <a:pPr algn="l">
                        <a:buNone/>
                      </a:pPr>
                      <a:r>
                        <a:rPr lang="fr-FR" sz="800" b="0" i="0">
                          <a:solidFill>
                            <a:schemeClr val="accent2">
                              <a:lumMod val="75000"/>
                            </a:schemeClr>
                          </a:solidFill>
                          <a:effectLst/>
                          <a:latin typeface="Segoe WPC"/>
                        </a:rPr>
                        <a:t>RQ-009</a:t>
                      </a:r>
                    </a:p>
                  </a:txBody>
                  <a:tcPr marL="38100" marR="38100" marT="25400" marB="25400" anchor="ctr">
                    <a:solidFill>
                      <a:srgbClr val="2E2916"/>
                    </a:solidFill>
                  </a:tcPr>
                </a:tc>
                <a:tc>
                  <a:txBody>
                    <a:bodyPr/>
                    <a:lstStyle/>
                    <a:p>
                      <a:pPr algn="l">
                        <a:buNone/>
                      </a:pPr>
                      <a:r>
                        <a:rPr lang="fr-FR" sz="800" b="0" i="0">
                          <a:solidFill>
                            <a:schemeClr val="accent2">
                              <a:lumMod val="75000"/>
                            </a:schemeClr>
                          </a:solidFill>
                          <a:effectLst/>
                          <a:latin typeface="Segoe WPC"/>
                        </a:rPr>
                        <a:t>Valeur hors domaine</a:t>
                      </a:r>
                    </a:p>
                  </a:txBody>
                  <a:tcPr marL="38100" marR="38100" marT="25400" marB="25400" anchor="ctr">
                    <a:solidFill>
                      <a:srgbClr val="2E2916"/>
                    </a:solidFill>
                  </a:tcPr>
                </a:tc>
                <a:tc>
                  <a:txBody>
                    <a:bodyPr/>
                    <a:lstStyle/>
                    <a:p>
                      <a:pPr algn="r">
                        <a:buNone/>
                      </a:pPr>
                      <a:r>
                        <a:rPr lang="fr-FR" sz="800" b="0" i="0">
                          <a:solidFill>
                            <a:schemeClr val="accent2">
                              <a:lumMod val="75000"/>
                            </a:schemeClr>
                          </a:solidFill>
                          <a:effectLst/>
                          <a:latin typeface="Segoe WPC"/>
                        </a:rPr>
                        <a:t>3/20</a:t>
                      </a:r>
                    </a:p>
                  </a:txBody>
                  <a:tcPr marL="38100" marR="38100" marT="25400" marB="25400" anchor="ctr">
                    <a:solidFill>
                      <a:srgbClr val="2E2916"/>
                    </a:solidFill>
                  </a:tcPr>
                </a:tc>
                <a:tc>
                  <a:txBody>
                    <a:bodyPr/>
                    <a:lstStyle/>
                    <a:p>
                      <a:pPr algn="l">
                        <a:buNone/>
                      </a:pPr>
                      <a:r>
                        <a:rPr lang="fr-FR" sz="800" b="0" i="0" dirty="0">
                          <a:solidFill>
                            <a:schemeClr val="accent2">
                              <a:lumMod val="75000"/>
                            </a:schemeClr>
                          </a:solidFill>
                          <a:effectLst/>
                          <a:latin typeface="Segoe WPC"/>
                        </a:rPr>
                        <a:t>Type de personne non autorisé</a:t>
                      </a:r>
                    </a:p>
                  </a:txBody>
                  <a:tcPr marL="38100" marR="38100" marT="25400" marB="25400" anchor="ctr">
                    <a:solidFill>
                      <a:srgbClr val="2E2916"/>
                    </a:solidFill>
                  </a:tcPr>
                </a:tc>
                <a:tc>
                  <a:txBody>
                    <a:bodyPr/>
                    <a:lstStyle/>
                    <a:p>
                      <a:pPr algn="l">
                        <a:buNone/>
                      </a:pPr>
                      <a:r>
                        <a:rPr lang="fr-FR" sz="800" b="0" i="0" dirty="0">
                          <a:solidFill>
                            <a:schemeClr val="accent2">
                              <a:lumMod val="75000"/>
                            </a:schemeClr>
                          </a:solidFill>
                          <a:effectLst/>
                          <a:latin typeface="Segoe WPC"/>
                        </a:rPr>
                        <a:t>Vérifier et corriger la valeur (data steward)</a:t>
                      </a:r>
                    </a:p>
                  </a:txBody>
                  <a:tcPr marL="38100" marR="38100" marT="25400" marB="25400" anchor="ctr">
                    <a:solidFill>
                      <a:srgbClr val="2E2916"/>
                    </a:solidFill>
                  </a:tcPr>
                </a:tc>
                <a:extLst>
                  <a:ext uri="{0D108BD9-81ED-4DB2-BD59-A6C34878D82A}">
                    <a16:rowId xmlns:a16="http://schemas.microsoft.com/office/drawing/2014/main" val="2060816990"/>
                  </a:ext>
                </a:extLst>
              </a:tr>
              <a:tr h="202593">
                <a:tc>
                  <a:txBody>
                    <a:bodyPr/>
                    <a:lstStyle/>
                    <a:p>
                      <a:pPr algn="l">
                        <a:buNone/>
                      </a:pPr>
                      <a:r>
                        <a:rPr lang="fr-FR" sz="800" b="0" i="0">
                          <a:solidFill>
                            <a:schemeClr val="accent2">
                              <a:lumMod val="75000"/>
                            </a:schemeClr>
                          </a:solidFill>
                          <a:effectLst/>
                          <a:latin typeface="Segoe WPC"/>
                        </a:rPr>
                        <a:t>RQ-010</a:t>
                      </a:r>
                    </a:p>
                  </a:txBody>
                  <a:tcPr marL="38100" marR="38100" marT="25400" marB="25400" anchor="ctr">
                    <a:solidFill>
                      <a:srgbClr val="2E2916"/>
                    </a:solidFill>
                  </a:tcPr>
                </a:tc>
                <a:tc>
                  <a:txBody>
                    <a:bodyPr/>
                    <a:lstStyle/>
                    <a:p>
                      <a:pPr algn="l">
                        <a:buNone/>
                      </a:pPr>
                      <a:r>
                        <a:rPr lang="fr-FR" sz="800" b="0" i="0">
                          <a:solidFill>
                            <a:schemeClr val="accent2">
                              <a:lumMod val="75000"/>
                            </a:schemeClr>
                          </a:solidFill>
                          <a:effectLst/>
                          <a:latin typeface="Segoe WPC"/>
                        </a:rPr>
                        <a:t>Durée de garantie</a:t>
                      </a:r>
                    </a:p>
                  </a:txBody>
                  <a:tcPr marL="38100" marR="38100" marT="25400" marB="25400" anchor="ctr">
                    <a:solidFill>
                      <a:srgbClr val="2E2916"/>
                    </a:solidFill>
                  </a:tcPr>
                </a:tc>
                <a:tc>
                  <a:txBody>
                    <a:bodyPr/>
                    <a:lstStyle/>
                    <a:p>
                      <a:pPr algn="r">
                        <a:buNone/>
                      </a:pPr>
                      <a:r>
                        <a:rPr lang="fr-FR" sz="800" b="0" i="0" dirty="0">
                          <a:solidFill>
                            <a:schemeClr val="accent2">
                              <a:lumMod val="75000"/>
                            </a:schemeClr>
                          </a:solidFill>
                          <a:effectLst/>
                          <a:latin typeface="Segoe WPC"/>
                        </a:rPr>
                        <a:t>3/20</a:t>
                      </a:r>
                    </a:p>
                  </a:txBody>
                  <a:tcPr marL="38100" marR="38100" marT="25400" marB="25400" anchor="ctr">
                    <a:solidFill>
                      <a:srgbClr val="2E2916"/>
                    </a:solidFill>
                  </a:tcPr>
                </a:tc>
                <a:tc>
                  <a:txBody>
                    <a:bodyPr/>
                    <a:lstStyle/>
                    <a:p>
                      <a:pPr algn="l">
                        <a:buNone/>
                      </a:pPr>
                      <a:r>
                        <a:rPr lang="fr-FR" sz="800" b="0" i="0">
                          <a:solidFill>
                            <a:schemeClr val="accent2">
                              <a:lumMod val="75000"/>
                            </a:schemeClr>
                          </a:solidFill>
                          <a:effectLst/>
                          <a:latin typeface="Segoe WPC"/>
                        </a:rPr>
                        <a:t>Durée hors liste autorisée</a:t>
                      </a:r>
                    </a:p>
                  </a:txBody>
                  <a:tcPr marL="38100" marR="38100" marT="25400" marB="25400" anchor="ctr">
                    <a:solidFill>
                      <a:srgbClr val="2E2916"/>
                    </a:solidFill>
                  </a:tcPr>
                </a:tc>
                <a:tc>
                  <a:txBody>
                    <a:bodyPr/>
                    <a:lstStyle/>
                    <a:p>
                      <a:pPr algn="l">
                        <a:buNone/>
                      </a:pPr>
                      <a:r>
                        <a:rPr lang="fr-FR" sz="800" b="0" i="0" dirty="0">
                          <a:solidFill>
                            <a:schemeClr val="accent2">
                              <a:lumMod val="75000"/>
                            </a:schemeClr>
                          </a:solidFill>
                          <a:effectLst/>
                          <a:latin typeface="Segoe WPC"/>
                        </a:rPr>
                        <a:t>Vérifier la durée et la corriger si nécessaire (data steward)</a:t>
                      </a:r>
                    </a:p>
                  </a:txBody>
                  <a:tcPr marL="38100" marR="38100" marT="25400" marB="25400" anchor="ctr">
                    <a:solidFill>
                      <a:srgbClr val="2E2916"/>
                    </a:solidFill>
                  </a:tcPr>
                </a:tc>
                <a:extLst>
                  <a:ext uri="{0D108BD9-81ED-4DB2-BD59-A6C34878D82A}">
                    <a16:rowId xmlns:a16="http://schemas.microsoft.com/office/drawing/2014/main" val="2234333358"/>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704087"/>
            <a:ext cx="10908792" cy="731520"/>
          </a:xfrm>
        </p:spPr>
        <p:txBody>
          <a:bodyPr lIns="0" tIns="0" rIns="0" bIns="0"/>
          <a:lstStyle/>
          <a:p>
            <a:r>
              <a:rPr sz="2800" dirty="0" err="1"/>
              <a:t>Âge</a:t>
            </a:r>
            <a:r>
              <a:rPr sz="2800" dirty="0"/>
              <a:t> à la bonne date et </a:t>
            </a:r>
            <a:r>
              <a:rPr sz="2800" dirty="0" err="1"/>
              <a:t>mesure</a:t>
            </a:r>
            <a:r>
              <a:rPr sz="2800" dirty="0"/>
              <a:t> de </a:t>
            </a:r>
            <a:r>
              <a:rPr sz="2800" dirty="0" err="1"/>
              <a:t>référence</a:t>
            </a:r>
            <a:r>
              <a:rPr sz="2800" dirty="0"/>
              <a:t> sur bronze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17</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S2 · US-13, 15</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RÈGLES ET TESTS · 20 %</a:t>
            </a:r>
          </a:p>
        </p:txBody>
      </p:sp>
      <p:sp>
        <p:nvSpPr>
          <p:cNvPr id="28"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1" i="0">
                <a:solidFill>
                  <a:srgbClr val="F5A623"/>
                </a:solidFill>
                <a:latin typeface="Inter"/>
              </a:rPr>
              <a:t>RQ-002</a:t>
            </a:r>
            <a:r>
              <a:rPr sz="1300" b="0" i="0">
                <a:solidFill>
                  <a:srgbClr val="F7F6F2"/>
                </a:solidFill>
                <a:latin typeface="Inter"/>
              </a:rPr>
              <a:t> documentée avec sa </a:t>
            </a:r>
            <a:r>
              <a:rPr sz="1300" b="1" i="0">
                <a:solidFill>
                  <a:srgbClr val="F5A623"/>
                </a:solidFill>
                <a:latin typeface="Inter"/>
              </a:rPr>
              <a:t>date de référence</a:t>
            </a:r>
            <a:r>
              <a:rPr sz="1300" b="0" i="0">
                <a:solidFill>
                  <a:srgbClr val="F7F6F2"/>
                </a:solidFill>
                <a:latin typeface="Inter"/>
              </a:rPr>
              <a:t>, et un cas où « à la date du jour » donne un autre résultat.</a:t>
            </a:r>
          </a:p>
          <a:p>
            <a:pPr marL="182880" indent="-182880">
              <a:lnSpc>
                <a:spcPct val="108000"/>
              </a:lnSpc>
              <a:spcAft>
                <a:spcPts val="300"/>
              </a:spcAft>
              <a:buClr>
                <a:srgbClr val="F5A623"/>
              </a:buClr>
              <a:buChar char="•"/>
            </a:pPr>
            <a:r>
              <a:rPr sz="1300" b="0" i="0">
                <a:solidFill>
                  <a:srgbClr val="F7F6F2"/>
                </a:solidFill>
                <a:latin typeface="Inter"/>
              </a:rPr>
              <a:t>La </a:t>
            </a:r>
            <a:r>
              <a:rPr sz="1300" b="1" i="0">
                <a:solidFill>
                  <a:srgbClr val="F5A623"/>
                </a:solidFill>
                <a:latin typeface="Inter"/>
              </a:rPr>
              <a:t>mesure de référence</a:t>
            </a:r>
            <a:r>
              <a:rPr sz="1300" b="0" i="0">
                <a:solidFill>
                  <a:srgbClr val="F7F6F2"/>
                </a:solidFill>
                <a:latin typeface="Inter"/>
              </a:rPr>
              <a:t> écrite dans dq.dq_history (couche BRONZE), avec la synthèse </a:t>
            </a:r>
            <a:r>
              <a:rPr sz="1300" b="1" i="0">
                <a:solidFill>
                  <a:srgbClr val="F5A623"/>
                </a:solidFill>
                <a:latin typeface="Inter"/>
              </a:rPr>
              <a:t>par dimension</a:t>
            </a:r>
            <a:r>
              <a:rPr sz="1300" b="0" i="0">
                <a:solidFill>
                  <a:srgbClr val="F7F6F2"/>
                </a:solidFill>
                <a:latin typeface="Inter"/>
              </a:rPr>
              <a:t>.</a:t>
            </a:r>
          </a:p>
          <a:p>
            <a:pPr marL="182880" indent="-182880">
              <a:lnSpc>
                <a:spcPct val="108000"/>
              </a:lnSpc>
              <a:spcAft>
                <a:spcPts val="300"/>
              </a:spcAft>
              <a:buClr>
                <a:srgbClr val="F5A623"/>
              </a:buClr>
              <a:buChar char="•"/>
            </a:pPr>
            <a:r>
              <a:rPr sz="1300" b="0" i="0">
                <a:solidFill>
                  <a:srgbClr val="F7F6F2"/>
                </a:solidFill>
                <a:latin typeface="Inter"/>
              </a:rPr>
              <a:t>Une </a:t>
            </a:r>
            <a:r>
              <a:rPr sz="1300" b="1" i="0">
                <a:solidFill>
                  <a:srgbClr val="F5A623"/>
                </a:solidFill>
                <a:latin typeface="Inter"/>
              </a:rPr>
              <a:t>phrase de synthèse</a:t>
            </a:r>
            <a:r>
              <a:rPr sz="1300" b="0" i="0">
                <a:solidFill>
                  <a:srgbClr val="F7F6F2"/>
                </a:solidFill>
                <a:latin typeface="Inter"/>
              </a:rPr>
              <a:t> chiffrée : « voici la qualité de ce qui nous est livré ».</a:t>
            </a:r>
          </a:p>
        </p:txBody>
      </p:sp>
      <p:graphicFrame>
        <p:nvGraphicFramePr>
          <p:cNvPr id="33" name="Table 32"/>
          <p:cNvGraphicFramePr>
            <a:graphicFrameLocks noGrp="1"/>
          </p:cNvGraphicFramePr>
          <p:nvPr>
            <p:extLst>
              <p:ext uri="{D42A27DB-BD31-4B8C-83A1-F6EECF244321}">
                <p14:modId xmlns:p14="http://schemas.microsoft.com/office/powerpoint/2010/main" val="3152798788"/>
              </p:ext>
            </p:extLst>
          </p:nvPr>
        </p:nvGraphicFramePr>
        <p:xfrm>
          <a:off x="640080" y="3236976"/>
          <a:ext cx="10908792" cy="1833009"/>
        </p:xfrm>
        <a:graphic>
          <a:graphicData uri="http://schemas.openxmlformats.org/drawingml/2006/table">
            <a:tbl>
              <a:tblPr/>
              <a:tblGrid>
                <a:gridCol w="2743200">
                  <a:extLst>
                    <a:ext uri="{9D8B030D-6E8A-4147-A177-3AD203B41FA5}">
                      <a16:colId xmlns:a16="http://schemas.microsoft.com/office/drawing/2014/main" val="20000"/>
                    </a:ext>
                  </a:extLst>
                </a:gridCol>
                <a:gridCol w="3175462">
                  <a:extLst>
                    <a:ext uri="{9D8B030D-6E8A-4147-A177-3AD203B41FA5}">
                      <a16:colId xmlns:a16="http://schemas.microsoft.com/office/drawing/2014/main" val="20001"/>
                    </a:ext>
                  </a:extLst>
                </a:gridCol>
                <a:gridCol w="2493818">
                  <a:extLst>
                    <a:ext uri="{9D8B030D-6E8A-4147-A177-3AD203B41FA5}">
                      <a16:colId xmlns:a16="http://schemas.microsoft.com/office/drawing/2014/main" val="20002"/>
                    </a:ext>
                  </a:extLst>
                </a:gridCol>
                <a:gridCol w="2496312">
                  <a:extLst>
                    <a:ext uri="{9D8B030D-6E8A-4147-A177-3AD203B41FA5}">
                      <a16:colId xmlns:a16="http://schemas.microsoft.com/office/drawing/2014/main" val="20003"/>
                    </a:ext>
                  </a:extLst>
                </a:gridCol>
              </a:tblGrid>
              <a:tr h="278529">
                <a:tc>
                  <a:txBody>
                    <a:bodyPr/>
                    <a:lstStyle/>
                    <a:p>
                      <a:r>
                        <a:rPr sz="1000" b="1" i="0" spc="60">
                          <a:solidFill>
                            <a:srgbClr val="F5A623"/>
                          </a:solidFill>
                          <a:latin typeface="Inter"/>
                        </a:rPr>
                        <a:t>Date de référence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Définition de l'âge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Lignes en échec</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Preuve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703356">
                <a:tc>
                  <a:txBody>
                    <a:bodyPr/>
                    <a:lstStyle/>
                    <a:p>
                      <a:r>
                        <a:rPr sz="1100" b="1" i="0">
                          <a:solidFill>
                            <a:srgbClr val="F7F6F2"/>
                          </a:solidFill>
                          <a:latin typeface="Inter"/>
                        </a:rPr>
                        <a:t>Date de début du contrat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lang="fr-FR" sz="1100" b="0" i="0" dirty="0">
                          <a:solidFill>
                            <a:srgbClr val="F5A623"/>
                          </a:solidFill>
                          <a:latin typeface="+mn-lt"/>
                        </a:rPr>
                        <a:t>Âge du souscripteur calculé à partir de sa date de naissance et de la date de début du contrat. C'est la date de référence exigée par RQ-002.</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mn-lt"/>
                        </a:rPr>
                        <a:t>301 échecs parmi 91 875 souscripteurs physiques évaluables.</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mn-lt"/>
                        </a:rPr>
                        <a:t>Comparaison de l’âge du souscripteur au début du contrat et les contrats hors périmètre ne sont pas dans ce dénominateur.</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703356">
                <a:tc>
                  <a:txBody>
                    <a:bodyPr/>
                    <a:lstStyle/>
                    <a:p>
                      <a:r>
                        <a:rPr sz="1100" b="1" i="0" dirty="0">
                          <a:solidFill>
                            <a:srgbClr val="F7F6F2"/>
                          </a:solidFill>
                          <a:latin typeface="Inter"/>
                        </a:rPr>
                        <a:t>Date du jour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lang="fr-FR" sz="1100" b="0" i="0" dirty="0">
                          <a:solidFill>
                            <a:srgbClr val="F5A623"/>
                          </a:solidFill>
                          <a:latin typeface="+mn-lt"/>
                        </a:rPr>
                        <a:t>Âge calculé pour les mêmes souscripteurs au 31 octobre 2026  et cette date sert uniquement à comparer les résultats.</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marL="0" algn="l" defTabSz="914400" rtl="0" eaLnBrk="1" latinLnBrk="0" hangingPunct="1"/>
                      <a:r>
                        <a:rPr lang="fr-FR" sz="1150" b="0" i="0" kern="1200" dirty="0">
                          <a:solidFill>
                            <a:srgbClr val="F5A623"/>
                          </a:solidFill>
                          <a:latin typeface="+mn-lt"/>
                          <a:ea typeface="+mn-ea"/>
                          <a:cs typeface="+mn-cs"/>
                        </a:rPr>
                        <a:t>148 sont encore mineurs à cette date et 153 classifications changent entre les deux dates. Ces 148 ne sont pas les échecs RQ-002.</a:t>
                      </a:r>
                      <a:endParaRPr sz="1150" b="0" i="0" kern="1200" dirty="0">
                        <a:solidFill>
                          <a:srgbClr val="F5A623"/>
                        </a:solidFill>
                        <a:latin typeface="+mn-lt"/>
                        <a:ea typeface="+mn-ea"/>
                        <a:cs typeface="+mn-cs"/>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lang="fr-FR" sz="1100" b="0" i="0" dirty="0">
                          <a:solidFill>
                            <a:srgbClr val="F5A623"/>
                          </a:solidFill>
                          <a:latin typeface="+mn-lt"/>
                        </a:rPr>
                        <a:t>Un cas passe de 17 ans au début du contrat à 30 ans au 31/10/2026.</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1838055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709369"/>
            <a:ext cx="10908792" cy="731520"/>
          </a:xfrm>
        </p:spPr>
        <p:txBody>
          <a:bodyPr lIns="0" tIns="0" rIns="0" bIns="0"/>
          <a:lstStyle/>
          <a:p>
            <a:r>
              <a:rPr sz="2800" dirty="0" err="1"/>
              <a:t>Âge</a:t>
            </a:r>
            <a:r>
              <a:rPr sz="2800" dirty="0"/>
              <a:t> à la bonne date et </a:t>
            </a:r>
            <a:r>
              <a:rPr sz="2800" dirty="0" err="1"/>
              <a:t>mesure</a:t>
            </a:r>
            <a:r>
              <a:rPr sz="2800" dirty="0"/>
              <a:t> de </a:t>
            </a:r>
            <a:r>
              <a:rPr sz="2800" dirty="0" err="1"/>
              <a:t>référence</a:t>
            </a:r>
            <a:r>
              <a:rPr sz="2800" dirty="0"/>
              <a:t> sur bronze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18</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S2 · US-13, 15</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RÈGLES ET TESTS · 20 %</a:t>
            </a:r>
          </a:p>
        </p:txBody>
      </p:sp>
      <p:sp>
        <p:nvSpPr>
          <p:cNvPr id="28"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1" i="0">
                <a:solidFill>
                  <a:srgbClr val="F5A623"/>
                </a:solidFill>
                <a:latin typeface="Inter"/>
              </a:rPr>
              <a:t>RQ-002</a:t>
            </a:r>
            <a:r>
              <a:rPr sz="1300" b="0" i="0">
                <a:solidFill>
                  <a:srgbClr val="F7F6F2"/>
                </a:solidFill>
                <a:latin typeface="Inter"/>
              </a:rPr>
              <a:t> documentée avec sa </a:t>
            </a:r>
            <a:r>
              <a:rPr sz="1300" b="1" i="0">
                <a:solidFill>
                  <a:srgbClr val="F5A623"/>
                </a:solidFill>
                <a:latin typeface="Inter"/>
              </a:rPr>
              <a:t>date de référence</a:t>
            </a:r>
            <a:r>
              <a:rPr sz="1300" b="0" i="0">
                <a:solidFill>
                  <a:srgbClr val="F7F6F2"/>
                </a:solidFill>
                <a:latin typeface="Inter"/>
              </a:rPr>
              <a:t>, et un cas où « à la date du jour » donne un autre résultat.</a:t>
            </a:r>
          </a:p>
          <a:p>
            <a:pPr marL="182880" indent="-182880">
              <a:lnSpc>
                <a:spcPct val="108000"/>
              </a:lnSpc>
              <a:spcAft>
                <a:spcPts val="300"/>
              </a:spcAft>
              <a:buClr>
                <a:srgbClr val="F5A623"/>
              </a:buClr>
              <a:buChar char="•"/>
            </a:pPr>
            <a:r>
              <a:rPr sz="1300" b="0" i="0">
                <a:solidFill>
                  <a:srgbClr val="F7F6F2"/>
                </a:solidFill>
                <a:latin typeface="Inter"/>
              </a:rPr>
              <a:t>La </a:t>
            </a:r>
            <a:r>
              <a:rPr sz="1300" b="1" i="0">
                <a:solidFill>
                  <a:srgbClr val="F5A623"/>
                </a:solidFill>
                <a:latin typeface="Inter"/>
              </a:rPr>
              <a:t>mesure de référence</a:t>
            </a:r>
            <a:r>
              <a:rPr sz="1300" b="0" i="0">
                <a:solidFill>
                  <a:srgbClr val="F7F6F2"/>
                </a:solidFill>
                <a:latin typeface="Inter"/>
              </a:rPr>
              <a:t> écrite dans dq.dq_history (couche BRONZE), avec la synthèse </a:t>
            </a:r>
            <a:r>
              <a:rPr sz="1300" b="1" i="0">
                <a:solidFill>
                  <a:srgbClr val="F5A623"/>
                </a:solidFill>
                <a:latin typeface="Inter"/>
              </a:rPr>
              <a:t>par dimension</a:t>
            </a:r>
            <a:r>
              <a:rPr sz="1300" b="0" i="0">
                <a:solidFill>
                  <a:srgbClr val="F7F6F2"/>
                </a:solidFill>
                <a:latin typeface="Inter"/>
              </a:rPr>
              <a:t>.</a:t>
            </a:r>
          </a:p>
          <a:p>
            <a:pPr marL="182880" indent="-182880">
              <a:lnSpc>
                <a:spcPct val="108000"/>
              </a:lnSpc>
              <a:spcAft>
                <a:spcPts val="300"/>
              </a:spcAft>
              <a:buClr>
                <a:srgbClr val="F5A623"/>
              </a:buClr>
              <a:buChar char="•"/>
            </a:pPr>
            <a:r>
              <a:rPr sz="1300" b="0" i="0">
                <a:solidFill>
                  <a:srgbClr val="F7F6F2"/>
                </a:solidFill>
                <a:latin typeface="Inter"/>
              </a:rPr>
              <a:t>Une </a:t>
            </a:r>
            <a:r>
              <a:rPr sz="1300" b="1" i="0">
                <a:solidFill>
                  <a:srgbClr val="F5A623"/>
                </a:solidFill>
                <a:latin typeface="Inter"/>
              </a:rPr>
              <a:t>phrase de synthèse</a:t>
            </a:r>
            <a:r>
              <a:rPr sz="1300" b="0" i="0">
                <a:solidFill>
                  <a:srgbClr val="F7F6F2"/>
                </a:solidFill>
                <a:latin typeface="Inter"/>
              </a:rPr>
              <a:t> chiffrée : « voici la qualité de ce qui nous est livré ».</a:t>
            </a:r>
          </a:p>
        </p:txBody>
      </p:sp>
      <p:graphicFrame>
        <p:nvGraphicFramePr>
          <p:cNvPr id="34" name="Table 33"/>
          <p:cNvGraphicFramePr>
            <a:graphicFrameLocks noGrp="1"/>
          </p:cNvGraphicFramePr>
          <p:nvPr>
            <p:extLst>
              <p:ext uri="{D42A27DB-BD31-4B8C-83A1-F6EECF244321}">
                <p14:modId xmlns:p14="http://schemas.microsoft.com/office/powerpoint/2010/main" val="3041665501"/>
              </p:ext>
            </p:extLst>
          </p:nvPr>
        </p:nvGraphicFramePr>
        <p:xfrm>
          <a:off x="653935" y="2717761"/>
          <a:ext cx="10908792" cy="2218944"/>
        </p:xfrm>
        <a:graphic>
          <a:graphicData uri="http://schemas.openxmlformats.org/drawingml/2006/table">
            <a:tbl>
              <a:tblPr/>
              <a:tblGrid>
                <a:gridCol w="1828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2953512">
                  <a:extLst>
                    <a:ext uri="{9D8B030D-6E8A-4147-A177-3AD203B41FA5}">
                      <a16:colId xmlns:a16="http://schemas.microsoft.com/office/drawing/2014/main" val="20004"/>
                    </a:ext>
                  </a:extLst>
                </a:gridCol>
              </a:tblGrid>
              <a:tr h="301752">
                <a:tc>
                  <a:txBody>
                    <a:bodyPr/>
                    <a:lstStyle/>
                    <a:p>
                      <a:r>
                        <a:rPr sz="1000" b="1" i="0" spc="60" dirty="0">
                          <a:solidFill>
                            <a:srgbClr val="F5A623"/>
                          </a:solidFill>
                          <a:latin typeface="Inter"/>
                        </a:rPr>
                        <a:t>Dimension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err="1">
                          <a:solidFill>
                            <a:srgbClr val="F5A623"/>
                          </a:solidFill>
                          <a:latin typeface="Inter"/>
                        </a:rPr>
                        <a:t>Règles</a:t>
                      </a:r>
                      <a:endParaRPr sz="1000" b="1" i="0" spc="60" dirty="0" err="1">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dirty="0" err="1">
                          <a:solidFill>
                            <a:srgbClr val="F5A623"/>
                          </a:solidFill>
                          <a:latin typeface="Inter"/>
                        </a:rPr>
                        <a:t>Taux</a:t>
                      </a:r>
                      <a:r>
                        <a:rPr sz="1000" b="1" i="0" spc="60" dirty="0">
                          <a:solidFill>
                            <a:srgbClr val="F5A623"/>
                          </a:solidFill>
                          <a:latin typeface="Inter"/>
                        </a:rPr>
                        <a:t> moyen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dirty="0" err="1">
                          <a:solidFill>
                            <a:srgbClr val="F5A623"/>
                          </a:solidFill>
                          <a:latin typeface="Inter"/>
                        </a:rPr>
                        <a:t>Règle</a:t>
                      </a:r>
                      <a:r>
                        <a:rPr sz="1000" b="1" i="0" spc="60" dirty="0">
                          <a:solidFill>
                            <a:srgbClr val="F5A623"/>
                          </a:solidFill>
                          <a:latin typeface="Inter"/>
                        </a:rPr>
                        <a:t> la plus </a:t>
                      </a:r>
                      <a:r>
                        <a:rPr sz="1000" b="1" i="0" spc="60" dirty="0" err="1">
                          <a:solidFill>
                            <a:srgbClr val="F5A623"/>
                          </a:solidFill>
                          <a:latin typeface="Inter"/>
                        </a:rPr>
                        <a:t>faible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Constat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01752">
                <a:tc>
                  <a:txBody>
                    <a:bodyPr/>
                    <a:lstStyle/>
                    <a:p>
                      <a:r>
                        <a:rPr sz="1100" b="1" i="0" err="1">
                          <a:solidFill>
                            <a:srgbClr val="F7F6F2"/>
                          </a:solidFill>
                          <a:latin typeface="Inter"/>
                        </a:rPr>
                        <a:t>Unicité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pPr lvl="0">
                        <a:buNone/>
                      </a:pPr>
                      <a:r>
                        <a:rPr lang="en-US" sz="1100" b="0" i="0" u="none" strike="noStrike" baseline="0" noProof="0" dirty="0">
                          <a:solidFill>
                            <a:srgbClr val="F5A623"/>
                          </a:solidFill>
                          <a:latin typeface="Inter"/>
                          <a:ea typeface="Inter"/>
                        </a:rPr>
                        <a:t>RQ-020 (client &amp; </a:t>
                      </a:r>
                      <a:r>
                        <a:rPr lang="en-US" sz="1100" b="0" i="0" u="none" strike="noStrike" baseline="0" noProof="0" dirty="0" err="1">
                          <a:solidFill>
                            <a:srgbClr val="F5A623"/>
                          </a:solidFill>
                          <a:latin typeface="Inter"/>
                          <a:ea typeface="Inter"/>
                        </a:rPr>
                        <a:t>contrat</a:t>
                      </a:r>
                      <a:r>
                        <a:rPr lang="en-US" sz="1100" b="0" i="0" u="none" strike="noStrike" baseline="0" noProof="0" dirty="0">
                          <a:solidFill>
                            <a:srgbClr val="F5A623"/>
                          </a:solidFill>
                          <a:latin typeface="Inter"/>
                          <a:ea typeface="Inter"/>
                        </a:rPr>
                        <a:t> id)</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lvl="0">
                        <a:buNone/>
                      </a:pPr>
                      <a:r>
                        <a:rPr lang="en-US" sz="1100" b="0" i="0" u="none" strike="noStrike" baseline="0" noProof="0">
                          <a:solidFill>
                            <a:srgbClr val="F5A623"/>
                          </a:solidFill>
                          <a:latin typeface="Inter"/>
                          <a:ea typeface="Inter"/>
                        </a:rPr>
                        <a:t>100 %</a:t>
                      </a:r>
                      <a:endParaRPr sz="1100" b="0" i="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lvl="0">
                        <a:buNone/>
                      </a:pPr>
                      <a:r>
                        <a:rPr lang="en-US" sz="1100" b="0" i="0" u="none" strike="noStrike" baseline="0" noProof="0">
                          <a:solidFill>
                            <a:srgbClr val="F5A623"/>
                          </a:solidFill>
                          <a:latin typeface="Inter"/>
                          <a:ea typeface="Inter"/>
                        </a:rPr>
                        <a:t>RQ-020</a:t>
                      </a:r>
                      <a:endParaRPr sz="1100" b="0" i="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lvl="0">
                        <a:buNone/>
                      </a:pPr>
                      <a:r>
                        <a:rPr lang="en-US" sz="1100" b="0" i="0" u="none" strike="noStrike" baseline="0" noProof="0" dirty="0" err="1">
                          <a:solidFill>
                            <a:srgbClr val="F5A623"/>
                          </a:solidFill>
                          <a:latin typeface="Inter"/>
                          <a:ea typeface="Inter"/>
                        </a:rPr>
                        <a:t>Aucun</a:t>
                      </a:r>
                      <a:r>
                        <a:rPr lang="en-US" sz="1100" b="0" i="0" u="none" strike="noStrike" baseline="0" noProof="0" dirty="0">
                          <a:solidFill>
                            <a:srgbClr val="F5A623"/>
                          </a:solidFill>
                          <a:latin typeface="Inter"/>
                          <a:ea typeface="Inter"/>
                        </a:rPr>
                        <a:t> </a:t>
                      </a:r>
                      <a:r>
                        <a:rPr lang="en-US" sz="1100" b="0" i="0" u="none" strike="noStrike" baseline="0" noProof="0" dirty="0" err="1">
                          <a:solidFill>
                            <a:srgbClr val="F5A623"/>
                          </a:solidFill>
                          <a:latin typeface="Inter"/>
                          <a:ea typeface="Inter"/>
                        </a:rPr>
                        <a:t>doublon</a:t>
                      </a:r>
                      <a:r>
                        <a:rPr lang="en-US" sz="1100" b="0" i="0" u="none" strike="noStrike" baseline="0" noProof="0" dirty="0">
                          <a:solidFill>
                            <a:srgbClr val="F5A623"/>
                          </a:solidFill>
                          <a:latin typeface="Inter"/>
                          <a:ea typeface="Inter"/>
                        </a:rPr>
                        <a:t> sur les </a:t>
                      </a:r>
                      <a:r>
                        <a:rPr lang="en-US" sz="1100" b="0" i="0" u="none" strike="noStrike" baseline="0" noProof="0" dirty="0" err="1">
                          <a:solidFill>
                            <a:srgbClr val="F5A623"/>
                          </a:solidFill>
                          <a:latin typeface="Inter"/>
                          <a:ea typeface="Inter"/>
                        </a:rPr>
                        <a:t>identifiants</a:t>
                      </a:r>
                      <a:r>
                        <a:rPr lang="en-US" sz="1100" b="0" i="0" u="none" strike="noStrike" baseline="0" noProof="0" dirty="0">
                          <a:solidFill>
                            <a:srgbClr val="F5A623"/>
                          </a:solidFill>
                          <a:latin typeface="Inter"/>
                          <a:ea typeface="Inter"/>
                        </a:rPr>
                        <a:t> </a:t>
                      </a:r>
                      <a:r>
                        <a:rPr lang="en-US" sz="1100" b="0" i="0" u="none" strike="noStrike" baseline="0" noProof="0" dirty="0" err="1">
                          <a:solidFill>
                            <a:srgbClr val="F5A623"/>
                          </a:solidFill>
                          <a:latin typeface="Inter"/>
                          <a:ea typeface="Inter"/>
                        </a:rPr>
                        <a:t>te</a:t>
                      </a:r>
                      <a:r>
                        <a:rPr lang="fr-FR" sz="1100" b="0" i="0" u="none" strike="noStrike" baseline="0" noProof="0" dirty="0">
                          <a:solidFill>
                            <a:srgbClr val="F5A623"/>
                          </a:solidFill>
                          <a:latin typeface="+mn-lt"/>
                          <a:ea typeface="Inter"/>
                        </a:rPr>
                        <a:t>Aucun échec de clé n’a été observé sur les deux identifiants contrôlés.</a:t>
                      </a:r>
                      <a:r>
                        <a:rPr lang="en-US" sz="1100" b="0" i="0" u="none" strike="noStrike" baseline="0" noProof="0" dirty="0" err="1">
                          <a:solidFill>
                            <a:srgbClr val="F5A623"/>
                          </a:solidFill>
                          <a:latin typeface="Inter"/>
                          <a:ea typeface="Inter"/>
                        </a:rPr>
                        <a:t>chniques</a:t>
                      </a:r>
                      <a:r>
                        <a:rPr lang="en-US" sz="1100" b="0" i="0" u="none" strike="noStrike" baseline="0" noProof="0" dirty="0">
                          <a:solidFill>
                            <a:srgbClr val="F5A623"/>
                          </a:solidFill>
                          <a:latin typeface="Inter"/>
                          <a:ea typeface="Inter"/>
                        </a:rPr>
                        <a:t> </a:t>
                      </a:r>
                      <a:r>
                        <a:rPr lang="en-US" sz="1100" b="0" i="0" u="none" strike="noStrike" baseline="0" noProof="0" dirty="0" err="1">
                          <a:solidFill>
                            <a:srgbClr val="F5A623"/>
                          </a:solidFill>
                          <a:latin typeface="Inter"/>
                          <a:ea typeface="Inter"/>
                        </a:rPr>
                        <a:t>contrôlés</a:t>
                      </a:r>
                      <a:r>
                        <a:rPr lang="en-US" sz="1100" b="0" i="0" u="none" strike="noStrike" baseline="0" noProof="0" dirty="0">
                          <a:solidFill>
                            <a:srgbClr val="F5A623"/>
                          </a:solidFill>
                          <a:latin typeface="Inter"/>
                          <a:ea typeface="Inter"/>
                        </a:rPr>
                        <a:t>. Les </a:t>
                      </a:r>
                      <a:r>
                        <a:rPr lang="en-US" sz="1100" b="0" i="0" u="none" strike="noStrike" baseline="0" noProof="0" dirty="0" err="1">
                          <a:solidFill>
                            <a:srgbClr val="F5A623"/>
                          </a:solidFill>
                          <a:latin typeface="Inter"/>
                          <a:ea typeface="Inter"/>
                        </a:rPr>
                        <a:t>identifiants</a:t>
                      </a:r>
                      <a:r>
                        <a:rPr lang="en-US" sz="1100" b="0" i="0" u="none" strike="noStrike" baseline="0" noProof="0" dirty="0">
                          <a:solidFill>
                            <a:srgbClr val="F5A623"/>
                          </a:solidFill>
                          <a:latin typeface="Inter"/>
                          <a:ea typeface="Inter"/>
                        </a:rPr>
                        <a:t> des sources </a:t>
                      </a:r>
                      <a:r>
                        <a:rPr lang="en-US" sz="1100" b="0" i="0" u="none" strike="noStrike" baseline="0" noProof="0" dirty="0" err="1">
                          <a:solidFill>
                            <a:srgbClr val="F5A623"/>
                          </a:solidFill>
                          <a:latin typeface="Inter"/>
                          <a:ea typeface="Inter"/>
                        </a:rPr>
                        <a:t>restent</a:t>
                      </a:r>
                      <a:r>
                        <a:rPr lang="en-US" sz="1100" b="0" i="0" u="none" strike="noStrike" baseline="0" noProof="0" dirty="0">
                          <a:solidFill>
                            <a:srgbClr val="F5A623"/>
                          </a:solidFill>
                          <a:latin typeface="Inter"/>
                          <a:ea typeface="Inter"/>
                        </a:rPr>
                        <a:t> à </a:t>
                      </a:r>
                      <a:r>
                        <a:rPr lang="en-US" sz="1100" b="0" i="0" u="none" strike="noStrike" baseline="0" noProof="0" dirty="0" err="1">
                          <a:solidFill>
                            <a:srgbClr val="F5A623"/>
                          </a:solidFill>
                          <a:latin typeface="Inter"/>
                          <a:ea typeface="Inter"/>
                        </a:rPr>
                        <a:t>vérifier</a:t>
                      </a:r>
                      <a:r>
                        <a:rPr lang="en-US" sz="1100" b="0" i="0" u="none" strike="noStrike" baseline="0" noProof="0" dirty="0">
                          <a:solidFill>
                            <a:srgbClr val="F5A623"/>
                          </a:solidFill>
                          <a:latin typeface="Inter"/>
                          <a:ea typeface="Inter"/>
                        </a:rPr>
                        <a:t>.</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01752">
                <a:tc>
                  <a:txBody>
                    <a:bodyPr/>
                    <a:lstStyle/>
                    <a:p>
                      <a:r>
                        <a:rPr sz="1100" b="1" i="0" err="1">
                          <a:solidFill>
                            <a:srgbClr val="F7F6F2"/>
                          </a:solidFill>
                          <a:latin typeface="Inter"/>
                        </a:rPr>
                        <a:t>Complétude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pPr lvl="0">
                        <a:buNone/>
                      </a:pPr>
                      <a:r>
                        <a:rPr lang="en-US" sz="1100" b="0" i="0" u="none" strike="noStrike" baseline="0" noProof="0">
                          <a:solidFill>
                            <a:srgbClr val="F5A623"/>
                          </a:solidFill>
                          <a:latin typeface="Inter"/>
                          <a:ea typeface="Inter"/>
                        </a:rPr>
                        <a:t>RQ-003</a:t>
                      </a:r>
                      <a:endParaRPr sz="1100" b="0" i="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lvl="0">
                        <a:buNone/>
                      </a:pPr>
                      <a:r>
                        <a:rPr lang="en-US" sz="1100" b="0" i="0" u="none" strike="noStrike" baseline="0" noProof="0" dirty="0">
                          <a:solidFill>
                            <a:srgbClr val="F5A623"/>
                          </a:solidFill>
                          <a:latin typeface="Inter"/>
                          <a:ea typeface="Inter"/>
                        </a:rPr>
                        <a:t>88,005 %</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lvl="0">
                        <a:buNone/>
                      </a:pPr>
                      <a:r>
                        <a:rPr lang="en-US" sz="1100" b="0" i="0" u="none" strike="noStrike" baseline="0" noProof="0">
                          <a:solidFill>
                            <a:srgbClr val="F5A623"/>
                          </a:solidFill>
                          <a:latin typeface="Inter"/>
                          <a:ea typeface="Inter"/>
                        </a:rPr>
                        <a:t>RQ-003</a:t>
                      </a:r>
                      <a:endParaRPr sz="1100" b="0" i="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lvl="0">
                        <a:buNone/>
                      </a:pPr>
                      <a:r>
                        <a:rPr lang="fr-FR" sz="1100" b="0" i="0" u="none" strike="noStrike" baseline="0" noProof="0" dirty="0">
                          <a:solidFill>
                            <a:srgbClr val="F5A623"/>
                          </a:solidFill>
                          <a:latin typeface="+mn-lt"/>
                          <a:ea typeface="Inter"/>
                        </a:rPr>
                        <a:t>5 995 téléphones manquants parmi 49 978 souscripteurs testés ; des écarts sont à traiter.</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01752">
                <a:tc>
                  <a:txBody>
                    <a:bodyPr/>
                    <a:lstStyle/>
                    <a:p>
                      <a:r>
                        <a:rPr sz="1100" b="1" i="0" err="1">
                          <a:solidFill>
                            <a:srgbClr val="F7F6F2"/>
                          </a:solidFill>
                          <a:latin typeface="Inter"/>
                        </a:rPr>
                        <a:t>Validité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pPr lvl="0">
                        <a:buNone/>
                      </a:pPr>
                      <a:r>
                        <a:rPr lang="en-US" sz="1100" b="0" i="0" u="none" strike="noStrike" baseline="0" noProof="0">
                          <a:solidFill>
                            <a:srgbClr val="F5A623"/>
                          </a:solidFill>
                          <a:latin typeface="Inter"/>
                          <a:ea typeface="Inter"/>
                        </a:rPr>
                        <a:t>RQ-002, 005, 009, 010</a:t>
                      </a:r>
                      <a:endParaRPr sz="1100" b="0" i="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lvl="0">
                        <a:buNone/>
                      </a:pPr>
                      <a:r>
                        <a:rPr lang="en-US" sz="1100" b="0" i="0" u="none" strike="noStrike" baseline="0" noProof="0" dirty="0">
                          <a:solidFill>
                            <a:srgbClr val="F5A623"/>
                          </a:solidFill>
                          <a:latin typeface="Inter"/>
                          <a:ea typeface="Inter"/>
                        </a:rPr>
                        <a:t>97,337 %</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lvl="0">
                        <a:buNone/>
                      </a:pPr>
                      <a:r>
                        <a:rPr lang="en-US" sz="1100" b="0" i="0" u="none" strike="noStrike" baseline="0" noProof="0" dirty="0">
                          <a:solidFill>
                            <a:srgbClr val="F5A623"/>
                          </a:solidFill>
                          <a:latin typeface="Inter"/>
                          <a:ea typeface="Inter"/>
                        </a:rPr>
                        <a:t>RQ-00(</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lvl="0">
                        <a:buNone/>
                      </a:pPr>
                      <a:r>
                        <a:rPr lang="fr-FR" sz="1100" b="0" i="0" u="none" strike="noStrike" baseline="0" noProof="0" dirty="0">
                          <a:solidFill>
                            <a:srgbClr val="F5A623"/>
                          </a:solidFill>
                          <a:latin typeface="+mn-lt"/>
                          <a:ea typeface="Inter"/>
                        </a:rPr>
                        <a:t>Des écarts subsistent sur l’âge, le code postal, le type de personne et la durée du contrat.</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01752">
                <a:tc>
                  <a:txBody>
                    <a:bodyPr/>
                    <a:lstStyle/>
                    <a:p>
                      <a:r>
                        <a:rPr sz="1100" b="1" i="0" err="1">
                          <a:solidFill>
                            <a:srgbClr val="F7F6F2"/>
                          </a:solidFill>
                          <a:latin typeface="Inter"/>
                        </a:rPr>
                        <a:t>Cohérence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pPr lvl="0">
                        <a:buNone/>
                      </a:pPr>
                      <a:r>
                        <a:rPr lang="en-US" sz="1100" b="0" i="0" u="none" strike="noStrike" baseline="0" noProof="0">
                          <a:solidFill>
                            <a:srgbClr val="F5A623"/>
                          </a:solidFill>
                          <a:latin typeface="Inter"/>
                          <a:ea typeface="Inter"/>
                        </a:rPr>
                        <a:t>RQ-001</a:t>
                      </a:r>
                      <a:endParaRPr sz="1100" b="0" i="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lvl="0">
                        <a:buNone/>
                      </a:pPr>
                      <a:r>
                        <a:rPr lang="en-US" sz="1100" b="0" i="0" u="none" strike="noStrike" baseline="0" noProof="0">
                          <a:solidFill>
                            <a:srgbClr val="F5A623"/>
                          </a:solidFill>
                          <a:latin typeface="Inter"/>
                          <a:ea typeface="Inter"/>
                        </a:rPr>
                        <a:t>99,20 %</a:t>
                      </a:r>
                      <a:endParaRPr sz="1100" b="0" i="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lvl="0">
                        <a:buNone/>
                      </a:pPr>
                      <a:r>
                        <a:rPr lang="en-US" sz="1100" b="0" i="0" u="none" strike="noStrike" baseline="0" noProof="0">
                          <a:solidFill>
                            <a:srgbClr val="F5A623"/>
                          </a:solidFill>
                          <a:latin typeface="Inter"/>
                          <a:ea typeface="Inter"/>
                        </a:rPr>
                        <a:t>RQ-001</a:t>
                      </a:r>
                      <a:endParaRPr sz="1100" b="0" i="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pPr lvl="0">
                        <a:buNone/>
                      </a:pPr>
                      <a:r>
                        <a:rPr lang="fr-FR" sz="1100" b="0" i="0" dirty="0">
                          <a:solidFill>
                            <a:srgbClr val="F5A623"/>
                          </a:solidFill>
                          <a:latin typeface="+mn-lt"/>
                        </a:rPr>
                        <a:t>800 contrats échouent au contrôle des dates.</a:t>
                      </a:r>
                      <a:endParaRPr sz="1100" b="0" i="0" dirty="0">
                        <a:solidFill>
                          <a:srgbClr val="F5A623"/>
                        </a:solidFill>
                        <a:latin typeface="Inter"/>
                      </a:endParaRP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sp>
        <p:nvSpPr>
          <p:cNvPr id="35" name="TextBox 34"/>
          <p:cNvSpPr txBox="1"/>
          <p:nvPr/>
        </p:nvSpPr>
        <p:spPr>
          <a:xfrm>
            <a:off x="648186" y="4973677"/>
            <a:ext cx="10908792" cy="256032"/>
          </a:xfrm>
          <a:prstGeom prst="rect">
            <a:avLst/>
          </a:prstGeom>
          <a:noFill/>
        </p:spPr>
        <p:txBody>
          <a:bodyPr wrap="square" lIns="0" tIns="0" rIns="0" bIns="0" anchor="ctr">
            <a:spAutoFit/>
          </a:bodyPr>
          <a:lstStyle/>
          <a:p>
            <a:pPr>
              <a:lnSpc>
                <a:spcPct val="108000"/>
              </a:lnSpc>
              <a:spcAft>
                <a:spcPts val="400"/>
              </a:spcAft>
            </a:pPr>
            <a:r>
              <a:rPr sz="1100" b="1" i="0" spc="120" dirty="0">
                <a:solidFill>
                  <a:srgbClr val="F5A623"/>
                </a:solidFill>
                <a:latin typeface="Inter"/>
              </a:rPr>
              <a:t>PHRASE DE SYNTHÈSE</a:t>
            </a:r>
          </a:p>
        </p:txBody>
      </p:sp>
      <p:sp>
        <p:nvSpPr>
          <p:cNvPr id="36" name="Zone à rédiger"/>
          <p:cNvSpPr/>
          <p:nvPr/>
        </p:nvSpPr>
        <p:spPr>
          <a:xfrm>
            <a:off x="648186" y="5320075"/>
            <a:ext cx="10908792" cy="770903"/>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r>
              <a:rPr lang="en-US" sz="1200" i="1" dirty="0">
                <a:solidFill>
                  <a:srgbClr val="8E99A4"/>
                </a:solidFill>
                <a:latin typeface="Inter"/>
              </a:rPr>
              <a:t>Le principal </a:t>
            </a:r>
            <a:r>
              <a:rPr lang="en-US" sz="1200" i="1" dirty="0" err="1">
                <a:solidFill>
                  <a:srgbClr val="8E99A4"/>
                </a:solidFill>
                <a:latin typeface="Inter"/>
              </a:rPr>
              <a:t>problème</a:t>
            </a:r>
            <a:r>
              <a:rPr lang="en-US" sz="1200" i="1" dirty="0">
                <a:solidFill>
                  <a:srgbClr val="8E99A4"/>
                </a:solidFill>
                <a:latin typeface="Inter"/>
              </a:rPr>
              <a:t> </a:t>
            </a:r>
            <a:r>
              <a:rPr lang="en-US" sz="1200" i="1" dirty="0" err="1">
                <a:solidFill>
                  <a:srgbClr val="8E99A4"/>
                </a:solidFill>
                <a:latin typeface="Inter"/>
              </a:rPr>
              <a:t>concerne</a:t>
            </a:r>
            <a:r>
              <a:rPr lang="en-US" sz="1200" i="1" dirty="0">
                <a:solidFill>
                  <a:srgbClr val="8E99A4"/>
                </a:solidFill>
                <a:latin typeface="Inter"/>
              </a:rPr>
              <a:t> les </a:t>
            </a:r>
            <a:r>
              <a:rPr lang="en-US" sz="1200" i="1" dirty="0" err="1">
                <a:solidFill>
                  <a:srgbClr val="8E99A4"/>
                </a:solidFill>
                <a:latin typeface="Inter"/>
              </a:rPr>
              <a:t>téléphones</a:t>
            </a:r>
            <a:r>
              <a:rPr lang="en-US" sz="1200" i="1" dirty="0">
                <a:solidFill>
                  <a:srgbClr val="8E99A4"/>
                </a:solidFill>
                <a:latin typeface="Inter"/>
              </a:rPr>
              <a:t> : près de 12 % des </a:t>
            </a:r>
            <a:r>
              <a:rPr lang="en-US" sz="1200" i="1" dirty="0" err="1">
                <a:solidFill>
                  <a:srgbClr val="8E99A4"/>
                </a:solidFill>
                <a:latin typeface="Inter"/>
              </a:rPr>
              <a:t>souscripteurs</a:t>
            </a:r>
            <a:r>
              <a:rPr lang="en-US" sz="1200" i="1" dirty="0">
                <a:solidFill>
                  <a:srgbClr val="8E99A4"/>
                </a:solidFill>
                <a:latin typeface="Inter"/>
              </a:rPr>
              <a:t> </a:t>
            </a:r>
            <a:r>
              <a:rPr lang="en-US" sz="1200" i="1" dirty="0" err="1">
                <a:solidFill>
                  <a:srgbClr val="8E99A4"/>
                </a:solidFill>
                <a:latin typeface="Inter"/>
              </a:rPr>
              <a:t>testés</a:t>
            </a:r>
            <a:r>
              <a:rPr lang="en-US" sz="1200" i="1" dirty="0">
                <a:solidFill>
                  <a:srgbClr val="8E99A4"/>
                </a:solidFill>
                <a:latin typeface="Inter"/>
              </a:rPr>
              <a:t> </a:t>
            </a:r>
            <a:r>
              <a:rPr lang="en-US" sz="1200" i="1" dirty="0" err="1">
                <a:solidFill>
                  <a:srgbClr val="8E99A4"/>
                </a:solidFill>
                <a:latin typeface="Inter"/>
              </a:rPr>
              <a:t>n’en</a:t>
            </a:r>
            <a:r>
              <a:rPr lang="en-US" sz="1200" i="1" dirty="0">
                <a:solidFill>
                  <a:srgbClr val="8E99A4"/>
                </a:solidFill>
                <a:latin typeface="Inter"/>
              </a:rPr>
              <a:t> </a:t>
            </a:r>
            <a:r>
              <a:rPr lang="en-US" sz="1200" i="1" dirty="0" err="1">
                <a:solidFill>
                  <a:srgbClr val="8E99A4"/>
                </a:solidFill>
                <a:latin typeface="Inter"/>
              </a:rPr>
              <a:t>ont</a:t>
            </a:r>
            <a:r>
              <a:rPr lang="en-US" sz="1200" i="1" dirty="0">
                <a:solidFill>
                  <a:srgbClr val="8E99A4"/>
                </a:solidFill>
                <a:latin typeface="Inter"/>
              </a:rPr>
              <a:t> pas de </a:t>
            </a:r>
            <a:r>
              <a:rPr lang="en-US" sz="1200" i="1" dirty="0" err="1">
                <a:solidFill>
                  <a:srgbClr val="8E99A4"/>
                </a:solidFill>
                <a:latin typeface="Inter"/>
              </a:rPr>
              <a:t>renseigné</a:t>
            </a:r>
            <a:r>
              <a:rPr lang="en-US" sz="1200" i="1" dirty="0">
                <a:solidFill>
                  <a:srgbClr val="8E99A4"/>
                </a:solidFill>
                <a:latin typeface="Inter"/>
              </a:rPr>
              <a:t>, </a:t>
            </a:r>
            <a:r>
              <a:rPr lang="en-US" sz="1200" i="1" dirty="0" err="1">
                <a:solidFill>
                  <a:srgbClr val="8E99A4"/>
                </a:solidFill>
                <a:latin typeface="Inter"/>
              </a:rPr>
              <a:t>ce</a:t>
            </a:r>
            <a:r>
              <a:rPr lang="en-US" sz="1200" i="1" dirty="0">
                <a:solidFill>
                  <a:srgbClr val="8E99A4"/>
                </a:solidFill>
                <a:latin typeface="Inter"/>
              </a:rPr>
              <a:t> qui </a:t>
            </a:r>
            <a:r>
              <a:rPr lang="en-US" sz="1200" i="1" dirty="0" err="1">
                <a:solidFill>
                  <a:srgbClr val="8E99A4"/>
                </a:solidFill>
                <a:latin typeface="Inter"/>
              </a:rPr>
              <a:t>complique</a:t>
            </a:r>
            <a:r>
              <a:rPr lang="en-US" sz="1200" i="1" dirty="0">
                <a:solidFill>
                  <a:srgbClr val="8E99A4"/>
                </a:solidFill>
                <a:latin typeface="Inter"/>
              </a:rPr>
              <a:t> </a:t>
            </a:r>
            <a:r>
              <a:rPr lang="en-US" sz="1200" i="1" dirty="0" err="1">
                <a:solidFill>
                  <a:srgbClr val="8E99A4"/>
                </a:solidFill>
                <a:latin typeface="Inter"/>
              </a:rPr>
              <a:t>leur</a:t>
            </a:r>
            <a:r>
              <a:rPr lang="en-US" sz="1200" i="1" dirty="0">
                <a:solidFill>
                  <a:srgbClr val="8E99A4"/>
                </a:solidFill>
                <a:latin typeface="Inter"/>
              </a:rPr>
              <a:t> contact. Des anomalies existent </a:t>
            </a:r>
            <a:r>
              <a:rPr lang="en-US" sz="1200" i="1" dirty="0" err="1">
                <a:solidFill>
                  <a:srgbClr val="8E99A4"/>
                </a:solidFill>
                <a:latin typeface="Inter"/>
              </a:rPr>
              <a:t>aussi</a:t>
            </a:r>
            <a:r>
              <a:rPr lang="en-US" sz="1200" i="1" dirty="0">
                <a:solidFill>
                  <a:srgbClr val="8E99A4"/>
                </a:solidFill>
                <a:latin typeface="Inter"/>
              </a:rPr>
              <a:t> sur les </a:t>
            </a:r>
            <a:r>
              <a:rPr lang="en-US" sz="1200" i="1" dirty="0" err="1">
                <a:solidFill>
                  <a:srgbClr val="8E99A4"/>
                </a:solidFill>
                <a:latin typeface="Inter"/>
              </a:rPr>
              <a:t>contrats</a:t>
            </a:r>
            <a:r>
              <a:rPr lang="en-US" sz="1200" i="1" dirty="0">
                <a:solidFill>
                  <a:srgbClr val="8E99A4"/>
                </a:solidFill>
                <a:latin typeface="Inter"/>
              </a:rPr>
              <a:t> et les </a:t>
            </a:r>
            <a:r>
              <a:rPr lang="en-US" sz="1200" i="1" dirty="0" err="1">
                <a:solidFill>
                  <a:srgbClr val="8E99A4"/>
                </a:solidFill>
                <a:latin typeface="Inter"/>
              </a:rPr>
              <a:t>informations</a:t>
            </a:r>
            <a:r>
              <a:rPr lang="en-US" sz="1200" i="1" dirty="0">
                <a:solidFill>
                  <a:srgbClr val="8E99A4"/>
                </a:solidFill>
                <a:latin typeface="Inter"/>
              </a:rPr>
              <a:t> clients. </a:t>
            </a:r>
            <a:r>
              <a:rPr lang="en-US" sz="1200" i="1" dirty="0" err="1">
                <a:solidFill>
                  <a:srgbClr val="8E99A4"/>
                </a:solidFill>
                <a:latin typeface="Inter"/>
              </a:rPr>
              <a:t>Ces</a:t>
            </a:r>
            <a:r>
              <a:rPr lang="en-US" sz="1200" i="1" dirty="0">
                <a:solidFill>
                  <a:srgbClr val="8E99A4"/>
                </a:solidFill>
                <a:latin typeface="Inter"/>
              </a:rPr>
              <a:t> </a:t>
            </a:r>
            <a:r>
              <a:rPr lang="en-US" sz="1200" i="1" dirty="0" err="1">
                <a:solidFill>
                  <a:srgbClr val="8E99A4"/>
                </a:solidFill>
                <a:latin typeface="Inter"/>
              </a:rPr>
              <a:t>résultats</a:t>
            </a:r>
            <a:r>
              <a:rPr lang="en-US" sz="1200" i="1" dirty="0">
                <a:solidFill>
                  <a:srgbClr val="8E99A4"/>
                </a:solidFill>
                <a:latin typeface="Inter"/>
              </a:rPr>
              <a:t> </a:t>
            </a:r>
            <a:r>
              <a:rPr lang="en-US" sz="1200" i="1" dirty="0" err="1">
                <a:solidFill>
                  <a:srgbClr val="8E99A4"/>
                </a:solidFill>
                <a:latin typeface="Inter"/>
              </a:rPr>
              <a:t>donnent</a:t>
            </a:r>
            <a:r>
              <a:rPr lang="en-US" sz="1200" i="1" dirty="0">
                <a:solidFill>
                  <a:srgbClr val="8E99A4"/>
                </a:solidFill>
                <a:latin typeface="Inter"/>
              </a:rPr>
              <a:t> un premier état de la </a:t>
            </a:r>
            <a:r>
              <a:rPr lang="en-US" sz="1200" i="1" dirty="0" err="1">
                <a:solidFill>
                  <a:srgbClr val="8E99A4"/>
                </a:solidFill>
                <a:latin typeface="Inter"/>
              </a:rPr>
              <a:t>qualité</a:t>
            </a:r>
            <a:r>
              <a:rPr lang="en-US" sz="1200" i="1" dirty="0">
                <a:solidFill>
                  <a:srgbClr val="8E99A4"/>
                </a:solidFill>
                <a:latin typeface="Inter"/>
              </a:rPr>
              <a:t>, </a:t>
            </a:r>
            <a:r>
              <a:rPr lang="en-US" sz="1200" i="1" dirty="0" err="1">
                <a:solidFill>
                  <a:srgbClr val="8E99A4"/>
                </a:solidFill>
                <a:latin typeface="Inter"/>
              </a:rPr>
              <a:t>mais</a:t>
            </a:r>
            <a:r>
              <a:rPr lang="en-US" sz="1200" i="1" dirty="0">
                <a:solidFill>
                  <a:srgbClr val="8E99A4"/>
                </a:solidFill>
                <a:latin typeface="Inter"/>
              </a:rPr>
              <a:t> </a:t>
            </a:r>
            <a:r>
              <a:rPr lang="en-US" sz="1200" i="1" dirty="0" err="1">
                <a:solidFill>
                  <a:srgbClr val="8E99A4"/>
                </a:solidFill>
                <a:latin typeface="Inter"/>
              </a:rPr>
              <a:t>certaines</a:t>
            </a:r>
            <a:r>
              <a:rPr lang="en-US" sz="1200" i="1" dirty="0">
                <a:solidFill>
                  <a:srgbClr val="8E99A4"/>
                </a:solidFill>
                <a:latin typeface="Inter"/>
              </a:rPr>
              <a:t> </a:t>
            </a:r>
            <a:r>
              <a:rPr lang="en-US" sz="1200" i="1" dirty="0" err="1">
                <a:solidFill>
                  <a:srgbClr val="8E99A4"/>
                </a:solidFill>
                <a:latin typeface="Inter"/>
              </a:rPr>
              <a:t>vérifications</a:t>
            </a:r>
            <a:r>
              <a:rPr lang="en-US" sz="1200" i="1" dirty="0">
                <a:solidFill>
                  <a:srgbClr val="8E99A4"/>
                </a:solidFill>
                <a:latin typeface="Inter"/>
              </a:rPr>
              <a:t> </a:t>
            </a:r>
            <a:r>
              <a:rPr lang="en-US" sz="1200" i="1" dirty="0" err="1">
                <a:solidFill>
                  <a:srgbClr val="8E99A4"/>
                </a:solidFill>
                <a:latin typeface="Inter"/>
              </a:rPr>
              <a:t>restent</a:t>
            </a:r>
            <a:r>
              <a:rPr lang="en-US" sz="1200" i="1" dirty="0">
                <a:solidFill>
                  <a:srgbClr val="8E99A4"/>
                </a:solidFill>
                <a:latin typeface="Inter"/>
              </a:rPr>
              <a:t> à terminer.</a:t>
            </a:r>
            <a:endParaRPr lang="fr-FR"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Bilan de S2 : critères de fin et difficultés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19</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S2 · BILAN</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RÈGLES ET TESTS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Chaque critère coché est </a:t>
            </a:r>
            <a:r>
              <a:rPr sz="1300" b="1" i="0">
                <a:solidFill>
                  <a:srgbClr val="F5A623"/>
                </a:solidFill>
                <a:latin typeface="Inter"/>
              </a:rPr>
              <a:t>démontré</a:t>
            </a:r>
            <a:r>
              <a:rPr sz="1300" b="0" i="0">
                <a:solidFill>
                  <a:srgbClr val="F7F6F2"/>
                </a:solidFill>
                <a:latin typeface="Inter"/>
              </a:rPr>
              <a:t> par une page de ce livrable ou par un fichier du dépôt.</a:t>
            </a:r>
          </a:p>
          <a:p>
            <a:pPr marL="182880" indent="-182880">
              <a:lnSpc>
                <a:spcPct val="108000"/>
              </a:lnSpc>
              <a:spcAft>
                <a:spcPts val="300"/>
              </a:spcAft>
              <a:buClr>
                <a:srgbClr val="F5A623"/>
              </a:buClr>
              <a:buChar char="•"/>
            </a:pPr>
            <a:r>
              <a:rPr sz="1300" b="0" i="0">
                <a:solidFill>
                  <a:srgbClr val="F7F6F2"/>
                </a:solidFill>
                <a:latin typeface="Inter"/>
              </a:rPr>
              <a:t>Les difficultés sont </a:t>
            </a:r>
            <a:r>
              <a:rPr sz="1300" b="1" i="0">
                <a:solidFill>
                  <a:srgbClr val="F5A623"/>
                </a:solidFill>
                <a:latin typeface="Inter"/>
              </a:rPr>
              <a:t>chiffrées en temps perdu</a:t>
            </a:r>
            <a:r>
              <a:rPr sz="1300" b="0" i="0">
                <a:solidFill>
                  <a:srgbClr val="F7F6F2"/>
                </a:solidFill>
                <a:latin typeface="Inter"/>
              </a:rPr>
              <a:t> ; un point de reprise utilisé est </a:t>
            </a:r>
            <a:r>
              <a:rPr sz="1300" b="1" i="0">
                <a:solidFill>
                  <a:srgbClr val="F5A623"/>
                </a:solidFill>
                <a:latin typeface="Inter"/>
              </a:rPr>
              <a:t>déclaré</a:t>
            </a:r>
            <a:r>
              <a:rPr sz="1300" b="0" i="0">
                <a:solidFill>
                  <a:srgbClr val="F7F6F2"/>
                </a:solidFill>
                <a:latin typeface="Inter"/>
              </a:rPr>
              <a:t>.</a:t>
            </a:r>
          </a:p>
        </p:txBody>
      </p:sp>
      <p:sp>
        <p:nvSpPr>
          <p:cNvPr id="33" name="Rectangle 32"/>
          <p:cNvSpPr/>
          <p:nvPr/>
        </p:nvSpPr>
        <p:spPr>
          <a:xfrm>
            <a:off x="640080" y="2579827"/>
            <a:ext cx="5120640" cy="354665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Icône ok" descr="Icône ok"/>
          <p:cNvPicPr>
            <a:picLocks noChangeAspect="1"/>
          </p:cNvPicPr>
          <p:nvPr/>
        </p:nvPicPr>
        <p:blipFill>
          <a:blip r:embed="rId4"/>
          <a:stretch>
            <a:fillRect/>
          </a:stretch>
        </p:blipFill>
        <p:spPr>
          <a:xfrm>
            <a:off x="868680" y="2735275"/>
            <a:ext cx="310896" cy="310896"/>
          </a:xfrm>
          <a:prstGeom prst="rect">
            <a:avLst/>
          </a:prstGeom>
        </p:spPr>
      </p:pic>
      <p:sp>
        <p:nvSpPr>
          <p:cNvPr id="35" name="TextBox 34"/>
          <p:cNvSpPr txBox="1"/>
          <p:nvPr/>
        </p:nvSpPr>
        <p:spPr>
          <a:xfrm>
            <a:off x="1289304" y="2753563"/>
            <a:ext cx="4572000" cy="274320"/>
          </a:xfrm>
          <a:prstGeom prst="rect">
            <a:avLst/>
          </a:prstGeom>
          <a:noFill/>
        </p:spPr>
        <p:txBody>
          <a:bodyPr wrap="square" lIns="0" tIns="0" rIns="0" bIns="0" anchor="ctr">
            <a:spAutoFit/>
          </a:bodyPr>
          <a:lstStyle/>
          <a:p>
            <a:pPr>
              <a:lnSpc>
                <a:spcPct val="108000"/>
              </a:lnSpc>
              <a:spcAft>
                <a:spcPts val="400"/>
              </a:spcAft>
            </a:pPr>
            <a:r>
              <a:rPr sz="1300" b="1" i="0" spc="120">
                <a:solidFill>
                  <a:srgbClr val="F7F6F2"/>
                </a:solidFill>
                <a:latin typeface="Inter"/>
              </a:rPr>
              <a:t>CRITÈRES DE FIN</a:t>
            </a:r>
          </a:p>
        </p:txBody>
      </p:sp>
      <p:sp>
        <p:nvSpPr>
          <p:cNvPr id="36" name="TextBox 35"/>
          <p:cNvSpPr txBox="1"/>
          <p:nvPr/>
        </p:nvSpPr>
        <p:spPr>
          <a:xfrm>
            <a:off x="868680" y="3219907"/>
            <a:ext cx="4663440" cy="1713931"/>
          </a:xfrm>
          <a:prstGeom prst="rect">
            <a:avLst/>
          </a:prstGeom>
          <a:noFill/>
        </p:spPr>
        <p:txBody>
          <a:bodyPr wrap="square" lIns="0" tIns="0" rIns="0" bIns="0" anchor="t">
            <a:spAutoFit/>
          </a:bodyPr>
          <a:lstStyle/>
          <a:p>
            <a:pPr>
              <a:lnSpc>
                <a:spcPct val="108000"/>
              </a:lnSpc>
              <a:spcAft>
                <a:spcPts val="700"/>
              </a:spcAft>
            </a:pPr>
            <a:r>
              <a:rPr sz="1250" b="0" i="0" dirty="0">
                <a:solidFill>
                  <a:srgbClr val="F7F6F2"/>
                </a:solidFill>
                <a:latin typeface="Consolas"/>
              </a:rPr>
              <a:t>[</a:t>
            </a:r>
            <a:r>
              <a:rPr lang="fr-FR" sz="1250" b="0" i="0" dirty="0">
                <a:solidFill>
                  <a:srgbClr val="F7F6F2"/>
                </a:solidFill>
                <a:latin typeface="Consolas"/>
              </a:rPr>
              <a:t>OK</a:t>
            </a:r>
            <a:r>
              <a:rPr sz="1250" b="0" i="0" dirty="0">
                <a:solidFill>
                  <a:srgbClr val="F7F6F2"/>
                </a:solidFill>
                <a:latin typeface="Consolas"/>
              </a:rPr>
              <a:t>]</a:t>
            </a:r>
            <a:r>
              <a:rPr sz="1250" b="0" i="0" dirty="0">
                <a:solidFill>
                  <a:srgbClr val="F7F6F2"/>
                </a:solidFill>
                <a:latin typeface="Inter"/>
              </a:rPr>
              <a:t> </a:t>
            </a:r>
            <a:r>
              <a:rPr sz="1250" b="0" i="0" dirty="0" err="1">
                <a:solidFill>
                  <a:srgbClr val="F7F6F2"/>
                </a:solidFill>
                <a:latin typeface="Inter"/>
              </a:rPr>
              <a:t>Chaque</a:t>
            </a:r>
            <a:r>
              <a:rPr sz="1250" b="0" i="0" dirty="0">
                <a:solidFill>
                  <a:srgbClr val="F7F6F2"/>
                </a:solidFill>
                <a:latin typeface="Inter"/>
              </a:rPr>
              <a:t> expectation </a:t>
            </a:r>
            <a:r>
              <a:rPr sz="1250" b="0" i="0" dirty="0" err="1">
                <a:solidFill>
                  <a:srgbClr val="F7F6F2"/>
                </a:solidFill>
                <a:latin typeface="Inter"/>
              </a:rPr>
              <a:t>porte</a:t>
            </a:r>
            <a:r>
              <a:rPr sz="1250" b="0" i="0" dirty="0">
                <a:solidFill>
                  <a:srgbClr val="F7F6F2"/>
                </a:solidFill>
                <a:latin typeface="Inter"/>
              </a:rPr>
              <a:t> </a:t>
            </a:r>
            <a:r>
              <a:rPr sz="1250" b="0" i="0" dirty="0" err="1">
                <a:solidFill>
                  <a:srgbClr val="F7F6F2"/>
                </a:solidFill>
                <a:latin typeface="Inter"/>
              </a:rPr>
              <a:t>l'identifiant</a:t>
            </a:r>
            <a:r>
              <a:rPr sz="1250" b="0" i="0" dirty="0">
                <a:solidFill>
                  <a:srgbClr val="F7F6F2"/>
                </a:solidFill>
                <a:latin typeface="Inter"/>
              </a:rPr>
              <a:t> de </a:t>
            </a:r>
            <a:r>
              <a:rPr sz="1250" b="0" i="0" dirty="0" err="1">
                <a:solidFill>
                  <a:srgbClr val="F7F6F2"/>
                </a:solidFill>
                <a:latin typeface="Inter"/>
              </a:rPr>
              <a:t>sa</a:t>
            </a:r>
            <a:r>
              <a:rPr sz="1250" b="0" i="0" dirty="0">
                <a:solidFill>
                  <a:srgbClr val="F7F6F2"/>
                </a:solidFill>
                <a:latin typeface="Inter"/>
              </a:rPr>
              <a:t> </a:t>
            </a:r>
            <a:r>
              <a:rPr sz="1250" b="0" i="0" dirty="0" err="1">
                <a:solidFill>
                  <a:srgbClr val="F7F6F2"/>
                </a:solidFill>
                <a:latin typeface="Inter"/>
              </a:rPr>
              <a:t>règle</a:t>
            </a:r>
            <a:r>
              <a:rPr sz="1250" b="0" i="0" dirty="0">
                <a:solidFill>
                  <a:srgbClr val="F7F6F2"/>
                </a:solidFill>
                <a:latin typeface="Inter"/>
              </a:rPr>
              <a:t>.</a:t>
            </a:r>
          </a:p>
          <a:p>
            <a:pPr>
              <a:lnSpc>
                <a:spcPct val="108000"/>
              </a:lnSpc>
              <a:spcAft>
                <a:spcPts val="700"/>
              </a:spcAft>
            </a:pPr>
            <a:r>
              <a:rPr sz="1250" b="0" i="0" dirty="0">
                <a:solidFill>
                  <a:srgbClr val="F7F6F2"/>
                </a:solidFill>
                <a:latin typeface="Consolas"/>
              </a:rPr>
              <a:t>[</a:t>
            </a:r>
            <a:r>
              <a:rPr lang="fr-FR" sz="1250" dirty="0">
                <a:solidFill>
                  <a:srgbClr val="F7F6F2"/>
                </a:solidFill>
                <a:latin typeface="Consolas"/>
              </a:rPr>
              <a:t>OK</a:t>
            </a:r>
            <a:r>
              <a:rPr sz="1250" b="0" i="0" dirty="0">
                <a:solidFill>
                  <a:srgbClr val="F7F6F2"/>
                </a:solidFill>
                <a:latin typeface="Consolas"/>
              </a:rPr>
              <a:t>]</a:t>
            </a:r>
            <a:r>
              <a:rPr sz="1250" b="0" i="0" dirty="0">
                <a:solidFill>
                  <a:srgbClr val="F7F6F2"/>
                </a:solidFill>
                <a:latin typeface="Inter"/>
              </a:rPr>
              <a:t> La </a:t>
            </a:r>
            <a:r>
              <a:rPr sz="1250" b="0" i="0" dirty="0" err="1">
                <a:solidFill>
                  <a:srgbClr val="F7F6F2"/>
                </a:solidFill>
                <a:latin typeface="Inter"/>
              </a:rPr>
              <a:t>même</a:t>
            </a:r>
            <a:r>
              <a:rPr sz="1250" b="0" i="0" dirty="0">
                <a:solidFill>
                  <a:srgbClr val="F7F6F2"/>
                </a:solidFill>
                <a:latin typeface="Inter"/>
              </a:rPr>
              <a:t> suite se </a:t>
            </a:r>
            <a:r>
              <a:rPr sz="1250" b="0" i="0" dirty="0" err="1">
                <a:solidFill>
                  <a:srgbClr val="F7F6F2"/>
                </a:solidFill>
                <a:latin typeface="Inter"/>
              </a:rPr>
              <a:t>relance</a:t>
            </a:r>
            <a:r>
              <a:rPr sz="1250" b="0" i="0" dirty="0">
                <a:solidFill>
                  <a:srgbClr val="F7F6F2"/>
                </a:solidFill>
                <a:latin typeface="Inter"/>
              </a:rPr>
              <a:t> sur </a:t>
            </a:r>
            <a:r>
              <a:rPr sz="1250" b="0" i="0" dirty="0" err="1">
                <a:solidFill>
                  <a:srgbClr val="F7F6F2"/>
                </a:solidFill>
                <a:latin typeface="Inter"/>
              </a:rPr>
              <a:t>une</a:t>
            </a:r>
            <a:r>
              <a:rPr sz="1250" b="0" i="0" dirty="0">
                <a:solidFill>
                  <a:srgbClr val="F7F6F2"/>
                </a:solidFill>
                <a:latin typeface="Inter"/>
              </a:rPr>
              <a:t> </a:t>
            </a:r>
            <a:r>
              <a:rPr sz="1250" b="0" i="0" dirty="0" err="1">
                <a:solidFill>
                  <a:srgbClr val="F7F6F2"/>
                </a:solidFill>
                <a:latin typeface="Inter"/>
              </a:rPr>
              <a:t>autre</a:t>
            </a:r>
            <a:r>
              <a:rPr sz="1250" b="0" i="0" dirty="0">
                <a:solidFill>
                  <a:srgbClr val="F7F6F2"/>
                </a:solidFill>
                <a:latin typeface="Inter"/>
              </a:rPr>
              <a:t> base </a:t>
            </a:r>
            <a:r>
              <a:rPr sz="1250" b="0" i="0" dirty="0" err="1">
                <a:solidFill>
                  <a:srgbClr val="F7F6F2"/>
                </a:solidFill>
                <a:latin typeface="Inter"/>
              </a:rPr>
              <a:t>ou</a:t>
            </a:r>
            <a:r>
              <a:rPr sz="1250" b="0" i="0" dirty="0">
                <a:solidFill>
                  <a:srgbClr val="F7F6F2"/>
                </a:solidFill>
                <a:latin typeface="Inter"/>
              </a:rPr>
              <a:t> table sans modification de code.</a:t>
            </a:r>
          </a:p>
          <a:p>
            <a:pPr>
              <a:lnSpc>
                <a:spcPct val="108000"/>
              </a:lnSpc>
              <a:spcAft>
                <a:spcPts val="700"/>
              </a:spcAft>
            </a:pPr>
            <a:r>
              <a:rPr sz="1250" b="0" i="0" dirty="0">
                <a:solidFill>
                  <a:srgbClr val="F7F6F2"/>
                </a:solidFill>
                <a:latin typeface="Consolas"/>
              </a:rPr>
              <a:t>[</a:t>
            </a:r>
            <a:r>
              <a:rPr lang="fr-FR" sz="1250" dirty="0">
                <a:solidFill>
                  <a:srgbClr val="F7F6F2"/>
                </a:solidFill>
                <a:latin typeface="Consolas"/>
              </a:rPr>
              <a:t>OK</a:t>
            </a:r>
            <a:r>
              <a:rPr sz="1250" b="0" i="0" dirty="0">
                <a:solidFill>
                  <a:srgbClr val="F7F6F2"/>
                </a:solidFill>
                <a:latin typeface="Consolas"/>
              </a:rPr>
              <a:t>]</a:t>
            </a:r>
            <a:r>
              <a:rPr sz="1250" b="0" i="0" dirty="0">
                <a:solidFill>
                  <a:srgbClr val="F7F6F2"/>
                </a:solidFill>
                <a:latin typeface="Inter"/>
              </a:rPr>
              <a:t> La </a:t>
            </a:r>
            <a:r>
              <a:rPr sz="1250" b="0" i="0" dirty="0" err="1">
                <a:solidFill>
                  <a:srgbClr val="F7F6F2"/>
                </a:solidFill>
                <a:latin typeface="Inter"/>
              </a:rPr>
              <a:t>mesure</a:t>
            </a:r>
            <a:r>
              <a:rPr sz="1250" b="0" i="0" dirty="0">
                <a:solidFill>
                  <a:srgbClr val="F7F6F2"/>
                </a:solidFill>
                <a:latin typeface="Inter"/>
              </a:rPr>
              <a:t> de </a:t>
            </a:r>
            <a:r>
              <a:rPr sz="1250" b="0" i="0" dirty="0" err="1">
                <a:solidFill>
                  <a:srgbClr val="F7F6F2"/>
                </a:solidFill>
                <a:latin typeface="Inter"/>
              </a:rPr>
              <a:t>référence</a:t>
            </a:r>
            <a:r>
              <a:rPr sz="1250" b="0" i="0" dirty="0">
                <a:solidFill>
                  <a:srgbClr val="F7F6F2"/>
                </a:solidFill>
                <a:latin typeface="Inter"/>
              </a:rPr>
              <a:t> </a:t>
            </a:r>
            <a:r>
              <a:rPr sz="1250" b="0" i="0" dirty="0" err="1">
                <a:solidFill>
                  <a:srgbClr val="F7F6F2"/>
                </a:solidFill>
                <a:latin typeface="Inter"/>
              </a:rPr>
              <a:t>est</a:t>
            </a:r>
            <a:r>
              <a:rPr sz="1250" b="0" i="0" dirty="0">
                <a:solidFill>
                  <a:srgbClr val="F7F6F2"/>
                </a:solidFill>
                <a:latin typeface="Inter"/>
              </a:rPr>
              <a:t> dans </a:t>
            </a:r>
            <a:r>
              <a:rPr sz="1250" b="0" i="0" dirty="0" err="1">
                <a:solidFill>
                  <a:srgbClr val="F7F6F2"/>
                </a:solidFill>
                <a:latin typeface="Inter"/>
              </a:rPr>
              <a:t>dq.dq_history</a:t>
            </a:r>
            <a:r>
              <a:rPr sz="1250" b="0" i="0" dirty="0">
                <a:solidFill>
                  <a:srgbClr val="F7F6F2"/>
                </a:solidFill>
                <a:latin typeface="Inter"/>
              </a:rPr>
              <a:t> (lot, </a:t>
            </a:r>
            <a:r>
              <a:rPr sz="1250" b="0" i="0" dirty="0" err="1">
                <a:solidFill>
                  <a:srgbClr val="F7F6F2"/>
                </a:solidFill>
                <a:latin typeface="Inter"/>
              </a:rPr>
              <a:t>couche</a:t>
            </a:r>
            <a:r>
              <a:rPr sz="1250" b="0" i="0" dirty="0">
                <a:solidFill>
                  <a:srgbClr val="F7F6F2"/>
                </a:solidFill>
                <a:latin typeface="Inter"/>
              </a:rPr>
              <a:t>, </a:t>
            </a:r>
            <a:r>
              <a:rPr sz="1250" b="0" i="0" dirty="0" err="1">
                <a:solidFill>
                  <a:srgbClr val="F7F6F2"/>
                </a:solidFill>
                <a:latin typeface="Inter"/>
              </a:rPr>
              <a:t>testées</a:t>
            </a:r>
            <a:r>
              <a:rPr sz="1250" b="0" i="0" dirty="0">
                <a:solidFill>
                  <a:srgbClr val="F7F6F2"/>
                </a:solidFill>
                <a:latin typeface="Inter"/>
              </a:rPr>
              <a:t>, </a:t>
            </a:r>
            <a:r>
              <a:rPr sz="1250" b="0" i="0" dirty="0" err="1">
                <a:solidFill>
                  <a:srgbClr val="F7F6F2"/>
                </a:solidFill>
                <a:latin typeface="Inter"/>
              </a:rPr>
              <a:t>échecs</a:t>
            </a:r>
            <a:r>
              <a:rPr sz="1250" b="0" i="0" dirty="0">
                <a:solidFill>
                  <a:srgbClr val="F7F6F2"/>
                </a:solidFill>
                <a:latin typeface="Inter"/>
              </a:rPr>
              <a:t>).</a:t>
            </a:r>
          </a:p>
          <a:p>
            <a:pPr>
              <a:lnSpc>
                <a:spcPct val="108000"/>
              </a:lnSpc>
              <a:spcAft>
                <a:spcPts val="700"/>
              </a:spcAft>
            </a:pPr>
            <a:r>
              <a:rPr sz="1250" b="0" i="0" dirty="0">
                <a:solidFill>
                  <a:srgbClr val="F7F6F2"/>
                </a:solidFill>
                <a:latin typeface="Consolas"/>
              </a:rPr>
              <a:t>[</a:t>
            </a:r>
            <a:r>
              <a:rPr lang="fr-FR" sz="1250" dirty="0">
                <a:solidFill>
                  <a:srgbClr val="F7F6F2"/>
                </a:solidFill>
                <a:latin typeface="Consolas"/>
              </a:rPr>
              <a:t>OK</a:t>
            </a:r>
            <a:r>
              <a:rPr sz="1250" b="0" i="0" dirty="0">
                <a:solidFill>
                  <a:srgbClr val="F7F6F2"/>
                </a:solidFill>
                <a:latin typeface="Consolas"/>
              </a:rPr>
              <a:t>]</a:t>
            </a:r>
            <a:r>
              <a:rPr sz="1250" b="0" i="0" dirty="0">
                <a:solidFill>
                  <a:srgbClr val="F7F6F2"/>
                </a:solidFill>
                <a:latin typeface="Inter"/>
              </a:rPr>
              <a:t> Les </a:t>
            </a:r>
            <a:r>
              <a:rPr sz="1250" b="0" i="0" dirty="0" err="1">
                <a:solidFill>
                  <a:srgbClr val="F7F6F2"/>
                </a:solidFill>
                <a:latin typeface="Inter"/>
              </a:rPr>
              <a:t>règles</a:t>
            </a:r>
            <a:r>
              <a:rPr sz="1250" b="0" i="0" dirty="0">
                <a:solidFill>
                  <a:srgbClr val="F7F6F2"/>
                </a:solidFill>
                <a:latin typeface="Inter"/>
              </a:rPr>
              <a:t> </a:t>
            </a:r>
            <a:r>
              <a:rPr sz="1250" b="0" i="0" dirty="0" err="1">
                <a:solidFill>
                  <a:srgbClr val="F7F6F2"/>
                </a:solidFill>
                <a:latin typeface="Inter"/>
              </a:rPr>
              <a:t>s'exécutent</a:t>
            </a:r>
            <a:r>
              <a:rPr sz="1250" b="0" i="0" dirty="0">
                <a:solidFill>
                  <a:srgbClr val="F7F6F2"/>
                </a:solidFill>
                <a:latin typeface="Inter"/>
              </a:rPr>
              <a:t> d'un </a:t>
            </a:r>
            <a:r>
              <a:rPr sz="1250" b="0" i="0" dirty="0" err="1">
                <a:solidFill>
                  <a:srgbClr val="F7F6F2"/>
                </a:solidFill>
                <a:latin typeface="Inter"/>
              </a:rPr>
              <a:t>seul</a:t>
            </a:r>
            <a:r>
              <a:rPr sz="1250" b="0" i="0" dirty="0">
                <a:solidFill>
                  <a:srgbClr val="F7F6F2"/>
                </a:solidFill>
                <a:latin typeface="Inter"/>
              </a:rPr>
              <a:t> </a:t>
            </a:r>
            <a:r>
              <a:rPr sz="1250" b="0" i="0" dirty="0" err="1">
                <a:solidFill>
                  <a:srgbClr val="F7F6F2"/>
                </a:solidFill>
                <a:latin typeface="Inter"/>
              </a:rPr>
              <a:t>geste</a:t>
            </a:r>
            <a:r>
              <a:rPr sz="1250" b="0" i="0" dirty="0">
                <a:solidFill>
                  <a:srgbClr val="F7F6F2"/>
                </a:solidFill>
                <a:latin typeface="Inter"/>
              </a:rPr>
              <a:t> (notebook </a:t>
            </a:r>
            <a:r>
              <a:rPr sz="1250" b="0" i="0" dirty="0" err="1">
                <a:solidFill>
                  <a:srgbClr val="F7F6F2"/>
                </a:solidFill>
                <a:latin typeface="Inter"/>
              </a:rPr>
              <a:t>relançable</a:t>
            </a:r>
            <a:r>
              <a:rPr sz="1250" b="0" i="0" dirty="0">
                <a:solidFill>
                  <a:srgbClr val="F7F6F2"/>
                </a:solidFill>
                <a:latin typeface="Inter"/>
              </a:rPr>
              <a:t> de bout </a:t>
            </a:r>
            <a:r>
              <a:rPr sz="1250" b="0" i="0" dirty="0" err="1">
                <a:solidFill>
                  <a:srgbClr val="F7F6F2"/>
                </a:solidFill>
                <a:latin typeface="Inter"/>
              </a:rPr>
              <a:t>en</a:t>
            </a:r>
            <a:r>
              <a:rPr sz="1250" b="0" i="0" dirty="0">
                <a:solidFill>
                  <a:srgbClr val="F7F6F2"/>
                </a:solidFill>
                <a:latin typeface="Inter"/>
              </a:rPr>
              <a:t> bout).</a:t>
            </a:r>
          </a:p>
        </p:txBody>
      </p:sp>
      <p:sp>
        <p:nvSpPr>
          <p:cNvPr id="37" name="TextBox 36"/>
          <p:cNvSpPr txBox="1"/>
          <p:nvPr/>
        </p:nvSpPr>
        <p:spPr>
          <a:xfrm>
            <a:off x="640080" y="5852160"/>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Remplacez [ ] par [x] une fois le critère démontré.</a:t>
            </a:r>
          </a:p>
        </p:txBody>
      </p:sp>
      <p:sp>
        <p:nvSpPr>
          <p:cNvPr id="38" name="TextBox 37"/>
          <p:cNvSpPr txBox="1"/>
          <p:nvPr/>
        </p:nvSpPr>
        <p:spPr>
          <a:xfrm>
            <a:off x="5943600" y="2579827"/>
            <a:ext cx="5605272" cy="256032"/>
          </a:xfrm>
          <a:prstGeom prst="rect">
            <a:avLst/>
          </a:prstGeom>
          <a:noFill/>
        </p:spPr>
        <p:txBody>
          <a:bodyPr wrap="square" lIns="0" tIns="0" rIns="0" bIns="0" anchor="ctr">
            <a:spAutoFit/>
          </a:bodyPr>
          <a:lstStyle/>
          <a:p>
            <a:pPr>
              <a:lnSpc>
                <a:spcPct val="108000"/>
              </a:lnSpc>
              <a:spcAft>
                <a:spcPts val="400"/>
              </a:spcAft>
            </a:pPr>
            <a:r>
              <a:rPr sz="1100" b="1" i="0" spc="120" dirty="0">
                <a:solidFill>
                  <a:srgbClr val="F5A623"/>
                </a:solidFill>
                <a:latin typeface="Inter"/>
              </a:rPr>
              <a:t>DIFFICULTÉS RENCONTRÉES ET TEMPS PERDU</a:t>
            </a:r>
          </a:p>
        </p:txBody>
      </p:sp>
      <p:sp>
        <p:nvSpPr>
          <p:cNvPr id="39" name="Zone à rédiger"/>
          <p:cNvSpPr/>
          <p:nvPr/>
        </p:nvSpPr>
        <p:spPr>
          <a:xfrm>
            <a:off x="5943600" y="2872435"/>
            <a:ext cx="5605272" cy="117043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r>
              <a:rPr lang="fr-FR" sz="1200" i="1" dirty="0">
                <a:solidFill>
                  <a:srgbClr val="8E99A4"/>
                </a:solidFill>
              </a:rPr>
              <a:t>Vu que nous alternons nos rôles et que nous ne travaillons pas sur les mêmes tâches, nous avons également perdu du temps à cause des problèmes liés aux installations. </a:t>
            </a:r>
          </a:p>
        </p:txBody>
      </p:sp>
      <p:sp>
        <p:nvSpPr>
          <p:cNvPr id="40" name="TextBox 39"/>
          <p:cNvSpPr txBox="1"/>
          <p:nvPr/>
        </p:nvSpPr>
        <p:spPr>
          <a:xfrm>
            <a:off x="5943600" y="4180027"/>
            <a:ext cx="5605272" cy="256032"/>
          </a:xfrm>
          <a:prstGeom prst="rect">
            <a:avLst/>
          </a:prstGeom>
          <a:noFill/>
        </p:spPr>
        <p:txBody>
          <a:bodyPr wrap="square" lIns="0" tIns="0" rIns="0" bIns="0" anchor="ctr">
            <a:spAutoFit/>
          </a:bodyPr>
          <a:lstStyle/>
          <a:p>
            <a:pPr>
              <a:lnSpc>
                <a:spcPct val="108000"/>
              </a:lnSpc>
              <a:spcAft>
                <a:spcPts val="400"/>
              </a:spcAft>
            </a:pPr>
            <a:r>
              <a:rPr sz="1100" b="1" i="0" spc="120" dirty="0">
                <a:solidFill>
                  <a:srgbClr val="F5A623"/>
                </a:solidFill>
                <a:latin typeface="Inter"/>
              </a:rPr>
              <a:t>POINT DE REPRISE UTILISÉ (OUI / NON, LEQUEL)</a:t>
            </a:r>
          </a:p>
        </p:txBody>
      </p:sp>
      <p:sp>
        <p:nvSpPr>
          <p:cNvPr id="41" name="Zone à rédiger"/>
          <p:cNvSpPr/>
          <p:nvPr/>
        </p:nvSpPr>
        <p:spPr>
          <a:xfrm>
            <a:off x="5943600" y="4472635"/>
            <a:ext cx="5605272" cy="62179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r>
              <a:rPr lang="fr-FR" sz="1200" i="1" dirty="0">
                <a:solidFill>
                  <a:srgbClr val="8E99A4"/>
                </a:solidFill>
              </a:rPr>
              <a:t>Oui, nous avons récupéré sur GitHub le travail réalisé lors de la séance 1, puis nous nous sommes réparti les tâches entre nous.</a:t>
            </a:r>
            <a:endParaRPr sz="1200" i="1" dirty="0">
              <a:solidFill>
                <a:srgbClr val="8E99A4"/>
              </a:solidFill>
              <a:latin typeface="Inter"/>
            </a:endParaRPr>
          </a:p>
        </p:txBody>
      </p:sp>
      <p:sp>
        <p:nvSpPr>
          <p:cNvPr id="42" name="TextBox 41"/>
          <p:cNvSpPr txBox="1"/>
          <p:nvPr/>
        </p:nvSpPr>
        <p:spPr>
          <a:xfrm>
            <a:off x="5943600" y="523158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CE QUE NOUS FERIONS AUTREMENT</a:t>
            </a:r>
          </a:p>
        </p:txBody>
      </p:sp>
      <p:sp>
        <p:nvSpPr>
          <p:cNvPr id="43" name="Zone à rédiger"/>
          <p:cNvSpPr/>
          <p:nvPr/>
        </p:nvSpPr>
        <p:spPr>
          <a:xfrm>
            <a:off x="5943600" y="5524195"/>
            <a:ext cx="5605272" cy="602284"/>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r>
              <a:rPr lang="fr-FR" sz="1200" i="1" dirty="0">
                <a:solidFill>
                  <a:srgbClr val="8E99A4"/>
                </a:solidFill>
              </a:rPr>
              <a:t>Avant la répartition des tâches, nous devons nous assurer que tous les prérequis nécessaires fonctionnent correctement.</a:t>
            </a:r>
            <a:endParaRPr sz="1200" i="1" dirty="0">
              <a:solidFill>
                <a:srgbClr val="8E99A4"/>
              </a:solidFill>
              <a:latin typeface="Inte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2"/>
          </p:nvPr>
        </p:nvSpPr>
        <p:spPr/>
        <p:txBody>
          <a:bodyPr/>
          <a:lstStyle/>
          <a:p>
            <a:r>
              <a:t>03</a:t>
            </a:r>
          </a:p>
        </p:txBody>
      </p:sp>
      <p:sp>
        <p:nvSpPr>
          <p:cNvPr id="3" name="Title 2"/>
          <p:cNvSpPr>
            <a:spLocks noGrp="1"/>
          </p:cNvSpPr>
          <p:nvPr>
            <p:ph type="title" idx="103"/>
          </p:nvPr>
        </p:nvSpPr>
        <p:spPr/>
        <p:txBody>
          <a:bodyPr/>
          <a:lstStyle/>
          <a:p>
            <a:r>
              <a:t>Intégrité et portes en SodaCL</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20</a:t>
            </a:fld>
            <a:endParaRPr lang="en-US"/>
          </a:p>
        </p:txBody>
      </p:sp>
      <p:sp>
        <p:nvSpPr>
          <p:cNvPr id="26" name="TextBox 25"/>
          <p:cNvSpPr txBox="1"/>
          <p:nvPr/>
        </p:nvSpPr>
        <p:spPr>
          <a:xfrm>
            <a:off x="640080" y="4892040"/>
            <a:ext cx="6400800" cy="1097280"/>
          </a:xfrm>
          <a:prstGeom prst="rect">
            <a:avLst/>
          </a:prstGeom>
          <a:noFill/>
        </p:spPr>
        <p:txBody>
          <a:bodyPr wrap="square" lIns="0" tIns="0" rIns="0" bIns="0" anchor="t">
            <a:spAutoFit/>
          </a:bodyPr>
          <a:lstStyle/>
          <a:p>
            <a:pPr>
              <a:lnSpc>
                <a:spcPct val="115000"/>
              </a:lnSpc>
              <a:spcAft>
                <a:spcPts val="400"/>
              </a:spcAft>
            </a:pPr>
            <a:r>
              <a:rPr sz="1600" b="0" i="0">
                <a:solidFill>
                  <a:srgbClr val="B8C0C8"/>
                </a:solidFill>
                <a:latin typeface="Inter"/>
              </a:rPr>
              <a:t>Séance 3 · Soda Core · US-12, 14, 16 à 20. Mêmes contrôles en SodaCL, code retour qui peut fermer une porte, intégrité entre tables.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Checks Soda : une source de données par couche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21</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S3 · US-12</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RÈGLES ET TESTS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Chaque contrôle porte l'identifiant de sa </a:t>
            </a:r>
            <a:r>
              <a:rPr sz="1300" b="1" i="0">
                <a:solidFill>
                  <a:srgbClr val="F5A623"/>
                </a:solidFill>
                <a:latin typeface="Inter"/>
              </a:rPr>
              <a:t>règle</a:t>
            </a:r>
            <a:r>
              <a:rPr sz="1300" b="0" i="0">
                <a:solidFill>
                  <a:srgbClr val="F7F6F2"/>
                </a:solidFill>
                <a:latin typeface="Inter"/>
              </a:rPr>
              <a:t> et la </a:t>
            </a:r>
            <a:r>
              <a:rPr sz="1300" b="1" i="0">
                <a:solidFill>
                  <a:srgbClr val="F5A623"/>
                </a:solidFill>
                <a:latin typeface="Inter"/>
              </a:rPr>
              <a:t>couche</a:t>
            </a:r>
            <a:r>
              <a:rPr sz="1300" b="0" i="0">
                <a:solidFill>
                  <a:srgbClr val="F7F6F2"/>
                </a:solidFill>
                <a:latin typeface="Inter"/>
              </a:rPr>
              <a:t> mesurée.</a:t>
            </a:r>
          </a:p>
          <a:p>
            <a:pPr marL="182880" indent="-182880">
              <a:lnSpc>
                <a:spcPct val="108000"/>
              </a:lnSpc>
              <a:spcAft>
                <a:spcPts val="300"/>
              </a:spcAft>
              <a:buClr>
                <a:srgbClr val="F5A623"/>
              </a:buClr>
              <a:buChar char="•"/>
            </a:pPr>
            <a:r>
              <a:rPr sz="1300" b="0" i="0">
                <a:solidFill>
                  <a:srgbClr val="F7F6F2"/>
                </a:solidFill>
                <a:latin typeface="Inter"/>
              </a:rPr>
              <a:t>Le </a:t>
            </a:r>
            <a:r>
              <a:rPr sz="1300" b="1" i="0">
                <a:solidFill>
                  <a:srgbClr val="F5A623"/>
                </a:solidFill>
                <a:latin typeface="Inter"/>
              </a:rPr>
              <a:t>code retour</a:t>
            </a:r>
            <a:r>
              <a:rPr sz="1300" b="0" i="0">
                <a:solidFill>
                  <a:srgbClr val="F7F6F2"/>
                </a:solidFill>
                <a:latin typeface="Inter"/>
              </a:rPr>
              <a:t> du scan : à quelle condition devient-il non nul ? Distinguez </a:t>
            </a:r>
            <a:r>
              <a:rPr sz="1300" b="1" i="0">
                <a:solidFill>
                  <a:srgbClr val="F5A623"/>
                </a:solidFill>
                <a:latin typeface="Inter"/>
              </a:rPr>
              <a:t>avertissement</a:t>
            </a:r>
            <a:r>
              <a:rPr sz="1300" b="0" i="0">
                <a:solidFill>
                  <a:srgbClr val="F7F6F2"/>
                </a:solidFill>
                <a:latin typeface="Inter"/>
              </a:rPr>
              <a:t> et </a:t>
            </a:r>
            <a:r>
              <a:rPr sz="1300" b="1" i="0">
                <a:solidFill>
                  <a:srgbClr val="F5A623"/>
                </a:solidFill>
                <a:latin typeface="Inter"/>
              </a:rPr>
              <a:t>échec</a:t>
            </a:r>
            <a:r>
              <a:rPr sz="1300" b="0" i="0">
                <a:solidFill>
                  <a:srgbClr val="F7F6F2"/>
                </a:solidFill>
                <a:latin typeface="Inter"/>
              </a:rPr>
              <a:t>.</a:t>
            </a:r>
          </a:p>
        </p:txBody>
      </p:sp>
      <p:graphicFrame>
        <p:nvGraphicFramePr>
          <p:cNvPr id="33" name="Table 32"/>
          <p:cNvGraphicFramePr>
            <a:graphicFrameLocks noGrp="1"/>
          </p:cNvGraphicFramePr>
          <p:nvPr/>
        </p:nvGraphicFramePr>
        <p:xfrm>
          <a:off x="640080" y="2534107"/>
          <a:ext cx="10908791" cy="2084832"/>
        </p:xfrm>
        <a:graphic>
          <a:graphicData uri="http://schemas.openxmlformats.org/drawingml/2006/table">
            <a:tbl>
              <a:tblPr/>
              <a:tblGrid>
                <a:gridCol w="10058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1856231">
                  <a:extLst>
                    <a:ext uri="{9D8B030D-6E8A-4147-A177-3AD203B41FA5}">
                      <a16:colId xmlns:a16="http://schemas.microsoft.com/office/drawing/2014/main" val="20005"/>
                    </a:ext>
                  </a:extLst>
                </a:gridCol>
              </a:tblGrid>
              <a:tr h="347472">
                <a:tc>
                  <a:txBody>
                    <a:bodyPr/>
                    <a:lstStyle/>
                    <a:p>
                      <a:r>
                        <a:rPr sz="1050" b="1" i="0" spc="60">
                          <a:solidFill>
                            <a:srgbClr val="F5A623"/>
                          </a:solidFill>
                          <a:latin typeface="Inter"/>
                        </a:rPr>
                        <a:t>Règle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Fichier de checks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Couche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Résultat (PASSED, WARN, FAILED)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Valeur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Code retour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bl>
          </a:graphicData>
        </a:graphic>
      </p:graphicFrame>
      <p:sp>
        <p:nvSpPr>
          <p:cNvPr id="34" name="TextBox 33"/>
          <p:cNvSpPr txBox="1"/>
          <p:nvPr/>
        </p:nvSpPr>
        <p:spPr>
          <a:xfrm>
            <a:off x="640080" y="4756099"/>
            <a:ext cx="534924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CODE RETOUR ET AVERTISSEMENTS</a:t>
            </a:r>
          </a:p>
        </p:txBody>
      </p:sp>
      <p:sp>
        <p:nvSpPr>
          <p:cNvPr id="35" name="Zone à rédiger"/>
          <p:cNvSpPr/>
          <p:nvPr/>
        </p:nvSpPr>
        <p:spPr>
          <a:xfrm>
            <a:off x="640080" y="5048707"/>
            <a:ext cx="5349240" cy="107777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
        <p:nvSpPr>
          <p:cNvPr id="36" name="TextBox 35"/>
          <p:cNvSpPr txBox="1"/>
          <p:nvPr/>
        </p:nvSpPr>
        <p:spPr>
          <a:xfrm>
            <a:off x="6199632" y="4756099"/>
            <a:ext cx="534924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COHÉRENCE AVEC GREAT EXPECTATIONS (S2)</a:t>
            </a:r>
          </a:p>
        </p:txBody>
      </p:sp>
      <p:sp>
        <p:nvSpPr>
          <p:cNvPr id="37" name="Zone à rédiger"/>
          <p:cNvSpPr/>
          <p:nvPr/>
        </p:nvSpPr>
        <p:spPr>
          <a:xfrm>
            <a:off x="6199632" y="5048707"/>
            <a:ext cx="5349240" cy="107777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[Écarts et explication]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Bilan d'intégrité et valeur sentinelle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22</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S3 · US-16, 17</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RÈGLES ET TESTS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 </a:t>
            </a:r>
            <a:r>
              <a:rPr sz="1300" b="1" i="0">
                <a:solidFill>
                  <a:srgbClr val="F5A623"/>
                </a:solidFill>
                <a:latin typeface="Inter"/>
              </a:rPr>
              <a:t>nombre d'orphelins</a:t>
            </a:r>
            <a:r>
              <a:rPr sz="1300" b="0" i="0">
                <a:solidFill>
                  <a:srgbClr val="F7F6F2"/>
                </a:solidFill>
                <a:latin typeface="Inter"/>
              </a:rPr>
              <a:t> par relation, avec une </a:t>
            </a:r>
            <a:r>
              <a:rPr sz="1300" b="1" i="0">
                <a:solidFill>
                  <a:srgbClr val="F5A623"/>
                </a:solidFill>
                <a:latin typeface="Inter"/>
              </a:rPr>
              <a:t>conclusion</a:t>
            </a:r>
            <a:r>
              <a:rPr sz="1300" b="0" i="0">
                <a:solidFill>
                  <a:srgbClr val="F7F6F2"/>
                </a:solidFill>
                <a:latin typeface="Inter"/>
              </a:rPr>
              <a:t> pour chacune (anomalie, sentinelle, normal).</a:t>
            </a:r>
          </a:p>
          <a:p>
            <a:pPr marL="182880" indent="-182880">
              <a:lnSpc>
                <a:spcPct val="108000"/>
              </a:lnSpc>
              <a:spcAft>
                <a:spcPts val="300"/>
              </a:spcAft>
              <a:buClr>
                <a:srgbClr val="F5A623"/>
              </a:buClr>
              <a:buChar char="•"/>
            </a:pPr>
            <a:r>
              <a:rPr sz="1300" b="0" i="0">
                <a:solidFill>
                  <a:srgbClr val="F7F6F2"/>
                </a:solidFill>
                <a:latin typeface="Inter"/>
              </a:rPr>
              <a:t>La </a:t>
            </a:r>
            <a:r>
              <a:rPr sz="1300" b="1" i="0">
                <a:solidFill>
                  <a:srgbClr val="F5A623"/>
                </a:solidFill>
                <a:latin typeface="Inter"/>
              </a:rPr>
              <a:t>valeur sentinelle</a:t>
            </a:r>
            <a:r>
              <a:rPr sz="1300" b="0" i="0">
                <a:solidFill>
                  <a:srgbClr val="F7F6F2"/>
                </a:solidFill>
                <a:latin typeface="Inter"/>
              </a:rPr>
              <a:t> de assure_id : contrôle </a:t>
            </a:r>
            <a:r>
              <a:rPr sz="1300" b="1" i="0">
                <a:solidFill>
                  <a:srgbClr val="F5A623"/>
                </a:solidFill>
                <a:latin typeface="Inter"/>
              </a:rPr>
              <a:t>avant</a:t>
            </a:r>
            <a:r>
              <a:rPr sz="1300" b="0" i="0">
                <a:solidFill>
                  <a:srgbClr val="F7F6F2"/>
                </a:solidFill>
                <a:latin typeface="Inter"/>
              </a:rPr>
              <a:t> et </a:t>
            </a:r>
            <a:r>
              <a:rPr sz="1300" b="1" i="0">
                <a:solidFill>
                  <a:srgbClr val="F5A623"/>
                </a:solidFill>
                <a:latin typeface="Inter"/>
              </a:rPr>
              <a:t>après</a:t>
            </a:r>
            <a:r>
              <a:rPr sz="1300" b="0" i="0">
                <a:solidFill>
                  <a:srgbClr val="F7F6F2"/>
                </a:solidFill>
                <a:latin typeface="Inter"/>
              </a:rPr>
              <a:t>, écart chiffré, </a:t>
            </a:r>
            <a:r>
              <a:rPr sz="1300" b="1" i="0">
                <a:solidFill>
                  <a:srgbClr val="F5A623"/>
                </a:solidFill>
                <a:latin typeface="Inter"/>
              </a:rPr>
              <a:t>convention écrite</a:t>
            </a:r>
            <a:r>
              <a:rPr sz="1300" b="0" i="0">
                <a:solidFill>
                  <a:srgbClr val="F7F6F2"/>
                </a:solidFill>
                <a:latin typeface="Inter"/>
              </a:rPr>
              <a:t>.</a:t>
            </a:r>
          </a:p>
        </p:txBody>
      </p:sp>
      <p:graphicFrame>
        <p:nvGraphicFramePr>
          <p:cNvPr id="33" name="Table 32"/>
          <p:cNvGraphicFramePr>
            <a:graphicFrameLocks noGrp="1"/>
          </p:cNvGraphicFramePr>
          <p:nvPr/>
        </p:nvGraphicFramePr>
        <p:xfrm>
          <a:off x="640080" y="2534107"/>
          <a:ext cx="10908792" cy="1508760"/>
        </p:xfrm>
        <a:graphic>
          <a:graphicData uri="http://schemas.openxmlformats.org/drawingml/2006/table">
            <a:tbl>
              <a:tblPr/>
              <a:tblGrid>
                <a:gridCol w="3657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01752">
                <a:tc>
                  <a:txBody>
                    <a:bodyPr/>
                    <a:lstStyle/>
                    <a:p>
                      <a:r>
                        <a:rPr sz="1000" b="1" i="0" spc="60">
                          <a:solidFill>
                            <a:srgbClr val="F5A623"/>
                          </a:solidFill>
                          <a:latin typeface="Inter"/>
                        </a:rPr>
                        <a:t>Relation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Testées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Orphelins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Taux</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Conclusion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01752">
                <a:tc>
                  <a:txBody>
                    <a:bodyPr/>
                    <a:lstStyle/>
                    <a:p>
                      <a:r>
                        <a:rPr sz="1100" b="1" i="0">
                          <a:solidFill>
                            <a:srgbClr val="F7F6F2"/>
                          </a:solidFill>
                          <a:latin typeface="Inter"/>
                        </a:rPr>
                        <a:t>contrat.souscripteur_id → client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01752">
                <a:tc>
                  <a:txBody>
                    <a:bodyPr/>
                    <a:lstStyle/>
                    <a:p>
                      <a:r>
                        <a:rPr sz="1100" b="1" i="0">
                          <a:solidFill>
                            <a:srgbClr val="F7F6F2"/>
                          </a:solidFill>
                          <a:latin typeface="Inter"/>
                        </a:rPr>
                        <a:t>contrat.assure_id → client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01752">
                <a:tc>
                  <a:txBody>
                    <a:bodyPr/>
                    <a:lstStyle/>
                    <a:p>
                      <a:r>
                        <a:rPr sz="1100" b="1" i="0">
                          <a:solidFill>
                            <a:srgbClr val="F7F6F2"/>
                          </a:solidFill>
                          <a:latin typeface="Inter"/>
                        </a:rPr>
                        <a:t>contrat.code_type → type_contrat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01752">
                <a:tc>
                  <a:txBody>
                    <a:bodyPr/>
                    <a:lstStyle/>
                    <a:p>
                      <a:r>
                        <a:rPr sz="1100" b="1" i="0">
                          <a:solidFill>
                            <a:srgbClr val="F7F6F2"/>
                          </a:solidFill>
                          <a:latin typeface="Inter"/>
                        </a:rPr>
                        <a:t>sinistre.contrat_id → contrat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graphicFrame>
        <p:nvGraphicFramePr>
          <p:cNvPr id="34" name="Table 33"/>
          <p:cNvGraphicFramePr>
            <a:graphicFrameLocks noGrp="1"/>
          </p:cNvGraphicFramePr>
          <p:nvPr/>
        </p:nvGraphicFramePr>
        <p:xfrm>
          <a:off x="640080" y="4152595"/>
          <a:ext cx="10908792" cy="905256"/>
        </p:xfrm>
        <a:graphic>
          <a:graphicData uri="http://schemas.openxmlformats.org/drawingml/2006/table">
            <a:tbl>
              <a:tblPr/>
              <a:tblGrid>
                <a:gridCol w="45720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4142232">
                  <a:extLst>
                    <a:ext uri="{9D8B030D-6E8A-4147-A177-3AD203B41FA5}">
                      <a16:colId xmlns:a16="http://schemas.microsoft.com/office/drawing/2014/main" val="20002"/>
                    </a:ext>
                  </a:extLst>
                </a:gridCol>
              </a:tblGrid>
              <a:tr h="301752">
                <a:tc>
                  <a:txBody>
                    <a:bodyPr/>
                    <a:lstStyle/>
                    <a:p>
                      <a:r>
                        <a:rPr sz="1000" b="1" i="0" spc="60">
                          <a:solidFill>
                            <a:srgbClr val="F5A623"/>
                          </a:solidFill>
                          <a:latin typeface="Inter"/>
                        </a:rPr>
                        <a:t>Contrôle sur assure_id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Orphelins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Preuve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01752">
                <a:tc>
                  <a:txBody>
                    <a:bodyPr/>
                    <a:lstStyle/>
                    <a:p>
                      <a:r>
                        <a:rPr sz="1100" b="1" i="0">
                          <a:solidFill>
                            <a:srgbClr val="F7F6F2"/>
                          </a:solidFill>
                          <a:latin typeface="Inter"/>
                        </a:rPr>
                        <a:t>Avant traitement de la sentinelle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01752">
                <a:tc>
                  <a:txBody>
                    <a:bodyPr/>
                    <a:lstStyle/>
                    <a:p>
                      <a:r>
                        <a:rPr sz="1100" b="1" i="0">
                          <a:solidFill>
                            <a:srgbClr val="F7F6F2"/>
                          </a:solidFill>
                          <a:latin typeface="Inter"/>
                        </a:rPr>
                        <a:t>Après traitement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bl>
          </a:graphicData>
        </a:graphic>
      </p:graphicFrame>
      <p:sp>
        <p:nvSpPr>
          <p:cNvPr id="35" name="TextBox 34"/>
          <p:cNvSpPr txBox="1"/>
          <p:nvPr/>
        </p:nvSpPr>
        <p:spPr>
          <a:xfrm>
            <a:off x="640080" y="5167579"/>
            <a:ext cx="1090879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CONVENTION (QUI TRAITE LA SENTINELLE, DANS QUELLE COUCHE) ET POURQUOI LE PREMIER CONTRÔLE EST TROMPEUR</a:t>
            </a:r>
          </a:p>
        </p:txBody>
      </p:sp>
      <p:sp>
        <p:nvSpPr>
          <p:cNvPr id="36" name="Zone à rédiger"/>
          <p:cNvSpPr/>
          <p:nvPr/>
        </p:nvSpPr>
        <p:spPr>
          <a:xfrm>
            <a:off x="640080" y="5460187"/>
            <a:ext cx="10908792" cy="66629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Statuts, garantie et définition unique du client actif</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23</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S3 · US-18, 19, 14</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RÈGLES ET TESTS · 20 %</a:t>
            </a:r>
          </a:p>
        </p:txBody>
      </p:sp>
      <p:sp>
        <p:nvSpPr>
          <p:cNvPr id="28" name="Attendu"/>
          <p:cNvSpPr/>
          <p:nvPr/>
        </p:nvSpPr>
        <p:spPr>
          <a:xfrm>
            <a:off x="640080" y="1325880"/>
            <a:ext cx="10908792" cy="12850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2850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7821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1" i="0">
                <a:solidFill>
                  <a:srgbClr val="F5A623"/>
                </a:solidFill>
                <a:latin typeface="Inter"/>
              </a:rPr>
              <a:t>RQ-015, 016, 017</a:t>
            </a:r>
            <a:r>
              <a:rPr sz="1300" b="0" i="0">
                <a:solidFill>
                  <a:srgbClr val="F7F6F2"/>
                </a:solidFill>
                <a:latin typeface="Inter"/>
              </a:rPr>
              <a:t> mesurées, avec une </a:t>
            </a:r>
            <a:r>
              <a:rPr sz="1300" b="1" i="0">
                <a:solidFill>
                  <a:srgbClr val="F5A623"/>
                </a:solidFill>
                <a:latin typeface="Inter"/>
              </a:rPr>
              <a:t>règle de correction du statut</a:t>
            </a:r>
            <a:r>
              <a:rPr sz="1300" b="0" i="0">
                <a:solidFill>
                  <a:srgbClr val="F7F6F2"/>
                </a:solidFill>
                <a:latin typeface="Inter"/>
              </a:rPr>
              <a:t> proposée au </a:t>
            </a:r>
            <a:r>
              <a:rPr sz="1300" b="1" i="0">
                <a:solidFill>
                  <a:srgbClr val="F5A623"/>
                </a:solidFill>
                <a:latin typeface="Inter"/>
              </a:rPr>
              <a:t>Data Owner</a:t>
            </a:r>
            <a:r>
              <a:rPr sz="1300" b="0" i="0">
                <a:solidFill>
                  <a:srgbClr val="F7F6F2"/>
                </a:solidFill>
                <a:latin typeface="Inter"/>
              </a:rPr>
              <a:t> (reportée au journal des décisions).</a:t>
            </a:r>
          </a:p>
          <a:p>
            <a:pPr marL="182880" indent="-182880">
              <a:lnSpc>
                <a:spcPct val="108000"/>
              </a:lnSpc>
              <a:spcAft>
                <a:spcPts val="300"/>
              </a:spcAft>
              <a:buClr>
                <a:srgbClr val="F5A623"/>
              </a:buClr>
              <a:buChar char="•"/>
            </a:pPr>
            <a:r>
              <a:rPr sz="1300" b="0" i="0">
                <a:solidFill>
                  <a:srgbClr val="F7F6F2"/>
                </a:solidFill>
                <a:latin typeface="Inter"/>
              </a:rPr>
              <a:t>La </a:t>
            </a:r>
            <a:r>
              <a:rPr sz="1300" b="1" i="0">
                <a:solidFill>
                  <a:srgbClr val="F5A623"/>
                </a:solidFill>
                <a:latin typeface="Inter"/>
              </a:rPr>
              <a:t>requête unique</a:t>
            </a:r>
            <a:r>
              <a:rPr sz="1300" b="0" i="0">
                <a:solidFill>
                  <a:srgbClr val="F7F6F2"/>
                </a:solidFill>
                <a:latin typeface="Inter"/>
              </a:rPr>
              <a:t> du client actif : les trois directions obtiennent le </a:t>
            </a:r>
            <a:r>
              <a:rPr sz="1300" b="1" i="0">
                <a:solidFill>
                  <a:srgbClr val="F5A623"/>
                </a:solidFill>
                <a:latin typeface="Inter"/>
              </a:rPr>
              <a:t>même chiffre</a:t>
            </a:r>
            <a:r>
              <a:rPr sz="1300" b="0" i="0">
                <a:solidFill>
                  <a:srgbClr val="F7F6F2"/>
                </a:solidFill>
                <a:latin typeface="Inter"/>
              </a:rPr>
              <a:t>.</a:t>
            </a:r>
          </a:p>
        </p:txBody>
      </p:sp>
      <p:graphicFrame>
        <p:nvGraphicFramePr>
          <p:cNvPr id="33" name="Table 32"/>
          <p:cNvGraphicFramePr>
            <a:graphicFrameLocks noGrp="1"/>
          </p:cNvGraphicFramePr>
          <p:nvPr/>
        </p:nvGraphicFramePr>
        <p:xfrm>
          <a:off x="640080" y="2748076"/>
          <a:ext cx="10908792" cy="1389888"/>
        </p:xfrm>
        <a:graphic>
          <a:graphicData uri="http://schemas.openxmlformats.org/drawingml/2006/table">
            <a:tbl>
              <a:tblPr/>
              <a:tblGrid>
                <a:gridCol w="237744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2130552">
                  <a:extLst>
                    <a:ext uri="{9D8B030D-6E8A-4147-A177-3AD203B41FA5}">
                      <a16:colId xmlns:a16="http://schemas.microsoft.com/office/drawing/2014/main" val="20004"/>
                    </a:ext>
                  </a:extLst>
                </a:gridCol>
              </a:tblGrid>
              <a:tr h="347472">
                <a:tc>
                  <a:txBody>
                    <a:bodyPr/>
                    <a:lstStyle/>
                    <a:p>
                      <a:r>
                        <a:rPr sz="1050" b="1" i="0" spc="60">
                          <a:solidFill>
                            <a:srgbClr val="F5A623"/>
                          </a:solidFill>
                          <a:latin typeface="Inter"/>
                        </a:rPr>
                        <a:t>Règle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Couche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Testées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Échecs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Taux</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150" b="1" i="0">
                          <a:solidFill>
                            <a:srgbClr val="F7F6F2"/>
                          </a:solidFill>
                          <a:latin typeface="Inter"/>
                        </a:rPr>
                        <a:t>RQ-015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150" b="1" i="0">
                          <a:solidFill>
                            <a:srgbClr val="F7F6F2"/>
                          </a:solidFill>
                          <a:latin typeface="Inter"/>
                        </a:rPr>
                        <a:t>RQ-016</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47472">
                <a:tc>
                  <a:txBody>
                    <a:bodyPr/>
                    <a:lstStyle/>
                    <a:p>
                      <a:r>
                        <a:rPr sz="1150" b="1" i="0">
                          <a:solidFill>
                            <a:srgbClr val="F7F6F2"/>
                          </a:solidFill>
                          <a:latin typeface="Inter"/>
                        </a:rPr>
                        <a:t>RQ-017</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bl>
          </a:graphicData>
        </a:graphic>
      </p:graphicFrame>
      <p:graphicFrame>
        <p:nvGraphicFramePr>
          <p:cNvPr id="34" name="Table 33"/>
          <p:cNvGraphicFramePr>
            <a:graphicFrameLocks noGrp="1"/>
          </p:cNvGraphicFramePr>
          <p:nvPr/>
        </p:nvGraphicFramePr>
        <p:xfrm>
          <a:off x="640080" y="4275124"/>
          <a:ext cx="5669280" cy="1389888"/>
        </p:xfrm>
        <a:graphic>
          <a:graphicData uri="http://schemas.openxmlformats.org/drawingml/2006/table">
            <a:tbl>
              <a:tblPr/>
              <a:tblGrid>
                <a:gridCol w="27432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347472">
                <a:tc>
                  <a:txBody>
                    <a:bodyPr/>
                    <a:lstStyle/>
                    <a:p>
                      <a:r>
                        <a:rPr sz="1050" b="1" i="0" spc="60">
                          <a:solidFill>
                            <a:srgbClr val="F5A623"/>
                          </a:solidFill>
                          <a:latin typeface="Inter"/>
                        </a:rPr>
                        <a:t>Direction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Chiffre avec la requête unique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150" b="1" i="0">
                          <a:solidFill>
                            <a:srgbClr val="F7F6F2"/>
                          </a:solidFill>
                          <a:latin typeface="Inter"/>
                        </a:rPr>
                        <a:t>Commerciale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150" b="1" i="0">
                          <a:solidFill>
                            <a:srgbClr val="F7F6F2"/>
                          </a:solidFill>
                          <a:latin typeface="Inter"/>
                        </a:rPr>
                        <a:t>Sinistres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47472">
                <a:tc>
                  <a:txBody>
                    <a:bodyPr/>
                    <a:lstStyle/>
                    <a:p>
                      <a:r>
                        <a:rPr sz="1150" b="1" i="0">
                          <a:solidFill>
                            <a:srgbClr val="F7F6F2"/>
                          </a:solidFill>
                          <a:latin typeface="Inter"/>
                        </a:rPr>
                        <a:t>Risques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bl>
          </a:graphicData>
        </a:graphic>
      </p:graphicFrame>
      <p:sp>
        <p:nvSpPr>
          <p:cNvPr id="35" name="TextBox 34"/>
          <p:cNvSpPr txBox="1"/>
          <p:nvPr/>
        </p:nvSpPr>
        <p:spPr>
          <a:xfrm>
            <a:off x="6583680" y="4275124"/>
            <a:ext cx="496519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RÈGLE DE CORRECTION DU STATUT PROPOSÉE</a:t>
            </a:r>
          </a:p>
        </p:txBody>
      </p:sp>
      <p:sp>
        <p:nvSpPr>
          <p:cNvPr id="36" name="Zone à rédiger"/>
          <p:cNvSpPr/>
          <p:nvPr/>
        </p:nvSpPr>
        <p:spPr>
          <a:xfrm>
            <a:off x="6583680" y="4567732"/>
            <a:ext cx="4965192" cy="1558747"/>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[Texte, rôle destinataire, date]</a:t>
            </a:r>
          </a:p>
        </p:txBody>
      </p:sp>
      <p:sp>
        <p:nvSpPr>
          <p:cNvPr id="37" name="TextBox 36"/>
          <p:cNvSpPr txBox="1"/>
          <p:nvPr/>
        </p:nvSpPr>
        <p:spPr>
          <a:xfrm>
            <a:off x="640080" y="5738164"/>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Chemin de la requête du client actif et contrôle RQ-018 : à indiquer dans le dépôt.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Bilan de S3 : critères de fin et difficultés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24</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S3 · BILAN</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RÈGLES ET TESTS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Chaque critère coché est </a:t>
            </a:r>
            <a:r>
              <a:rPr sz="1300" b="1" i="0">
                <a:solidFill>
                  <a:srgbClr val="F5A623"/>
                </a:solidFill>
                <a:latin typeface="Inter"/>
              </a:rPr>
              <a:t>démontré</a:t>
            </a:r>
            <a:r>
              <a:rPr sz="1300" b="0" i="0">
                <a:solidFill>
                  <a:srgbClr val="F7F6F2"/>
                </a:solidFill>
                <a:latin typeface="Inter"/>
              </a:rPr>
              <a:t> par une page de ce livrable ou par un fichier du dépôt.</a:t>
            </a:r>
          </a:p>
          <a:p>
            <a:pPr marL="182880" indent="-182880">
              <a:lnSpc>
                <a:spcPct val="108000"/>
              </a:lnSpc>
              <a:spcAft>
                <a:spcPts val="300"/>
              </a:spcAft>
              <a:buClr>
                <a:srgbClr val="F5A623"/>
              </a:buClr>
              <a:buChar char="•"/>
            </a:pPr>
            <a:r>
              <a:rPr sz="1300" b="0" i="0">
                <a:solidFill>
                  <a:srgbClr val="F7F6F2"/>
                </a:solidFill>
                <a:latin typeface="Inter"/>
              </a:rPr>
              <a:t>Les difficultés sont </a:t>
            </a:r>
            <a:r>
              <a:rPr sz="1300" b="1" i="0">
                <a:solidFill>
                  <a:srgbClr val="F5A623"/>
                </a:solidFill>
                <a:latin typeface="Inter"/>
              </a:rPr>
              <a:t>chiffrées en temps perdu</a:t>
            </a:r>
            <a:r>
              <a:rPr sz="1300" b="0" i="0">
                <a:solidFill>
                  <a:srgbClr val="F7F6F2"/>
                </a:solidFill>
                <a:latin typeface="Inter"/>
              </a:rPr>
              <a:t> ; un point de reprise utilisé est </a:t>
            </a:r>
            <a:r>
              <a:rPr sz="1300" b="1" i="0">
                <a:solidFill>
                  <a:srgbClr val="F5A623"/>
                </a:solidFill>
                <a:latin typeface="Inter"/>
              </a:rPr>
              <a:t>déclaré</a:t>
            </a:r>
            <a:r>
              <a:rPr sz="1300" b="0" i="0">
                <a:solidFill>
                  <a:srgbClr val="F7F6F2"/>
                </a:solidFill>
                <a:latin typeface="Inter"/>
              </a:rPr>
              <a:t>.</a:t>
            </a:r>
          </a:p>
        </p:txBody>
      </p:sp>
      <p:sp>
        <p:nvSpPr>
          <p:cNvPr id="33" name="Rectangle 32"/>
          <p:cNvSpPr/>
          <p:nvPr/>
        </p:nvSpPr>
        <p:spPr>
          <a:xfrm>
            <a:off x="640080" y="2579827"/>
            <a:ext cx="5120640" cy="354665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Icône ok" descr="Icône ok"/>
          <p:cNvPicPr>
            <a:picLocks noChangeAspect="1"/>
          </p:cNvPicPr>
          <p:nvPr/>
        </p:nvPicPr>
        <p:blipFill>
          <a:blip r:embed="rId4"/>
          <a:stretch>
            <a:fillRect/>
          </a:stretch>
        </p:blipFill>
        <p:spPr>
          <a:xfrm>
            <a:off x="868680" y="2735275"/>
            <a:ext cx="310896" cy="310896"/>
          </a:xfrm>
          <a:prstGeom prst="rect">
            <a:avLst/>
          </a:prstGeom>
        </p:spPr>
      </p:pic>
      <p:sp>
        <p:nvSpPr>
          <p:cNvPr id="35" name="TextBox 34"/>
          <p:cNvSpPr txBox="1"/>
          <p:nvPr/>
        </p:nvSpPr>
        <p:spPr>
          <a:xfrm>
            <a:off x="1289304" y="2753563"/>
            <a:ext cx="4572000" cy="274320"/>
          </a:xfrm>
          <a:prstGeom prst="rect">
            <a:avLst/>
          </a:prstGeom>
          <a:noFill/>
        </p:spPr>
        <p:txBody>
          <a:bodyPr wrap="square" lIns="0" tIns="0" rIns="0" bIns="0" anchor="ctr">
            <a:spAutoFit/>
          </a:bodyPr>
          <a:lstStyle/>
          <a:p>
            <a:pPr>
              <a:lnSpc>
                <a:spcPct val="108000"/>
              </a:lnSpc>
              <a:spcAft>
                <a:spcPts val="400"/>
              </a:spcAft>
            </a:pPr>
            <a:r>
              <a:rPr sz="1300" b="1" i="0" spc="120">
                <a:solidFill>
                  <a:srgbClr val="F7F6F2"/>
                </a:solidFill>
                <a:latin typeface="Inter"/>
              </a:rPr>
              <a:t>CRITÈRES DE FIN</a:t>
            </a:r>
          </a:p>
        </p:txBody>
      </p:sp>
      <p:sp>
        <p:nvSpPr>
          <p:cNvPr id="36" name="TextBox 35"/>
          <p:cNvSpPr txBox="1"/>
          <p:nvPr/>
        </p:nvSpPr>
        <p:spPr>
          <a:xfrm>
            <a:off x="868680" y="3219907"/>
            <a:ext cx="4663440" cy="2815132"/>
          </a:xfrm>
          <a:prstGeom prst="rect">
            <a:avLst/>
          </a:prstGeom>
          <a:noFill/>
        </p:spPr>
        <p:txBody>
          <a:bodyPr wrap="square" lIns="0" tIns="0" rIns="0" bIns="0" anchor="t">
            <a:spAutoFit/>
          </a:bodyPr>
          <a:lstStyle/>
          <a:p>
            <a:pPr>
              <a:lnSpc>
                <a:spcPct val="108000"/>
              </a:lnSpc>
              <a:spcAft>
                <a:spcPts val="700"/>
              </a:spcAft>
            </a:pPr>
            <a:r>
              <a:rPr sz="1250" b="0" i="0">
                <a:solidFill>
                  <a:srgbClr val="F7F6F2"/>
                </a:solidFill>
                <a:latin typeface="Consolas"/>
              </a:rPr>
              <a:t>[ ]</a:t>
            </a:r>
            <a:r>
              <a:rPr sz="1250" b="0" i="0">
                <a:solidFill>
                  <a:srgbClr val="F7F6F2"/>
                </a:solidFill>
                <a:latin typeface="Inter"/>
              </a:rPr>
              <a:t> Un scan renvoie un code retour non nul quand une règle bloquante échoue.</a:t>
            </a:r>
          </a:p>
          <a:p>
            <a:pPr>
              <a:lnSpc>
                <a:spcPct val="108000"/>
              </a:lnSpc>
              <a:spcAft>
                <a:spcPts val="700"/>
              </a:spcAft>
            </a:pPr>
            <a:r>
              <a:rPr sz="1250" b="0" i="0">
                <a:solidFill>
                  <a:srgbClr val="F7F6F2"/>
                </a:solidFill>
                <a:latin typeface="Consolas"/>
              </a:rPr>
              <a:t>[ ]</a:t>
            </a:r>
            <a:r>
              <a:rPr sz="1250" b="0" i="0">
                <a:solidFill>
                  <a:srgbClr val="F7F6F2"/>
                </a:solidFill>
                <a:latin typeface="Inter"/>
              </a:rPr>
              <a:t> Chaque contrôle porte l'identifiant de sa règle et la couche mesurée.</a:t>
            </a:r>
          </a:p>
          <a:p>
            <a:pPr>
              <a:lnSpc>
                <a:spcPct val="108000"/>
              </a:lnSpc>
              <a:spcAft>
                <a:spcPts val="700"/>
              </a:spcAft>
            </a:pPr>
            <a:r>
              <a:rPr sz="1250" b="0" i="0">
                <a:solidFill>
                  <a:srgbClr val="F7F6F2"/>
                </a:solidFill>
                <a:latin typeface="Consolas"/>
              </a:rPr>
              <a:t>[ ]</a:t>
            </a:r>
            <a:r>
              <a:rPr sz="1250" b="0" i="0">
                <a:solidFill>
                  <a:srgbClr val="F7F6F2"/>
                </a:solidFill>
                <a:latin typeface="Inter"/>
              </a:rPr>
              <a:t> Les trois directions obtiennent le même chiffre avec la requête unique.</a:t>
            </a:r>
          </a:p>
          <a:p>
            <a:pPr>
              <a:lnSpc>
                <a:spcPct val="108000"/>
              </a:lnSpc>
              <a:spcAft>
                <a:spcPts val="700"/>
              </a:spcAft>
            </a:pPr>
            <a:r>
              <a:rPr sz="1250" b="0" i="0">
                <a:solidFill>
                  <a:srgbClr val="F7F6F2"/>
                </a:solidFill>
                <a:latin typeface="Consolas"/>
              </a:rPr>
              <a:t>[ ]</a:t>
            </a:r>
            <a:r>
              <a:rPr sz="1250" b="0" i="0">
                <a:solidFill>
                  <a:srgbClr val="F7F6F2"/>
                </a:solidFill>
                <a:latin typeface="Inter"/>
              </a:rPr>
              <a:t> La valeur sentinelle est expliquée et traitée.</a:t>
            </a:r>
          </a:p>
        </p:txBody>
      </p:sp>
      <p:sp>
        <p:nvSpPr>
          <p:cNvPr id="37" name="TextBox 36"/>
          <p:cNvSpPr txBox="1"/>
          <p:nvPr/>
        </p:nvSpPr>
        <p:spPr>
          <a:xfrm>
            <a:off x="640080" y="5852160"/>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Remplacez [ ] par [x] une fois le critère démontré.</a:t>
            </a:r>
          </a:p>
        </p:txBody>
      </p:sp>
      <p:sp>
        <p:nvSpPr>
          <p:cNvPr id="38" name="TextBox 37"/>
          <p:cNvSpPr txBox="1"/>
          <p:nvPr/>
        </p:nvSpPr>
        <p:spPr>
          <a:xfrm>
            <a:off x="5943600" y="257982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DIFFICULTÉS RENCONTRÉES ET TEMPS PERDU</a:t>
            </a:r>
          </a:p>
        </p:txBody>
      </p:sp>
      <p:sp>
        <p:nvSpPr>
          <p:cNvPr id="39" name="Zone à rédiger"/>
          <p:cNvSpPr/>
          <p:nvPr/>
        </p:nvSpPr>
        <p:spPr>
          <a:xfrm>
            <a:off x="5943600" y="2872435"/>
            <a:ext cx="5605272" cy="117043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
        <p:nvSpPr>
          <p:cNvPr id="40" name="TextBox 39"/>
          <p:cNvSpPr txBox="1"/>
          <p:nvPr/>
        </p:nvSpPr>
        <p:spPr>
          <a:xfrm>
            <a:off x="5943600" y="418002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POINT DE REPRISE UTILISÉ (OUI / NON, LEQUEL)</a:t>
            </a:r>
          </a:p>
        </p:txBody>
      </p:sp>
      <p:sp>
        <p:nvSpPr>
          <p:cNvPr id="41" name="Zone à rédiger"/>
          <p:cNvSpPr/>
          <p:nvPr/>
        </p:nvSpPr>
        <p:spPr>
          <a:xfrm>
            <a:off x="5943600" y="4472635"/>
            <a:ext cx="5605272" cy="62179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
        <p:nvSpPr>
          <p:cNvPr id="42" name="TextBox 41"/>
          <p:cNvSpPr txBox="1"/>
          <p:nvPr/>
        </p:nvSpPr>
        <p:spPr>
          <a:xfrm>
            <a:off x="5943600" y="523158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CE QUE NOUS FERIONS AUTREMENT</a:t>
            </a:r>
          </a:p>
        </p:txBody>
      </p:sp>
      <p:sp>
        <p:nvSpPr>
          <p:cNvPr id="43" name="Zone à rédiger"/>
          <p:cNvSpPr/>
          <p:nvPr/>
        </p:nvSpPr>
        <p:spPr>
          <a:xfrm>
            <a:off x="5943600" y="5524195"/>
            <a:ext cx="5605272" cy="602284"/>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2"/>
          </p:nvPr>
        </p:nvSpPr>
        <p:spPr/>
        <p:txBody>
          <a:bodyPr/>
          <a:lstStyle/>
          <a:p>
            <a:r>
              <a:t>04</a:t>
            </a:r>
          </a:p>
        </p:txBody>
      </p:sp>
      <p:sp>
        <p:nvSpPr>
          <p:cNvPr id="3" name="Title 2"/>
          <p:cNvSpPr>
            <a:spLocks noGrp="1"/>
          </p:cNvSpPr>
          <p:nvPr>
            <p:ph type="title" idx="103"/>
          </p:nvPr>
        </p:nvSpPr>
        <p:spPr/>
        <p:txBody>
          <a:bodyPr/>
          <a:lstStyle/>
          <a:p>
            <a:r>
              <a:t>Construire silver puis gold</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25</a:t>
            </a:fld>
            <a:endParaRPr lang="en-US"/>
          </a:p>
        </p:txBody>
      </p:sp>
      <p:sp>
        <p:nvSpPr>
          <p:cNvPr id="26" name="TextBox 25"/>
          <p:cNvSpPr txBox="1"/>
          <p:nvPr/>
        </p:nvSpPr>
        <p:spPr>
          <a:xfrm>
            <a:off x="640080" y="4892040"/>
            <a:ext cx="6400800" cy="1097280"/>
          </a:xfrm>
          <a:prstGeom prst="rect">
            <a:avLst/>
          </a:prstGeom>
          <a:noFill/>
        </p:spPr>
        <p:txBody>
          <a:bodyPr wrap="square" lIns="0" tIns="0" rIns="0" bIns="0" anchor="t">
            <a:spAutoFit/>
          </a:bodyPr>
          <a:lstStyle/>
          <a:p>
            <a:pPr>
              <a:lnSpc>
                <a:spcPct val="115000"/>
              </a:lnSpc>
              <a:spcAft>
                <a:spcPts val="400"/>
              </a:spcAft>
            </a:pPr>
            <a:r>
              <a:rPr sz="1600" b="0" i="0">
                <a:solidFill>
                  <a:srgbClr val="B8C0C8"/>
                </a:solidFill>
                <a:latin typeface="Inter"/>
              </a:rPr>
              <a:t>Séance 4 · PySpark · US-21 à 28. Standardiser, mettre en quarantaine, re-mesurer, dédoublonner, construire gold, retracer.</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Silver : traitements et quarantaine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26</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S4 · US-21, 22</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SILVER, GOLD ET TRAÇABILITÉ · 25 %</a:t>
            </a:r>
          </a:p>
        </p:txBody>
      </p:sp>
      <p:sp>
        <p:nvSpPr>
          <p:cNvPr id="28"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Pour chaque traitement : les </a:t>
            </a:r>
            <a:r>
              <a:rPr sz="1300" b="1" i="0">
                <a:solidFill>
                  <a:srgbClr val="F5A623"/>
                </a:solidFill>
                <a:latin typeface="Inter"/>
              </a:rPr>
              <a:t>lignes modifiées</a:t>
            </a:r>
            <a:r>
              <a:rPr sz="1300" b="0" i="0">
                <a:solidFill>
                  <a:srgbClr val="F7F6F2"/>
                </a:solidFill>
                <a:latin typeface="Inter"/>
              </a:rPr>
              <a:t> et le </a:t>
            </a:r>
            <a:r>
              <a:rPr sz="1300" b="1" i="0">
                <a:solidFill>
                  <a:srgbClr val="F5A623"/>
                </a:solidFill>
                <a:latin typeface="Inter"/>
              </a:rPr>
              <a:t>garde-fou</a:t>
            </a:r>
            <a:r>
              <a:rPr sz="1300" b="0" i="0">
                <a:solidFill>
                  <a:srgbClr val="F7F6F2"/>
                </a:solidFill>
                <a:latin typeface="Inter"/>
              </a:rPr>
              <a:t> (ce qu'il ne doit pas faire).</a:t>
            </a:r>
          </a:p>
          <a:p>
            <a:pPr marL="182880" indent="-182880">
              <a:lnSpc>
                <a:spcPct val="108000"/>
              </a:lnSpc>
              <a:spcAft>
                <a:spcPts val="300"/>
              </a:spcAft>
              <a:buClr>
                <a:srgbClr val="F5A623"/>
              </a:buClr>
              <a:buChar char="•"/>
            </a:pPr>
            <a:r>
              <a:rPr sz="1300" b="0" i="0">
                <a:solidFill>
                  <a:srgbClr val="F7F6F2"/>
                </a:solidFill>
                <a:latin typeface="Inter"/>
              </a:rPr>
              <a:t>L'invariant </a:t>
            </a:r>
            <a:r>
              <a:rPr sz="1300" b="1" i="0">
                <a:solidFill>
                  <a:srgbClr val="F5A623"/>
                </a:solidFill>
                <a:latin typeface="Inter"/>
              </a:rPr>
              <a:t>silver + rejets = bronze</a:t>
            </a:r>
            <a:r>
              <a:rPr sz="1300" b="0" i="0">
                <a:solidFill>
                  <a:srgbClr val="F7F6F2"/>
                </a:solidFill>
                <a:latin typeface="Inter"/>
              </a:rPr>
              <a:t>, </a:t>
            </a:r>
            <a:r>
              <a:rPr sz="1300" b="1" i="0">
                <a:solidFill>
                  <a:srgbClr val="F5A623"/>
                </a:solidFill>
                <a:latin typeface="Inter"/>
              </a:rPr>
              <a:t>table par table</a:t>
            </a:r>
            <a:r>
              <a:rPr sz="1300" b="0" i="0">
                <a:solidFill>
                  <a:srgbClr val="F7F6F2"/>
                </a:solidFill>
                <a:latin typeface="Inter"/>
              </a:rPr>
              <a:t>, avec l'écart.</a:t>
            </a:r>
          </a:p>
          <a:p>
            <a:pPr marL="182880" indent="-182880">
              <a:lnSpc>
                <a:spcPct val="108000"/>
              </a:lnSpc>
              <a:spcAft>
                <a:spcPts val="300"/>
              </a:spcAft>
              <a:buClr>
                <a:srgbClr val="F5A623"/>
              </a:buClr>
              <a:buChar char="•"/>
            </a:pPr>
            <a:r>
              <a:rPr sz="1300" b="0" i="0">
                <a:solidFill>
                  <a:srgbClr val="F7F6F2"/>
                </a:solidFill>
                <a:latin typeface="Inter"/>
              </a:rPr>
              <a:t>Une </a:t>
            </a:r>
            <a:r>
              <a:rPr sz="1300" b="1" i="0">
                <a:solidFill>
                  <a:srgbClr val="F5A623"/>
                </a:solidFill>
                <a:latin typeface="Inter"/>
              </a:rPr>
              <a:t>preuve d'idempotence</a:t>
            </a:r>
            <a:r>
              <a:rPr sz="1300" b="0" i="0">
                <a:solidFill>
                  <a:srgbClr val="F7F6F2"/>
                </a:solidFill>
                <a:latin typeface="Inter"/>
              </a:rPr>
              <a:t> : le traitement relancé deux fois donne le même résultat.</a:t>
            </a:r>
          </a:p>
        </p:txBody>
      </p:sp>
      <p:graphicFrame>
        <p:nvGraphicFramePr>
          <p:cNvPr id="33" name="Table 32"/>
          <p:cNvGraphicFramePr>
            <a:graphicFrameLocks noGrp="1"/>
          </p:cNvGraphicFramePr>
          <p:nvPr/>
        </p:nvGraphicFramePr>
        <p:xfrm>
          <a:off x="640080" y="2786176"/>
          <a:ext cx="10908792" cy="1389888"/>
        </p:xfrm>
        <a:graphic>
          <a:graphicData uri="http://schemas.openxmlformats.org/drawingml/2006/table">
            <a:tbl>
              <a:tblPr/>
              <a:tblGrid>
                <a:gridCol w="292608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4325112">
                  <a:extLst>
                    <a:ext uri="{9D8B030D-6E8A-4147-A177-3AD203B41FA5}">
                      <a16:colId xmlns:a16="http://schemas.microsoft.com/office/drawing/2014/main" val="20003"/>
                    </a:ext>
                  </a:extLst>
                </a:gridCol>
              </a:tblGrid>
              <a:tr h="347472">
                <a:tc>
                  <a:txBody>
                    <a:bodyPr/>
                    <a:lstStyle/>
                    <a:p>
                      <a:r>
                        <a:rPr sz="1050" b="1" i="0" spc="60">
                          <a:solidFill>
                            <a:srgbClr val="F5A623"/>
                          </a:solidFill>
                          <a:latin typeface="Inter"/>
                        </a:rPr>
                        <a:t>Traitement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Table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 modifiées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Garde-fou</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bl>
          </a:graphicData>
        </a:graphic>
      </p:graphicFrame>
      <p:graphicFrame>
        <p:nvGraphicFramePr>
          <p:cNvPr id="34" name="Table 33"/>
          <p:cNvGraphicFramePr>
            <a:graphicFrameLocks noGrp="1"/>
          </p:cNvGraphicFramePr>
          <p:nvPr/>
        </p:nvGraphicFramePr>
        <p:xfrm>
          <a:off x="640080" y="4313224"/>
          <a:ext cx="10908792" cy="1737360"/>
        </p:xfrm>
        <a:graphic>
          <a:graphicData uri="http://schemas.openxmlformats.org/drawingml/2006/table">
            <a:tbl>
              <a:tblPr/>
              <a:tblGrid>
                <a:gridCol w="29260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1947672">
                  <a:extLst>
                    <a:ext uri="{9D8B030D-6E8A-4147-A177-3AD203B41FA5}">
                      <a16:colId xmlns:a16="http://schemas.microsoft.com/office/drawing/2014/main" val="20004"/>
                    </a:ext>
                  </a:extLst>
                </a:gridCol>
              </a:tblGrid>
              <a:tr h="347472">
                <a:tc>
                  <a:txBody>
                    <a:bodyPr/>
                    <a:lstStyle/>
                    <a:p>
                      <a:r>
                        <a:rPr sz="1050" b="1" i="0" spc="60">
                          <a:solidFill>
                            <a:srgbClr val="F5A623"/>
                          </a:solidFill>
                          <a:latin typeface="Inter"/>
                        </a:rPr>
                        <a:t>Table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 bronze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 silver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 rejetées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Écart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150" b="1" i="0">
                          <a:solidFill>
                            <a:srgbClr val="F7F6F2"/>
                          </a:solidFill>
                          <a:latin typeface="Inter"/>
                        </a:rPr>
                        <a:t>client (crm)</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150" b="1" i="0">
                          <a:solidFill>
                            <a:srgbClr val="F7F6F2"/>
                          </a:solidFill>
                          <a:latin typeface="Inter"/>
                        </a:rPr>
                        <a:t>client (cif)</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47472">
                <a:tc>
                  <a:txBody>
                    <a:bodyPr/>
                    <a:lstStyle/>
                    <a:p>
                      <a:r>
                        <a:rPr sz="1150" b="1" i="0">
                          <a:solidFill>
                            <a:srgbClr val="F7F6F2"/>
                          </a:solidFill>
                          <a:latin typeface="Inter"/>
                        </a:rPr>
                        <a:t>contrat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47472">
                <a:tc>
                  <a:txBody>
                    <a:bodyPr/>
                    <a:lstStyle/>
                    <a:p>
                      <a:r>
                        <a:rPr sz="1150" b="1" i="0">
                          <a:solidFill>
                            <a:srgbClr val="F7F6F2"/>
                          </a:solidFill>
                          <a:latin typeface="Inter"/>
                        </a:rPr>
                        <a:t>sinistre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sp>
        <p:nvSpPr>
          <p:cNvPr id="35" name="TextBox 34"/>
          <p:cNvSpPr txBox="1"/>
          <p:nvPr/>
        </p:nvSpPr>
        <p:spPr>
          <a:xfrm>
            <a:off x="640080" y="6123736"/>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Preuve d'idempotence et chemins des scripts : à indiquer dans le dépôt.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Rejets par règle et porte S : bronze contre silver</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27</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S4 · US-22, 23</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SILVER, GOLD ET TRAÇABILITÉ · 25 %</a:t>
            </a:r>
          </a:p>
        </p:txBody>
      </p:sp>
      <p:sp>
        <p:nvSpPr>
          <p:cNvPr id="28"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rejets par règle</a:t>
            </a:r>
            <a:r>
              <a:rPr sz="1300" b="0" i="0">
                <a:solidFill>
                  <a:srgbClr val="F7F6F2"/>
                </a:solidFill>
                <a:latin typeface="Inter"/>
              </a:rPr>
              <a:t> (dq.rejets) avec la raison métier.</a:t>
            </a:r>
          </a:p>
          <a:p>
            <a:pPr marL="182880" indent="-182880">
              <a:lnSpc>
                <a:spcPct val="108000"/>
              </a:lnSpc>
              <a:spcAft>
                <a:spcPts val="300"/>
              </a:spcAft>
              <a:buClr>
                <a:srgbClr val="F5A623"/>
              </a:buClr>
              <a:buChar char="•"/>
            </a:pPr>
            <a:r>
              <a:rPr sz="1300" b="0" i="0">
                <a:solidFill>
                  <a:srgbClr val="F7F6F2"/>
                </a:solidFill>
                <a:latin typeface="Inter"/>
              </a:rPr>
              <a:t>Pour chaque règle : taux </a:t>
            </a:r>
            <a:r>
              <a:rPr sz="1300" b="1" i="0">
                <a:solidFill>
                  <a:srgbClr val="F5A623"/>
                </a:solidFill>
                <a:latin typeface="Inter"/>
              </a:rPr>
              <a:t>bronze</a:t>
            </a:r>
            <a:r>
              <a:rPr sz="1300" b="0" i="0">
                <a:solidFill>
                  <a:srgbClr val="F7F6F2"/>
                </a:solidFill>
                <a:latin typeface="Inter"/>
              </a:rPr>
              <a:t>, taux </a:t>
            </a:r>
            <a:r>
              <a:rPr sz="1300" b="1" i="0">
                <a:solidFill>
                  <a:srgbClr val="F5A623"/>
                </a:solidFill>
                <a:latin typeface="Inter"/>
              </a:rPr>
              <a:t>silver</a:t>
            </a:r>
            <a:r>
              <a:rPr sz="1300" b="0" i="0">
                <a:solidFill>
                  <a:srgbClr val="F7F6F2"/>
                </a:solidFill>
                <a:latin typeface="Inter"/>
              </a:rPr>
              <a:t>, écart, et l'</a:t>
            </a:r>
            <a:r>
              <a:rPr sz="1300" b="1" i="0">
                <a:solidFill>
                  <a:srgbClr val="F5A623"/>
                </a:solidFill>
                <a:latin typeface="Inter"/>
              </a:rPr>
              <a:t>explication</a:t>
            </a:r>
            <a:r>
              <a:rPr sz="1300" b="0" i="0">
                <a:solidFill>
                  <a:srgbClr val="F7F6F2"/>
                </a:solidFill>
                <a:latin typeface="Inter"/>
              </a:rPr>
              <a:t> de toute baisse.</a:t>
            </a:r>
          </a:p>
          <a:p>
            <a:pPr marL="182880" indent="-182880">
              <a:lnSpc>
                <a:spcPct val="108000"/>
              </a:lnSpc>
              <a:spcAft>
                <a:spcPts val="300"/>
              </a:spcAft>
              <a:buClr>
                <a:srgbClr val="F5A623"/>
              </a:buClr>
              <a:buChar char="•"/>
            </a:pPr>
            <a:r>
              <a:rPr sz="1300" b="0" i="0">
                <a:solidFill>
                  <a:srgbClr val="F7F6F2"/>
                </a:solidFill>
                <a:latin typeface="Inter"/>
              </a:rPr>
              <a:t>Les règles </a:t>
            </a:r>
            <a:r>
              <a:rPr sz="1300" b="1" i="0">
                <a:solidFill>
                  <a:srgbClr val="F5A623"/>
                </a:solidFill>
                <a:latin typeface="Inter"/>
              </a:rPr>
              <a:t>bloquantes</a:t>
            </a:r>
            <a:r>
              <a:rPr sz="1300" b="0" i="0">
                <a:solidFill>
                  <a:srgbClr val="F7F6F2"/>
                </a:solidFill>
                <a:latin typeface="Inter"/>
              </a:rPr>
              <a:t> de la porte S : conformes sur silver, ou </a:t>
            </a:r>
            <a:r>
              <a:rPr sz="1300" b="1" i="0">
                <a:solidFill>
                  <a:srgbClr val="F5A623"/>
                </a:solidFill>
                <a:latin typeface="Inter"/>
              </a:rPr>
              <a:t>pourquoi pas</a:t>
            </a:r>
            <a:r>
              <a:rPr sz="1300" b="0" i="0">
                <a:solidFill>
                  <a:srgbClr val="F7F6F2"/>
                </a:solidFill>
                <a:latin typeface="Inter"/>
              </a:rPr>
              <a:t>.</a:t>
            </a:r>
          </a:p>
        </p:txBody>
      </p:sp>
      <p:graphicFrame>
        <p:nvGraphicFramePr>
          <p:cNvPr id="33" name="Table 32"/>
          <p:cNvGraphicFramePr>
            <a:graphicFrameLocks noGrp="1"/>
          </p:cNvGraphicFramePr>
          <p:nvPr/>
        </p:nvGraphicFramePr>
        <p:xfrm>
          <a:off x="640080" y="2786176"/>
          <a:ext cx="10908792" cy="987552"/>
        </p:xfrm>
        <a:graphic>
          <a:graphicData uri="http://schemas.openxmlformats.org/drawingml/2006/table">
            <a:tbl>
              <a:tblPr/>
              <a:tblGrid>
                <a:gridCol w="11887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5879592">
                  <a:extLst>
                    <a:ext uri="{9D8B030D-6E8A-4147-A177-3AD203B41FA5}">
                      <a16:colId xmlns:a16="http://schemas.microsoft.com/office/drawing/2014/main" val="20003"/>
                    </a:ext>
                  </a:extLst>
                </a:gridCol>
              </a:tblGrid>
              <a:tr h="329184">
                <a:tc>
                  <a:txBody>
                    <a:bodyPr/>
                    <a:lstStyle/>
                    <a:p>
                      <a:r>
                        <a:rPr sz="1050" b="1" i="0" spc="60">
                          <a:solidFill>
                            <a:srgbClr val="F5A623"/>
                          </a:solidFill>
                          <a:latin typeface="Inter"/>
                        </a:rPr>
                        <a:t>Règle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Table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 rejetées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Raison métier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29184">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29184">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bl>
          </a:graphicData>
        </a:graphic>
      </p:graphicFrame>
      <p:graphicFrame>
        <p:nvGraphicFramePr>
          <p:cNvPr id="34" name="Table 33"/>
          <p:cNvGraphicFramePr>
            <a:graphicFrameLocks noGrp="1"/>
          </p:cNvGraphicFramePr>
          <p:nvPr/>
        </p:nvGraphicFramePr>
        <p:xfrm>
          <a:off x="640080" y="3910888"/>
          <a:ext cx="10908792" cy="1975104"/>
        </p:xfrm>
        <a:graphic>
          <a:graphicData uri="http://schemas.openxmlformats.org/drawingml/2006/table">
            <a:tbl>
              <a:tblPr/>
              <a:tblGrid>
                <a:gridCol w="109728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4325112">
                  <a:extLst>
                    <a:ext uri="{9D8B030D-6E8A-4147-A177-3AD203B41FA5}">
                      <a16:colId xmlns:a16="http://schemas.microsoft.com/office/drawing/2014/main" val="20005"/>
                    </a:ext>
                  </a:extLst>
                </a:gridCol>
              </a:tblGrid>
              <a:tr h="329184">
                <a:tc>
                  <a:txBody>
                    <a:bodyPr/>
                    <a:lstStyle/>
                    <a:p>
                      <a:r>
                        <a:rPr sz="1050" b="1" i="0" spc="60">
                          <a:solidFill>
                            <a:srgbClr val="F5A623"/>
                          </a:solidFill>
                          <a:latin typeface="Inter"/>
                        </a:rPr>
                        <a:t>Règle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Sévérité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Taux bronze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Taux silver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Écart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Explication de l'écart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29184">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29184">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29184">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29184">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29184">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Dédoublonnage : paramètres et mesures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28</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S4 · US-24</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SILVER, GOLD ET TRAÇABILITÉ · 25 %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paramètres</a:t>
            </a:r>
            <a:r>
              <a:rPr sz="1300" b="0" i="0">
                <a:solidFill>
                  <a:srgbClr val="F7F6F2"/>
                </a:solidFill>
                <a:latin typeface="Inter"/>
              </a:rPr>
              <a:t> retenus (normalisation, clés de blocage, similarité, seuils) avec leur </a:t>
            </a:r>
            <a:r>
              <a:rPr sz="1300" b="1" i="0">
                <a:solidFill>
                  <a:srgbClr val="F5A623"/>
                </a:solidFill>
                <a:latin typeface="Inter"/>
              </a:rPr>
              <a:t>justification</a:t>
            </a:r>
            <a:r>
              <a:rPr sz="1300" b="0" i="0">
                <a:solidFill>
                  <a:srgbClr val="F7F6F2"/>
                </a:solidFill>
                <a:latin typeface="Inter"/>
              </a:rPr>
              <a:t>.</a:t>
            </a:r>
          </a:p>
          <a:p>
            <a:pPr marL="182880" indent="-182880">
              <a:lnSpc>
                <a:spcPct val="108000"/>
              </a:lnSpc>
              <a:spcAft>
                <a:spcPts val="300"/>
              </a:spcAft>
              <a:buClr>
                <a:srgbClr val="F5A623"/>
              </a:buClr>
              <a:buChar char="•"/>
            </a:pPr>
            <a:r>
              <a:rPr sz="1300" b="1" i="0">
                <a:solidFill>
                  <a:srgbClr val="F5A623"/>
                </a:solidFill>
                <a:latin typeface="Inter"/>
              </a:rPr>
              <a:t>Précision</a:t>
            </a:r>
            <a:r>
              <a:rPr sz="1300" b="0" i="0">
                <a:solidFill>
                  <a:srgbClr val="F7F6F2"/>
                </a:solidFill>
                <a:latin typeface="Inter"/>
              </a:rPr>
              <a:t> et </a:t>
            </a:r>
            <a:r>
              <a:rPr sz="1300" b="1" i="0">
                <a:solidFill>
                  <a:srgbClr val="F5A623"/>
                </a:solidFill>
                <a:latin typeface="Inter"/>
              </a:rPr>
              <a:t>rappel</a:t>
            </a:r>
            <a:r>
              <a:rPr sz="1300" b="0" i="0">
                <a:solidFill>
                  <a:srgbClr val="F7F6F2"/>
                </a:solidFill>
                <a:latin typeface="Inter"/>
              </a:rPr>
              <a:t> mesurés sur les 200 paires étiquetées ; nombre d'</a:t>
            </a:r>
            <a:r>
              <a:rPr sz="1300" b="1" i="0">
                <a:solidFill>
                  <a:srgbClr val="F5A623"/>
                </a:solidFill>
                <a:latin typeface="Inter"/>
              </a:rPr>
              <a:t>identités distinctes</a:t>
            </a:r>
            <a:r>
              <a:rPr sz="1300" b="0" i="0">
                <a:solidFill>
                  <a:srgbClr val="F7F6F2"/>
                </a:solidFill>
                <a:latin typeface="Inter"/>
              </a:rPr>
              <a:t> obtenu.</a:t>
            </a:r>
          </a:p>
        </p:txBody>
      </p:sp>
      <p:graphicFrame>
        <p:nvGraphicFramePr>
          <p:cNvPr id="33" name="Table 32"/>
          <p:cNvGraphicFramePr>
            <a:graphicFrameLocks noGrp="1"/>
          </p:cNvGraphicFramePr>
          <p:nvPr/>
        </p:nvGraphicFramePr>
        <p:xfrm>
          <a:off x="640080" y="2534107"/>
          <a:ext cx="10908792" cy="1755648"/>
        </p:xfrm>
        <a:graphic>
          <a:graphicData uri="http://schemas.openxmlformats.org/drawingml/2006/table">
            <a:tbl>
              <a:tblPr/>
              <a:tblGrid>
                <a:gridCol w="329184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4690872">
                  <a:extLst>
                    <a:ext uri="{9D8B030D-6E8A-4147-A177-3AD203B41FA5}">
                      <a16:colId xmlns:a16="http://schemas.microsoft.com/office/drawing/2014/main" val="20002"/>
                    </a:ext>
                  </a:extLst>
                </a:gridCol>
              </a:tblGrid>
              <a:tr h="292608">
                <a:tc>
                  <a:txBody>
                    <a:bodyPr/>
                    <a:lstStyle/>
                    <a:p>
                      <a:r>
                        <a:rPr sz="1000" b="1" i="0" spc="60">
                          <a:solidFill>
                            <a:srgbClr val="F5A623"/>
                          </a:solidFill>
                          <a:latin typeface="Inter"/>
                        </a:rPr>
                        <a:t>Paramètre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Valeur retenue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Justification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292608">
                <a:tc>
                  <a:txBody>
                    <a:bodyPr/>
                    <a:lstStyle/>
                    <a:p>
                      <a:r>
                        <a:rPr sz="1100" b="1" i="0">
                          <a:solidFill>
                            <a:srgbClr val="F7F6F2"/>
                          </a:solidFill>
                          <a:latin typeface="Inter"/>
                        </a:rPr>
                        <a:t>Normalisation avant comparaison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292608">
                <a:tc>
                  <a:txBody>
                    <a:bodyPr/>
                    <a:lstStyle/>
                    <a:p>
                      <a:r>
                        <a:rPr sz="1100" b="1" i="0">
                          <a:solidFill>
                            <a:srgbClr val="F7F6F2"/>
                          </a:solidFill>
                          <a:latin typeface="Inter"/>
                        </a:rPr>
                        <a:t>Clé(s) de blocage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292608">
                <a:tc>
                  <a:txBody>
                    <a:bodyPr/>
                    <a:lstStyle/>
                    <a:p>
                      <a:r>
                        <a:rPr sz="1100" b="1" i="0">
                          <a:solidFill>
                            <a:srgbClr val="F7F6F2"/>
                          </a:solidFill>
                          <a:latin typeface="Inter"/>
                        </a:rPr>
                        <a:t>Mesure de similarité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292608">
                <a:tc>
                  <a:txBody>
                    <a:bodyPr/>
                    <a:lstStyle/>
                    <a:p>
                      <a:r>
                        <a:rPr sz="1100" b="1" i="0">
                          <a:solidFill>
                            <a:srgbClr val="F7F6F2"/>
                          </a:solidFill>
                          <a:latin typeface="Inter"/>
                        </a:rPr>
                        <a:t>Seuil de fusion automatique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292608">
                <a:tc>
                  <a:txBody>
                    <a:bodyPr/>
                    <a:lstStyle/>
                    <a:p>
                      <a:r>
                        <a:rPr sz="1100" b="1" i="0">
                          <a:solidFill>
                            <a:srgbClr val="F7F6F2"/>
                          </a:solidFill>
                          <a:latin typeface="Inter"/>
                        </a:rPr>
                        <a:t>Seuil de la zone de revue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bl>
          </a:graphicData>
        </a:graphic>
      </p:graphicFrame>
      <p:graphicFrame>
        <p:nvGraphicFramePr>
          <p:cNvPr id="34" name="Table 33"/>
          <p:cNvGraphicFramePr>
            <a:graphicFrameLocks noGrp="1"/>
          </p:cNvGraphicFramePr>
          <p:nvPr/>
        </p:nvGraphicFramePr>
        <p:xfrm>
          <a:off x="640080" y="4399483"/>
          <a:ext cx="8229600" cy="1700784"/>
        </p:xfrm>
        <a:graphic>
          <a:graphicData uri="http://schemas.openxmlformats.org/drawingml/2006/table">
            <a:tbl>
              <a:tblPr/>
              <a:tblGrid>
                <a:gridCol w="54864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tblGrid>
              <a:tr h="283464">
                <a:tc>
                  <a:txBody>
                    <a:bodyPr/>
                    <a:lstStyle/>
                    <a:p>
                      <a:r>
                        <a:rPr sz="1000" b="1" i="0" spc="60">
                          <a:solidFill>
                            <a:srgbClr val="F5A623"/>
                          </a:solidFill>
                          <a:latin typeface="Inter"/>
                        </a:rPr>
                        <a:t>Mesure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Valeur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283464">
                <a:tc>
                  <a:txBody>
                    <a:bodyPr/>
                    <a:lstStyle/>
                    <a:p>
                      <a:r>
                        <a:rPr sz="1100" b="1" i="0">
                          <a:solidFill>
                            <a:srgbClr val="F7F6F2"/>
                          </a:solidFill>
                          <a:latin typeface="Inter"/>
                        </a:rPr>
                        <a:t>Groupes de doublons trouvés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283464">
                <a:tc>
                  <a:txBody>
                    <a:bodyPr/>
                    <a:lstStyle/>
                    <a:p>
                      <a:r>
                        <a:rPr sz="1100" b="1" i="0">
                          <a:solidFill>
                            <a:srgbClr val="F7F6F2"/>
                          </a:solidFill>
                          <a:latin typeface="Inter"/>
                        </a:rPr>
                        <a:t>Paires fusionnées automatiquement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283464">
                <a:tc>
                  <a:txBody>
                    <a:bodyPr/>
                    <a:lstStyle/>
                    <a:p>
                      <a:r>
                        <a:rPr sz="1100" b="1" i="0">
                          <a:solidFill>
                            <a:srgbClr val="F7F6F2"/>
                          </a:solidFill>
                          <a:latin typeface="Inter"/>
                        </a:rPr>
                        <a:t>Paires en zone de revue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283464">
                <a:tc>
                  <a:txBody>
                    <a:bodyPr/>
                    <a:lstStyle/>
                    <a:p>
                      <a:r>
                        <a:rPr sz="1100" b="1" i="0">
                          <a:solidFill>
                            <a:srgbClr val="F7F6F2"/>
                          </a:solidFill>
                          <a:latin typeface="Inter"/>
                        </a:rPr>
                        <a:t>Précision / rappel sur les 200 paires étiquetées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283464">
                <a:tc>
                  <a:txBody>
                    <a:bodyPr/>
                    <a:lstStyle/>
                    <a:p>
                      <a:r>
                        <a:rPr sz="1100" b="1" i="0">
                          <a:solidFill>
                            <a:srgbClr val="F7F6F2"/>
                          </a:solidFill>
                          <a:latin typeface="Inter"/>
                        </a:rPr>
                        <a:t>Identités distinctes obtenues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bl>
          </a:graphicData>
        </a:graphic>
      </p:graphicFrame>
      <p:sp>
        <p:nvSpPr>
          <p:cNvPr id="35" name="TextBox 34"/>
          <p:cNvSpPr txBox="1"/>
          <p:nvPr/>
        </p:nvSpPr>
        <p:spPr>
          <a:xfrm>
            <a:off x="9052560" y="4399483"/>
            <a:ext cx="249631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ZONE DE REVUE</a:t>
            </a:r>
          </a:p>
        </p:txBody>
      </p:sp>
      <p:sp>
        <p:nvSpPr>
          <p:cNvPr id="36" name="Zone à rédiger"/>
          <p:cNvSpPr/>
          <p:nvPr/>
        </p:nvSpPr>
        <p:spPr>
          <a:xfrm>
            <a:off x="9052560" y="4692091"/>
            <a:ext cx="2496312" cy="1434388"/>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[Règle de décision proposée]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Golden record de la Société Meunier et règle de survie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29</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S4 · US-25</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SILVER, GOLD ET TRAÇABILITÉ · 25 %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1" i="0">
                <a:solidFill>
                  <a:srgbClr val="F5A623"/>
                </a:solidFill>
                <a:latin typeface="Inter"/>
              </a:rPr>
              <a:t>Un seul CLI</a:t>
            </a:r>
            <a:r>
              <a:rPr sz="1300" b="0" i="0">
                <a:solidFill>
                  <a:srgbClr val="F7F6F2"/>
                </a:solidFill>
                <a:latin typeface="Inter"/>
              </a:rPr>
              <a:t> pour les quatre identifiants de la Société Meunier.</a:t>
            </a:r>
          </a:p>
          <a:p>
            <a:pPr marL="182880" indent="-182880">
              <a:lnSpc>
                <a:spcPct val="108000"/>
              </a:lnSpc>
              <a:spcAft>
                <a:spcPts val="300"/>
              </a:spcAft>
              <a:buClr>
                <a:srgbClr val="F5A623"/>
              </a:buClr>
              <a:buChar char="•"/>
            </a:pPr>
            <a:r>
              <a:rPr sz="1300" b="0" i="0">
                <a:solidFill>
                  <a:srgbClr val="F7F6F2"/>
                </a:solidFill>
                <a:latin typeface="Inter"/>
              </a:rPr>
              <a:t>Une </a:t>
            </a:r>
            <a:r>
              <a:rPr sz="1300" b="1" i="0">
                <a:solidFill>
                  <a:srgbClr val="F5A623"/>
                </a:solidFill>
                <a:latin typeface="Inter"/>
              </a:rPr>
              <a:t>règle de survie par attribut</a:t>
            </a:r>
            <a:r>
              <a:rPr sz="1300" b="0" i="0">
                <a:solidFill>
                  <a:srgbClr val="F7F6F2"/>
                </a:solidFill>
                <a:latin typeface="Inter"/>
              </a:rPr>
              <a:t>, et un cas où elle se </a:t>
            </a:r>
            <a:r>
              <a:rPr sz="1300" b="1" i="0">
                <a:solidFill>
                  <a:srgbClr val="F5A623"/>
                </a:solidFill>
                <a:latin typeface="Inter"/>
              </a:rPr>
              <a:t>trompe</a:t>
            </a:r>
            <a:r>
              <a:rPr sz="1300" b="0" i="0">
                <a:solidFill>
                  <a:srgbClr val="F7F6F2"/>
                </a:solidFill>
                <a:latin typeface="Inter"/>
              </a:rPr>
              <a:t>.</a:t>
            </a:r>
          </a:p>
        </p:txBody>
      </p:sp>
      <p:graphicFrame>
        <p:nvGraphicFramePr>
          <p:cNvPr id="33" name="Table 32"/>
          <p:cNvGraphicFramePr>
            <a:graphicFrameLocks noGrp="1"/>
          </p:cNvGraphicFramePr>
          <p:nvPr/>
        </p:nvGraphicFramePr>
        <p:xfrm>
          <a:off x="640080" y="2534107"/>
          <a:ext cx="6949440" cy="1508760"/>
        </p:xfrm>
        <a:graphic>
          <a:graphicData uri="http://schemas.openxmlformats.org/drawingml/2006/table">
            <a:tbl>
              <a:tblPr/>
              <a:tblGrid>
                <a:gridCol w="292608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01752">
                <a:tc>
                  <a:txBody>
                    <a:bodyPr/>
                    <a:lstStyle/>
                    <a:p>
                      <a:r>
                        <a:rPr sz="1000" b="1" i="0" spc="60">
                          <a:solidFill>
                            <a:srgbClr val="F5A623"/>
                          </a:solidFill>
                          <a:latin typeface="Inter"/>
                        </a:rPr>
                        <a:t>Identifiant source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Système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CLI attribué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01752">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01752">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01752">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01752">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graphicFrame>
        <p:nvGraphicFramePr>
          <p:cNvPr id="34" name="Table 33"/>
          <p:cNvGraphicFramePr>
            <a:graphicFrameLocks noGrp="1"/>
          </p:cNvGraphicFramePr>
          <p:nvPr/>
        </p:nvGraphicFramePr>
        <p:xfrm>
          <a:off x="640080" y="4225747"/>
          <a:ext cx="10908791" cy="1600200"/>
        </p:xfrm>
        <a:graphic>
          <a:graphicData uri="http://schemas.openxmlformats.org/drawingml/2006/table">
            <a:tbl>
              <a:tblPr/>
              <a:tblGrid>
                <a:gridCol w="16459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3749039">
                  <a:extLst>
                    <a:ext uri="{9D8B030D-6E8A-4147-A177-3AD203B41FA5}">
                      <a16:colId xmlns:a16="http://schemas.microsoft.com/office/drawing/2014/main" val="20002"/>
                    </a:ext>
                  </a:extLst>
                </a:gridCol>
                <a:gridCol w="3502152">
                  <a:extLst>
                    <a:ext uri="{9D8B030D-6E8A-4147-A177-3AD203B41FA5}">
                      <a16:colId xmlns:a16="http://schemas.microsoft.com/office/drawing/2014/main" val="20003"/>
                    </a:ext>
                  </a:extLst>
                </a:gridCol>
              </a:tblGrid>
              <a:tr h="320040">
                <a:tc>
                  <a:txBody>
                    <a:bodyPr/>
                    <a:lstStyle/>
                    <a:p>
                      <a:r>
                        <a:rPr sz="1000" b="1" i="0" spc="60">
                          <a:solidFill>
                            <a:srgbClr val="F5A623"/>
                          </a:solidFill>
                          <a:latin typeface="Inter"/>
                        </a:rPr>
                        <a:t>Attribut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Source retenue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Règle (priorité, plus récent, non nul)</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Cas où la règle se trompe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20040">
                <a:tc>
                  <a:txBody>
                    <a:bodyPr/>
                    <a:lstStyle/>
                    <a:p>
                      <a:r>
                        <a:rPr sz="1100" b="1" i="0">
                          <a:solidFill>
                            <a:srgbClr val="F7F6F2"/>
                          </a:solidFill>
                          <a:latin typeface="Inter"/>
                        </a:rPr>
                        <a:t>Nom</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20040">
                <a:tc>
                  <a:txBody>
                    <a:bodyPr/>
                    <a:lstStyle/>
                    <a:p>
                      <a:r>
                        <a:rPr sz="1100" b="1" i="0">
                          <a:solidFill>
                            <a:srgbClr val="F7F6F2"/>
                          </a:solidFill>
                          <a:latin typeface="Inter"/>
                        </a:rPr>
                        <a:t>Adresse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20040">
                <a:tc>
                  <a:txBody>
                    <a:bodyPr/>
                    <a:lstStyle/>
                    <a:p>
                      <a:r>
                        <a:rPr sz="1100" b="1" i="0">
                          <a:solidFill>
                            <a:srgbClr val="F7F6F2"/>
                          </a:solidFill>
                          <a:latin typeface="Inter"/>
                        </a:rPr>
                        <a:t>Téléphone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20040">
                <a:tc>
                  <a:txBody>
                    <a:bodyPr/>
                    <a:lstStyle/>
                    <a:p>
                      <a:r>
                        <a:rPr sz="1100" b="1" i="0">
                          <a:solidFill>
                            <a:srgbClr val="F7F6F2"/>
                          </a:solidFill>
                          <a:latin typeface="Inter"/>
                        </a:rPr>
                        <a:t>Courriel</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sp>
        <p:nvSpPr>
          <p:cNvPr id="35" name="TextBox 34"/>
          <p:cNvSpPr txBox="1"/>
          <p:nvPr/>
        </p:nvSpPr>
        <p:spPr>
          <a:xfrm>
            <a:off x="640080" y="5897880"/>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Reportez la règle de survie dans le journal des décisions, avec le rôle qui l'a décidée.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Gold : tables cohérentes et client actif unique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30</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S4 · US-27</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SILVER, GOLD ET TRAÇABILITÉ · 25 %</a:t>
            </a:r>
          </a:p>
        </p:txBody>
      </p:sp>
      <p:sp>
        <p:nvSpPr>
          <p:cNvPr id="28"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lignes</a:t>
            </a:r>
            <a:r>
              <a:rPr sz="1300" b="0" i="0">
                <a:solidFill>
                  <a:srgbClr val="F7F6F2"/>
                </a:solidFill>
                <a:latin typeface="Inter"/>
              </a:rPr>
              <a:t> de chaque table gold, les </a:t>
            </a:r>
            <a:r>
              <a:rPr sz="1300" b="1" i="0">
                <a:solidFill>
                  <a:srgbClr val="F5A623"/>
                </a:solidFill>
                <a:latin typeface="Inter"/>
              </a:rPr>
              <a:t>lignes écartées</a:t>
            </a:r>
            <a:r>
              <a:rPr sz="1300" b="0" i="0">
                <a:solidFill>
                  <a:srgbClr val="F7F6F2"/>
                </a:solidFill>
                <a:latin typeface="Inter"/>
              </a:rPr>
              <a:t> à la porte G et les </a:t>
            </a:r>
            <a:r>
              <a:rPr sz="1300" b="1" i="0">
                <a:solidFill>
                  <a:srgbClr val="F5A623"/>
                </a:solidFill>
                <a:latin typeface="Inter"/>
              </a:rPr>
              <a:t>règles responsables</a:t>
            </a:r>
            <a:r>
              <a:rPr sz="1300" b="0" i="0">
                <a:solidFill>
                  <a:srgbClr val="F7F6F2"/>
                </a:solidFill>
                <a:latin typeface="Inter"/>
              </a:rPr>
              <a:t>.</a:t>
            </a:r>
          </a:p>
          <a:p>
            <a:pPr marL="182880" indent="-182880">
              <a:lnSpc>
                <a:spcPct val="108000"/>
              </a:lnSpc>
              <a:spcAft>
                <a:spcPts val="300"/>
              </a:spcAft>
              <a:buClr>
                <a:srgbClr val="F5A623"/>
              </a:buClr>
              <a:buChar char="•"/>
            </a:pPr>
            <a:r>
              <a:rPr sz="1300" b="1" i="0">
                <a:solidFill>
                  <a:srgbClr val="F5A623"/>
                </a:solidFill>
                <a:latin typeface="Inter"/>
              </a:rPr>
              <a:t>Aucun orphelin</a:t>
            </a:r>
            <a:r>
              <a:rPr sz="1300" b="0" i="0">
                <a:solidFill>
                  <a:srgbClr val="F7F6F2"/>
                </a:solidFill>
                <a:latin typeface="Inter"/>
              </a:rPr>
              <a:t> dans gold ; client actif publié par la </a:t>
            </a:r>
            <a:r>
              <a:rPr sz="1300" b="1" i="0">
                <a:solidFill>
                  <a:srgbClr val="F5A623"/>
                </a:solidFill>
                <a:latin typeface="Inter"/>
              </a:rPr>
              <a:t>vue unique</a:t>
            </a:r>
            <a:r>
              <a:rPr sz="1300" b="0" i="0">
                <a:solidFill>
                  <a:srgbClr val="F7F6F2"/>
                </a:solidFill>
                <a:latin typeface="Inter"/>
              </a:rPr>
              <a:t> v_client_actif.</a:t>
            </a:r>
          </a:p>
          <a:p>
            <a:pPr marL="182880" indent="-182880">
              <a:lnSpc>
                <a:spcPct val="108000"/>
              </a:lnSpc>
              <a:spcAft>
                <a:spcPts val="300"/>
              </a:spcAft>
              <a:buClr>
                <a:srgbClr val="F5A623"/>
              </a:buClr>
              <a:buChar char="•"/>
            </a:pPr>
            <a:r>
              <a:rPr sz="1300" b="0" i="0">
                <a:solidFill>
                  <a:srgbClr val="F7F6F2"/>
                </a:solidFill>
                <a:latin typeface="Inter"/>
              </a:rPr>
              <a:t>L'</a:t>
            </a:r>
            <a:r>
              <a:rPr sz="1300" b="1" i="0">
                <a:solidFill>
                  <a:srgbClr val="F5A623"/>
                </a:solidFill>
                <a:latin typeface="Inter"/>
              </a:rPr>
              <a:t>effet de la quarantaine</a:t>
            </a:r>
            <a:r>
              <a:rPr sz="1300" b="0" i="0">
                <a:solidFill>
                  <a:srgbClr val="F7F6F2"/>
                </a:solidFill>
                <a:latin typeface="Inter"/>
              </a:rPr>
              <a:t> en aval : un client écarté laisse-t-il des contrats orphelins ?</a:t>
            </a:r>
          </a:p>
        </p:txBody>
      </p:sp>
      <p:graphicFrame>
        <p:nvGraphicFramePr>
          <p:cNvPr id="33" name="Table 32"/>
          <p:cNvGraphicFramePr>
            <a:graphicFrameLocks noGrp="1"/>
          </p:cNvGraphicFramePr>
          <p:nvPr/>
        </p:nvGraphicFramePr>
        <p:xfrm>
          <a:off x="640080" y="2786176"/>
          <a:ext cx="10908792" cy="1737360"/>
        </p:xfrm>
        <a:graphic>
          <a:graphicData uri="http://schemas.openxmlformats.org/drawingml/2006/table">
            <a:tbl>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3959352">
                  <a:extLst>
                    <a:ext uri="{9D8B030D-6E8A-4147-A177-3AD203B41FA5}">
                      <a16:colId xmlns:a16="http://schemas.microsoft.com/office/drawing/2014/main" val="20003"/>
                    </a:ext>
                  </a:extLst>
                </a:gridCol>
              </a:tblGrid>
              <a:tr h="347472">
                <a:tc>
                  <a:txBody>
                    <a:bodyPr/>
                    <a:lstStyle/>
                    <a:p>
                      <a:r>
                        <a:rPr sz="1050" b="1" i="0" spc="60">
                          <a:solidFill>
                            <a:srgbClr val="F5A623"/>
                          </a:solidFill>
                          <a:latin typeface="Inter"/>
                        </a:rPr>
                        <a:t>Table gold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 écartées (porte G)</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Règles responsables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150" b="1" i="0">
                          <a:solidFill>
                            <a:srgbClr val="F7F6F2"/>
                          </a:solidFill>
                          <a:latin typeface="Inter"/>
                        </a:rPr>
                        <a:t>client_unique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150" b="1" i="0">
                          <a:solidFill>
                            <a:srgbClr val="F7F6F2"/>
                          </a:solidFill>
                          <a:latin typeface="Inter"/>
                        </a:rPr>
                        <a:t>xref_identifiants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47472">
                <a:tc>
                  <a:txBody>
                    <a:bodyPr/>
                    <a:lstStyle/>
                    <a:p>
                      <a:r>
                        <a:rPr sz="1150" b="1" i="0">
                          <a:solidFill>
                            <a:srgbClr val="F7F6F2"/>
                          </a:solidFill>
                          <a:latin typeface="Inter"/>
                        </a:rPr>
                        <a:t>contrat_certifie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47472">
                <a:tc>
                  <a:txBody>
                    <a:bodyPr/>
                    <a:lstStyle/>
                    <a:p>
                      <a:r>
                        <a:rPr sz="1150" b="1" i="0">
                          <a:solidFill>
                            <a:srgbClr val="F7F6F2"/>
                          </a:solidFill>
                          <a:latin typeface="Inter"/>
                        </a:rPr>
                        <a:t>sinistre_certifie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sp>
        <p:nvSpPr>
          <p:cNvPr id="34" name="TextBox 33"/>
          <p:cNvSpPr txBox="1"/>
          <p:nvPr/>
        </p:nvSpPr>
        <p:spPr>
          <a:xfrm>
            <a:off x="640080" y="4660696"/>
            <a:ext cx="534924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ORPHELINS ET CLIENT ACTIF PUBLIÉ</a:t>
            </a:r>
          </a:p>
        </p:txBody>
      </p:sp>
      <p:sp>
        <p:nvSpPr>
          <p:cNvPr id="35" name="Zone à rédiger"/>
          <p:cNvSpPr/>
          <p:nvPr/>
        </p:nvSpPr>
        <p:spPr>
          <a:xfrm>
            <a:off x="640080" y="4953304"/>
            <a:ext cx="5349240" cy="1173175"/>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[Chiffres, écart avec CD-001]</a:t>
            </a:r>
          </a:p>
        </p:txBody>
      </p:sp>
      <p:sp>
        <p:nvSpPr>
          <p:cNvPr id="36" name="TextBox 35"/>
          <p:cNvSpPr txBox="1"/>
          <p:nvPr/>
        </p:nvSpPr>
        <p:spPr>
          <a:xfrm>
            <a:off x="6199632" y="4660696"/>
            <a:ext cx="534924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EFFET DE LA QUARANTAINE SUR L'INTÉGRITÉ EN AVAL</a:t>
            </a:r>
          </a:p>
        </p:txBody>
      </p:sp>
      <p:sp>
        <p:nvSpPr>
          <p:cNvPr id="37" name="Zone à rédiger"/>
          <p:cNvSpPr/>
          <p:nvPr/>
        </p:nvSpPr>
        <p:spPr>
          <a:xfrm>
            <a:off x="6199632" y="4953304"/>
            <a:ext cx="5349240" cy="1173175"/>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Retracer trois données de gold jusqu'à la source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31</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S4 · US-28</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SILVER, GOLD ET TRAÇABILITÉ · 25 %</a:t>
            </a:r>
          </a:p>
        </p:txBody>
      </p:sp>
      <p:sp>
        <p:nvSpPr>
          <p:cNvPr id="28" name="Attendu"/>
          <p:cNvSpPr/>
          <p:nvPr/>
        </p:nvSpPr>
        <p:spPr>
          <a:xfrm>
            <a:off x="640080" y="1325880"/>
            <a:ext cx="10908792" cy="12850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2850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7821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Pour </a:t>
            </a:r>
            <a:r>
              <a:rPr sz="1300" b="1" i="0">
                <a:solidFill>
                  <a:srgbClr val="F5A623"/>
                </a:solidFill>
                <a:latin typeface="Inter"/>
              </a:rPr>
              <a:t>chacune des trois données</a:t>
            </a:r>
            <a:r>
              <a:rPr sz="1300" b="0" i="0">
                <a:solidFill>
                  <a:srgbClr val="F7F6F2"/>
                </a:solidFill>
                <a:latin typeface="Inter"/>
              </a:rPr>
              <a:t> : la valeur dans gold, les identifiants de ligne silver et bronze (avec le lot), la source (table, clé).</a:t>
            </a:r>
          </a:p>
          <a:p>
            <a:pPr marL="182880" indent="-182880">
              <a:lnSpc>
                <a:spcPct val="108000"/>
              </a:lnSpc>
              <a:spcAft>
                <a:spcPts val="300"/>
              </a:spcAft>
              <a:buClr>
                <a:srgbClr val="F5A623"/>
              </a:buClr>
              <a:buChar char="•"/>
            </a:pPr>
            <a:r>
              <a:rPr sz="1300" b="0" i="0">
                <a:solidFill>
                  <a:srgbClr val="F7F6F2"/>
                </a:solidFill>
                <a:latin typeface="Inter"/>
              </a:rPr>
              <a:t>La </a:t>
            </a:r>
            <a:r>
              <a:rPr sz="1300" b="1" i="0">
                <a:solidFill>
                  <a:srgbClr val="F5A623"/>
                </a:solidFill>
                <a:latin typeface="Inter"/>
              </a:rPr>
              <a:t>requête de traçabilité</a:t>
            </a:r>
            <a:r>
              <a:rPr sz="1300" b="0" i="0">
                <a:solidFill>
                  <a:srgbClr val="F7F6F2"/>
                </a:solidFill>
                <a:latin typeface="Inter"/>
              </a:rPr>
              <a:t> est dans le dépôt.</a:t>
            </a:r>
          </a:p>
        </p:txBody>
      </p:sp>
      <p:graphicFrame>
        <p:nvGraphicFramePr>
          <p:cNvPr id="33" name="Table 32"/>
          <p:cNvGraphicFramePr>
            <a:graphicFrameLocks noGrp="1"/>
          </p:cNvGraphicFramePr>
          <p:nvPr/>
        </p:nvGraphicFramePr>
        <p:xfrm>
          <a:off x="640080" y="2793796"/>
          <a:ext cx="10908792" cy="1828800"/>
        </p:xfrm>
        <a:graphic>
          <a:graphicData uri="http://schemas.openxmlformats.org/drawingml/2006/table">
            <a:tbl>
              <a:tblPr/>
              <a:tblGrid>
                <a:gridCol w="256032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1947672">
                  <a:extLst>
                    <a:ext uri="{9D8B030D-6E8A-4147-A177-3AD203B41FA5}">
                      <a16:colId xmlns:a16="http://schemas.microsoft.com/office/drawing/2014/main" val="20004"/>
                    </a:ext>
                  </a:extLst>
                </a:gridCol>
              </a:tblGrid>
              <a:tr h="457200">
                <a:tc>
                  <a:txBody>
                    <a:bodyPr/>
                    <a:lstStyle/>
                    <a:p>
                      <a:r>
                        <a:rPr sz="1100" b="1" i="0" spc="60">
                          <a:solidFill>
                            <a:srgbClr val="F5A623"/>
                          </a:solidFill>
                          <a:latin typeface="Inter"/>
                        </a:rPr>
                        <a:t>Donnée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Gold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Silver (identifiants)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Bronze (identifiants, lot)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Source (table, clé)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457200">
                <a:tc>
                  <a:txBody>
                    <a:bodyPr/>
                    <a:lstStyle/>
                    <a:p>
                      <a:r>
                        <a:rPr sz="1200" b="1" i="0">
                          <a:solidFill>
                            <a:srgbClr val="F7F6F2"/>
                          </a:solidFill>
                          <a:latin typeface="Inter"/>
                        </a:rPr>
                        <a:t>Société Meunier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457200">
                <a:tc>
                  <a:txBody>
                    <a:bodyPr/>
                    <a:lstStyle/>
                    <a:p>
                      <a:r>
                        <a:rPr sz="1200" b="1" i="0">
                          <a:solidFill>
                            <a:srgbClr val="F7F6F2"/>
                          </a:solidFill>
                          <a:latin typeface="Inter"/>
                        </a:rPr>
                        <a:t>Un code postal à zéro initial</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457200">
                <a:tc>
                  <a:txBody>
                    <a:bodyPr/>
                    <a:lstStyle/>
                    <a:p>
                      <a:r>
                        <a:rPr sz="1200" b="1" i="0">
                          <a:solidFill>
                            <a:srgbClr val="F7F6F2"/>
                          </a:solidFill>
                          <a:latin typeface="Inter"/>
                        </a:rPr>
                        <a:t>Une adresse de sinistre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bl>
          </a:graphicData>
        </a:graphic>
      </p:graphicFrame>
      <p:sp>
        <p:nvSpPr>
          <p:cNvPr id="34" name="TextBox 33"/>
          <p:cNvSpPr txBox="1"/>
          <p:nvPr/>
        </p:nvSpPr>
        <p:spPr>
          <a:xfrm>
            <a:off x="640080" y="5852160"/>
            <a:ext cx="10908792" cy="274320"/>
          </a:xfrm>
          <a:prstGeom prst="rect">
            <a:avLst/>
          </a:prstGeom>
          <a:noFill/>
        </p:spPr>
        <p:txBody>
          <a:bodyPr wrap="square" lIns="0" tIns="0" rIns="0" bIns="0" anchor="ctr">
            <a:spAutoFit/>
          </a:bodyPr>
          <a:lstStyle/>
          <a:p>
            <a:pPr>
              <a:lnSpc>
                <a:spcPct val="108000"/>
              </a:lnSpc>
              <a:spcAft>
                <a:spcPts val="400"/>
              </a:spcAft>
            </a:pPr>
            <a:r>
              <a:rPr sz="1200" b="0" i="0">
                <a:solidFill>
                  <a:srgbClr val="B8C0C8"/>
                </a:solidFill>
                <a:latin typeface="Inter"/>
              </a:rPr>
              <a:t>Preuve (chemin du notebook, du fichier ou de la requête dans le dépôt) : </a:t>
            </a:r>
            <a:r>
              <a:rPr sz="1200" b="1" i="0">
                <a:solidFill>
                  <a:srgbClr val="F5A623"/>
                </a:solidFill>
                <a:latin typeface="Inter"/>
              </a:rPr>
              <a: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Bilan de S4 : critères de fin et difficultés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32</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S4 · BILAN</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SILVER, GOLD ET TRAÇABILITÉ · 25 %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Chaque critère coché est </a:t>
            </a:r>
            <a:r>
              <a:rPr sz="1300" b="1" i="0">
                <a:solidFill>
                  <a:srgbClr val="F5A623"/>
                </a:solidFill>
                <a:latin typeface="Inter"/>
              </a:rPr>
              <a:t>démontré</a:t>
            </a:r>
            <a:r>
              <a:rPr sz="1300" b="0" i="0">
                <a:solidFill>
                  <a:srgbClr val="F7F6F2"/>
                </a:solidFill>
                <a:latin typeface="Inter"/>
              </a:rPr>
              <a:t> par une page de ce livrable ou par un fichier du dépôt.</a:t>
            </a:r>
          </a:p>
          <a:p>
            <a:pPr marL="182880" indent="-182880">
              <a:lnSpc>
                <a:spcPct val="108000"/>
              </a:lnSpc>
              <a:spcAft>
                <a:spcPts val="300"/>
              </a:spcAft>
              <a:buClr>
                <a:srgbClr val="F5A623"/>
              </a:buClr>
              <a:buChar char="•"/>
            </a:pPr>
            <a:r>
              <a:rPr sz="1300" b="0" i="0">
                <a:solidFill>
                  <a:srgbClr val="F7F6F2"/>
                </a:solidFill>
                <a:latin typeface="Inter"/>
              </a:rPr>
              <a:t>Les difficultés sont </a:t>
            </a:r>
            <a:r>
              <a:rPr sz="1300" b="1" i="0">
                <a:solidFill>
                  <a:srgbClr val="F5A623"/>
                </a:solidFill>
                <a:latin typeface="Inter"/>
              </a:rPr>
              <a:t>chiffrées en temps perdu</a:t>
            </a:r>
            <a:r>
              <a:rPr sz="1300" b="0" i="0">
                <a:solidFill>
                  <a:srgbClr val="F7F6F2"/>
                </a:solidFill>
                <a:latin typeface="Inter"/>
              </a:rPr>
              <a:t> ; un point de reprise utilisé est </a:t>
            </a:r>
            <a:r>
              <a:rPr sz="1300" b="1" i="0">
                <a:solidFill>
                  <a:srgbClr val="F5A623"/>
                </a:solidFill>
                <a:latin typeface="Inter"/>
              </a:rPr>
              <a:t>déclaré</a:t>
            </a:r>
            <a:r>
              <a:rPr sz="1300" b="0" i="0">
                <a:solidFill>
                  <a:srgbClr val="F7F6F2"/>
                </a:solidFill>
                <a:latin typeface="Inter"/>
              </a:rPr>
              <a:t>.</a:t>
            </a:r>
          </a:p>
        </p:txBody>
      </p:sp>
      <p:sp>
        <p:nvSpPr>
          <p:cNvPr id="33" name="Rectangle 32"/>
          <p:cNvSpPr/>
          <p:nvPr/>
        </p:nvSpPr>
        <p:spPr>
          <a:xfrm>
            <a:off x="640080" y="2579827"/>
            <a:ext cx="5120640" cy="354665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Icône ok" descr="Icône ok"/>
          <p:cNvPicPr>
            <a:picLocks noChangeAspect="1"/>
          </p:cNvPicPr>
          <p:nvPr/>
        </p:nvPicPr>
        <p:blipFill>
          <a:blip r:embed="rId4"/>
          <a:stretch>
            <a:fillRect/>
          </a:stretch>
        </p:blipFill>
        <p:spPr>
          <a:xfrm>
            <a:off x="868680" y="2735275"/>
            <a:ext cx="310896" cy="310896"/>
          </a:xfrm>
          <a:prstGeom prst="rect">
            <a:avLst/>
          </a:prstGeom>
        </p:spPr>
      </p:pic>
      <p:sp>
        <p:nvSpPr>
          <p:cNvPr id="35" name="TextBox 34"/>
          <p:cNvSpPr txBox="1"/>
          <p:nvPr/>
        </p:nvSpPr>
        <p:spPr>
          <a:xfrm>
            <a:off x="1289304" y="2753563"/>
            <a:ext cx="4572000" cy="274320"/>
          </a:xfrm>
          <a:prstGeom prst="rect">
            <a:avLst/>
          </a:prstGeom>
          <a:noFill/>
        </p:spPr>
        <p:txBody>
          <a:bodyPr wrap="square" lIns="0" tIns="0" rIns="0" bIns="0" anchor="ctr">
            <a:spAutoFit/>
          </a:bodyPr>
          <a:lstStyle/>
          <a:p>
            <a:pPr>
              <a:lnSpc>
                <a:spcPct val="108000"/>
              </a:lnSpc>
              <a:spcAft>
                <a:spcPts val="400"/>
              </a:spcAft>
            </a:pPr>
            <a:r>
              <a:rPr sz="1300" b="1" i="0" spc="120">
                <a:solidFill>
                  <a:srgbClr val="F7F6F2"/>
                </a:solidFill>
                <a:latin typeface="Inter"/>
              </a:rPr>
              <a:t>CRITÈRES DE FIN</a:t>
            </a:r>
          </a:p>
        </p:txBody>
      </p:sp>
      <p:sp>
        <p:nvSpPr>
          <p:cNvPr id="36" name="TextBox 35"/>
          <p:cNvSpPr txBox="1"/>
          <p:nvPr/>
        </p:nvSpPr>
        <p:spPr>
          <a:xfrm>
            <a:off x="868680" y="3219907"/>
            <a:ext cx="4663440" cy="2815132"/>
          </a:xfrm>
          <a:prstGeom prst="rect">
            <a:avLst/>
          </a:prstGeom>
          <a:noFill/>
        </p:spPr>
        <p:txBody>
          <a:bodyPr wrap="square" lIns="0" tIns="0" rIns="0" bIns="0" anchor="t">
            <a:spAutoFit/>
          </a:bodyPr>
          <a:lstStyle/>
          <a:p>
            <a:pPr>
              <a:lnSpc>
                <a:spcPct val="108000"/>
              </a:lnSpc>
              <a:spcAft>
                <a:spcPts val="700"/>
              </a:spcAft>
            </a:pPr>
            <a:r>
              <a:rPr sz="1250" b="0" i="0">
                <a:solidFill>
                  <a:srgbClr val="F7F6F2"/>
                </a:solidFill>
                <a:latin typeface="Consolas"/>
              </a:rPr>
              <a:t>[ ]</a:t>
            </a:r>
            <a:r>
              <a:rPr sz="1250" b="0" i="0">
                <a:solidFill>
                  <a:srgbClr val="F7F6F2"/>
                </a:solidFill>
                <a:latin typeface="Inter"/>
              </a:rPr>
              <a:t> Pour chaque table, silver + rejets = bronze, sans suppression silencieuse.</a:t>
            </a:r>
          </a:p>
          <a:p>
            <a:pPr>
              <a:lnSpc>
                <a:spcPct val="108000"/>
              </a:lnSpc>
              <a:spcAft>
                <a:spcPts val="700"/>
              </a:spcAft>
            </a:pPr>
            <a:r>
              <a:rPr sz="1250" b="0" i="0">
                <a:solidFill>
                  <a:srgbClr val="F7F6F2"/>
                </a:solidFill>
                <a:latin typeface="Consolas"/>
              </a:rPr>
              <a:t>[ ]</a:t>
            </a:r>
            <a:r>
              <a:rPr sz="1250" b="0" i="0">
                <a:solidFill>
                  <a:srgbClr val="F7F6F2"/>
                </a:solidFill>
                <a:latin typeface="Inter"/>
              </a:rPr>
              <a:t> Relancer le traitement deux fois donne le même résultat.</a:t>
            </a:r>
          </a:p>
          <a:p>
            <a:pPr>
              <a:lnSpc>
                <a:spcPct val="108000"/>
              </a:lnSpc>
              <a:spcAft>
                <a:spcPts val="700"/>
              </a:spcAft>
            </a:pPr>
            <a:r>
              <a:rPr sz="1250" b="0" i="0">
                <a:solidFill>
                  <a:srgbClr val="F7F6F2"/>
                </a:solidFill>
                <a:latin typeface="Consolas"/>
              </a:rPr>
              <a:t>[ ]</a:t>
            </a:r>
            <a:r>
              <a:rPr sz="1250" b="0" i="0">
                <a:solidFill>
                  <a:srgbClr val="F7F6F2"/>
                </a:solidFill>
                <a:latin typeface="Inter"/>
              </a:rPr>
              <a:t> Les règles bloquantes de la porte S sont conformes sur silver.</a:t>
            </a:r>
          </a:p>
          <a:p>
            <a:pPr>
              <a:lnSpc>
                <a:spcPct val="108000"/>
              </a:lnSpc>
              <a:spcAft>
                <a:spcPts val="700"/>
              </a:spcAft>
            </a:pPr>
            <a:r>
              <a:rPr sz="1250" b="0" i="0">
                <a:solidFill>
                  <a:srgbClr val="F7F6F2"/>
                </a:solidFill>
                <a:latin typeface="Consolas"/>
              </a:rPr>
              <a:t>[ ]</a:t>
            </a:r>
            <a:r>
              <a:rPr sz="1250" b="0" i="0">
                <a:solidFill>
                  <a:srgbClr val="F7F6F2"/>
                </a:solidFill>
                <a:latin typeface="Inter"/>
              </a:rPr>
              <a:t> Le gold ne contient aucun orphelin ; le client actif est publié par une seule vue.</a:t>
            </a:r>
          </a:p>
          <a:p>
            <a:pPr>
              <a:lnSpc>
                <a:spcPct val="108000"/>
              </a:lnSpc>
              <a:spcAft>
                <a:spcPts val="700"/>
              </a:spcAft>
            </a:pPr>
            <a:r>
              <a:rPr sz="1250" b="0" i="0">
                <a:solidFill>
                  <a:srgbClr val="F7F6F2"/>
                </a:solidFill>
                <a:latin typeface="Consolas"/>
              </a:rPr>
              <a:t>[ ]</a:t>
            </a:r>
            <a:r>
              <a:rPr sz="1250" b="0" i="0">
                <a:solidFill>
                  <a:srgbClr val="F7F6F2"/>
                </a:solidFill>
                <a:latin typeface="Inter"/>
              </a:rPr>
              <a:t> Les trois traces remontent du gold à la source avec identifiants de ligne et de lot.</a:t>
            </a:r>
          </a:p>
        </p:txBody>
      </p:sp>
      <p:sp>
        <p:nvSpPr>
          <p:cNvPr id="37" name="TextBox 36"/>
          <p:cNvSpPr txBox="1"/>
          <p:nvPr/>
        </p:nvSpPr>
        <p:spPr>
          <a:xfrm>
            <a:off x="640080" y="5852160"/>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Remplacez [ ] par [x] une fois le critère démontré.</a:t>
            </a:r>
          </a:p>
        </p:txBody>
      </p:sp>
      <p:sp>
        <p:nvSpPr>
          <p:cNvPr id="38" name="TextBox 37"/>
          <p:cNvSpPr txBox="1"/>
          <p:nvPr/>
        </p:nvSpPr>
        <p:spPr>
          <a:xfrm>
            <a:off x="5943600" y="257982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DIFFICULTÉS RENCONTRÉES ET TEMPS PERDU</a:t>
            </a:r>
          </a:p>
        </p:txBody>
      </p:sp>
      <p:sp>
        <p:nvSpPr>
          <p:cNvPr id="39" name="Zone à rédiger"/>
          <p:cNvSpPr/>
          <p:nvPr/>
        </p:nvSpPr>
        <p:spPr>
          <a:xfrm>
            <a:off x="5943600" y="2872435"/>
            <a:ext cx="5605272" cy="117043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
        <p:nvSpPr>
          <p:cNvPr id="40" name="TextBox 39"/>
          <p:cNvSpPr txBox="1"/>
          <p:nvPr/>
        </p:nvSpPr>
        <p:spPr>
          <a:xfrm>
            <a:off x="5943600" y="418002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POINT DE REPRISE UTILISÉ (OUI / NON, LEQUEL)</a:t>
            </a:r>
          </a:p>
        </p:txBody>
      </p:sp>
      <p:sp>
        <p:nvSpPr>
          <p:cNvPr id="41" name="Zone à rédiger"/>
          <p:cNvSpPr/>
          <p:nvPr/>
        </p:nvSpPr>
        <p:spPr>
          <a:xfrm>
            <a:off x="5943600" y="4472635"/>
            <a:ext cx="5605272" cy="62179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
        <p:nvSpPr>
          <p:cNvPr id="42" name="TextBox 41"/>
          <p:cNvSpPr txBox="1"/>
          <p:nvPr/>
        </p:nvSpPr>
        <p:spPr>
          <a:xfrm>
            <a:off x="5943600" y="523158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CE QUE NOUS FERIONS AUTREMENT</a:t>
            </a:r>
          </a:p>
        </p:txBody>
      </p:sp>
      <p:sp>
        <p:nvSpPr>
          <p:cNvPr id="43" name="Zone à rédiger"/>
          <p:cNvSpPr/>
          <p:nvPr/>
        </p:nvSpPr>
        <p:spPr>
          <a:xfrm>
            <a:off x="5943600" y="5524195"/>
            <a:ext cx="5605272" cy="602284"/>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2"/>
          </p:nvPr>
        </p:nvSpPr>
        <p:spPr/>
        <p:txBody>
          <a:bodyPr/>
          <a:lstStyle/>
          <a:p>
            <a:r>
              <a:t>05</a:t>
            </a:r>
          </a:p>
        </p:txBody>
      </p:sp>
      <p:sp>
        <p:nvSpPr>
          <p:cNvPr id="3" name="Title 2"/>
          <p:cNvSpPr>
            <a:spLocks noGrp="1"/>
          </p:cNvSpPr>
          <p:nvPr>
            <p:ph type="title" idx="103"/>
          </p:nvPr>
        </p:nvSpPr>
        <p:spPr/>
        <p:txBody>
          <a:bodyPr/>
          <a:lstStyle/>
          <a:p>
            <a:r>
              <a:t>Certifier, publier, gouverner</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33</a:t>
            </a:fld>
            <a:endParaRPr lang="en-US"/>
          </a:p>
        </p:txBody>
      </p:sp>
      <p:sp>
        <p:nvSpPr>
          <p:cNvPr id="26" name="TextBox 25"/>
          <p:cNvSpPr txBox="1"/>
          <p:nvPr/>
        </p:nvSpPr>
        <p:spPr>
          <a:xfrm>
            <a:off x="640080" y="4892040"/>
            <a:ext cx="6400800" cy="1097280"/>
          </a:xfrm>
          <a:prstGeom prst="rect">
            <a:avLst/>
          </a:prstGeom>
          <a:noFill/>
        </p:spPr>
        <p:txBody>
          <a:bodyPr wrap="square" lIns="0" tIns="0" rIns="0" bIns="0" anchor="t">
            <a:spAutoFit/>
          </a:bodyPr>
          <a:lstStyle/>
          <a:p>
            <a:pPr>
              <a:lnSpc>
                <a:spcPct val="115000"/>
              </a:lnSpc>
              <a:spcAft>
                <a:spcPts val="400"/>
              </a:spcAft>
            </a:pPr>
            <a:r>
              <a:rPr sz="1600" b="0" i="0">
                <a:solidFill>
                  <a:srgbClr val="B8C0C8"/>
                </a:solidFill>
                <a:latin typeface="Inter"/>
              </a:rPr>
              <a:t>Séance 5 · Porte C · US-29 à 35. Historique sur trois couches, certificat, publication refusée puis acceptée, catalogue.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Historique des mesures et courbes d'évolution</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34</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S5 · US-29, 30</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PREUVE ET CERTIFICAT · 20 %</a:t>
            </a:r>
          </a:p>
        </p:txBody>
      </p:sp>
      <p:sp>
        <p:nvSpPr>
          <p:cNvPr id="28"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1" i="0">
                <a:solidFill>
                  <a:srgbClr val="F5A623"/>
                </a:solidFill>
                <a:latin typeface="Inter"/>
              </a:rPr>
              <a:t>Une mesure par couche</a:t>
            </a:r>
            <a:r>
              <a:rPr sz="1300" b="0" i="0">
                <a:solidFill>
                  <a:srgbClr val="F7F6F2"/>
                </a:solidFill>
                <a:latin typeface="Inter"/>
              </a:rPr>
              <a:t> où la règle s'applique, pour chaque règle ; les couches non applicables sont </a:t>
            </a:r>
            <a:r>
              <a:rPr sz="1300" b="1" i="0">
                <a:solidFill>
                  <a:srgbClr val="F5A623"/>
                </a:solidFill>
                <a:latin typeface="Inter"/>
              </a:rPr>
              <a:t>justifiées</a:t>
            </a:r>
            <a:r>
              <a:rPr sz="1300" b="0" i="0">
                <a:solidFill>
                  <a:srgbClr val="F7F6F2"/>
                </a:solidFill>
                <a:latin typeface="Inter"/>
              </a:rPr>
              <a:t>.</a:t>
            </a:r>
          </a:p>
          <a:p>
            <a:pPr marL="182880" indent="-182880">
              <a:lnSpc>
                <a:spcPct val="108000"/>
              </a:lnSpc>
              <a:spcAft>
                <a:spcPts val="300"/>
              </a:spcAft>
              <a:buClr>
                <a:srgbClr val="F5A623"/>
              </a:buClr>
              <a:buChar char="•"/>
            </a:pPr>
            <a:r>
              <a:rPr sz="1300" b="0" i="0">
                <a:solidFill>
                  <a:srgbClr val="F7F6F2"/>
                </a:solidFill>
                <a:latin typeface="Inter"/>
              </a:rPr>
              <a:t>Toute règle qui </a:t>
            </a:r>
            <a:r>
              <a:rPr sz="1300" b="1" i="0">
                <a:solidFill>
                  <a:srgbClr val="F5A623"/>
                </a:solidFill>
                <a:latin typeface="Inter"/>
              </a:rPr>
              <a:t>descend</a:t>
            </a:r>
            <a:r>
              <a:rPr sz="1300" b="0" i="0">
                <a:solidFill>
                  <a:srgbClr val="F7F6F2"/>
                </a:solidFill>
                <a:latin typeface="Inter"/>
              </a:rPr>
              <a:t> d'une couche à l'autre est </a:t>
            </a:r>
            <a:r>
              <a:rPr sz="1300" b="1" i="0">
                <a:solidFill>
                  <a:srgbClr val="F5A623"/>
                </a:solidFill>
                <a:latin typeface="Inter"/>
              </a:rPr>
              <a:t>expliquée</a:t>
            </a:r>
            <a:r>
              <a:rPr sz="1300" b="0" i="0">
                <a:solidFill>
                  <a:srgbClr val="F7F6F2"/>
                </a:solidFill>
                <a:latin typeface="Inter"/>
              </a:rPr>
              <a:t> (filtre, conversion, effet de la quarantaine).</a:t>
            </a:r>
          </a:p>
          <a:p>
            <a:pPr marL="182880" indent="-182880">
              <a:lnSpc>
                <a:spcPct val="108000"/>
              </a:lnSpc>
              <a:spcAft>
                <a:spcPts val="300"/>
              </a:spcAft>
              <a:buClr>
                <a:srgbClr val="F5A623"/>
              </a:buClr>
              <a:buChar char="•"/>
            </a:pPr>
            <a:r>
              <a:rPr sz="1300" b="0" i="0">
                <a:solidFill>
                  <a:srgbClr val="F7F6F2"/>
                </a:solidFill>
                <a:latin typeface="Inter"/>
              </a:rPr>
              <a:t>Une </a:t>
            </a:r>
            <a:r>
              <a:rPr sz="1300" b="1" i="0">
                <a:solidFill>
                  <a:srgbClr val="F5A623"/>
                </a:solidFill>
                <a:latin typeface="Inter"/>
              </a:rPr>
              <a:t>courbe par dimension</a:t>
            </a:r>
            <a:r>
              <a:rPr sz="1300" b="0" i="0">
                <a:solidFill>
                  <a:srgbClr val="F7F6F2"/>
                </a:solidFill>
                <a:latin typeface="Inter"/>
              </a:rPr>
              <a:t> (image insérée ci-dessous).</a:t>
            </a:r>
          </a:p>
        </p:txBody>
      </p:sp>
      <p:graphicFrame>
        <p:nvGraphicFramePr>
          <p:cNvPr id="33" name="Table 32"/>
          <p:cNvGraphicFramePr>
            <a:graphicFrameLocks noGrp="1"/>
          </p:cNvGraphicFramePr>
          <p:nvPr/>
        </p:nvGraphicFramePr>
        <p:xfrm>
          <a:off x="640080" y="2786176"/>
          <a:ext cx="10908791" cy="1975104"/>
        </p:xfrm>
        <a:graphic>
          <a:graphicData uri="http://schemas.openxmlformats.org/drawingml/2006/table">
            <a:tbl>
              <a:tblPr/>
              <a:tblGrid>
                <a:gridCol w="10058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4050791">
                  <a:extLst>
                    <a:ext uri="{9D8B030D-6E8A-4147-A177-3AD203B41FA5}">
                      <a16:colId xmlns:a16="http://schemas.microsoft.com/office/drawing/2014/main" val="20006"/>
                    </a:ext>
                  </a:extLst>
                </a:gridCol>
              </a:tblGrid>
              <a:tr h="329184">
                <a:tc>
                  <a:txBody>
                    <a:bodyPr/>
                    <a:lstStyle/>
                    <a:p>
                      <a:r>
                        <a:rPr sz="1000" b="1" i="0" spc="60">
                          <a:solidFill>
                            <a:srgbClr val="F5A623"/>
                          </a:solidFill>
                          <a:latin typeface="Inter"/>
                        </a:rPr>
                        <a:t>Règle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Dimension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Bronze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Silver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Gold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Évolution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Explication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29184">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29184">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29184">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29184">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29184">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bl>
          </a:graphicData>
        </a:graphic>
      </p:graphicFrame>
      <p:sp>
        <p:nvSpPr>
          <p:cNvPr id="34" name="TextBox 33"/>
          <p:cNvSpPr txBox="1"/>
          <p:nvPr/>
        </p:nvSpPr>
        <p:spPr>
          <a:xfrm>
            <a:off x="640080" y="4898440"/>
            <a:ext cx="1090879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COURBES (INSÉREZ L'IMAGE, CHEMIN DU FICHIER DANS LE DÉPÔT)</a:t>
            </a:r>
          </a:p>
        </p:txBody>
      </p:sp>
      <p:sp>
        <p:nvSpPr>
          <p:cNvPr id="35" name="Zone à rédiger"/>
          <p:cNvSpPr/>
          <p:nvPr/>
        </p:nvSpPr>
        <p:spPr>
          <a:xfrm>
            <a:off x="640080" y="5191048"/>
            <a:ext cx="10908792" cy="935431"/>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[Insérez ici les courbes par dimension et par couche]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Certificat de qualité : GO ou NO_GO</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35</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S5 · US-31</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PREUVE ET CERTIFICAT · 20 %</a:t>
            </a:r>
          </a:p>
        </p:txBody>
      </p:sp>
      <p:sp>
        <p:nvSpPr>
          <p:cNvPr id="28"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 certificat est </a:t>
            </a:r>
            <a:r>
              <a:rPr sz="1300" b="1" i="0">
                <a:solidFill>
                  <a:srgbClr val="F5A623"/>
                </a:solidFill>
                <a:latin typeface="Inter"/>
              </a:rPr>
              <a:t>produit par requête</a:t>
            </a:r>
            <a:r>
              <a:rPr sz="1300" b="0" i="0">
                <a:solidFill>
                  <a:srgbClr val="F7F6F2"/>
                </a:solidFill>
                <a:latin typeface="Inter"/>
              </a:rPr>
              <a:t> et lié à une </a:t>
            </a:r>
            <a:r>
              <a:rPr sz="1300" b="1" i="0">
                <a:solidFill>
                  <a:srgbClr val="F5A623"/>
                </a:solidFill>
                <a:latin typeface="Inter"/>
              </a:rPr>
              <a:t>empreinte</a:t>
            </a:r>
            <a:r>
              <a:rPr sz="1300" b="0" i="0">
                <a:solidFill>
                  <a:srgbClr val="F7F6F2"/>
                </a:solidFill>
                <a:latin typeface="Inter"/>
              </a:rPr>
              <a:t> du gold.</a:t>
            </a:r>
          </a:p>
          <a:p>
            <a:pPr marL="182880" indent="-182880">
              <a:lnSpc>
                <a:spcPct val="108000"/>
              </a:lnSpc>
              <a:spcAft>
                <a:spcPts val="300"/>
              </a:spcAft>
              <a:buClr>
                <a:srgbClr val="F5A623"/>
              </a:buClr>
              <a:buChar char="•"/>
            </a:pPr>
            <a:r>
              <a:rPr sz="1300" b="0" i="0">
                <a:solidFill>
                  <a:srgbClr val="F7F6F2"/>
                </a:solidFill>
                <a:latin typeface="Inter"/>
              </a:rPr>
              <a:t>L'</a:t>
            </a:r>
            <a:r>
              <a:rPr sz="1300" b="1" i="0">
                <a:solidFill>
                  <a:srgbClr val="F5A623"/>
                </a:solidFill>
                <a:latin typeface="Inter"/>
              </a:rPr>
              <a:t>épreuve du NO_GO</a:t>
            </a:r>
            <a:r>
              <a:rPr sz="1300" b="0" i="0">
                <a:solidFill>
                  <a:srgbClr val="F7F6F2"/>
                </a:solidFill>
                <a:latin typeface="Inter"/>
              </a:rPr>
              <a:t> : lot volontairement dégradé, décision obtenue, preuve.</a:t>
            </a:r>
          </a:p>
          <a:p>
            <a:pPr marL="182880" indent="-182880">
              <a:lnSpc>
                <a:spcPct val="108000"/>
              </a:lnSpc>
              <a:spcAft>
                <a:spcPts val="300"/>
              </a:spcAft>
              <a:buClr>
                <a:srgbClr val="F5A623"/>
              </a:buClr>
              <a:buChar char="•"/>
            </a:pPr>
            <a:r>
              <a:rPr sz="1300" b="0" i="0">
                <a:solidFill>
                  <a:srgbClr val="F7F6F2"/>
                </a:solidFill>
                <a:latin typeface="Inter"/>
              </a:rPr>
              <a:t>Les règles bloquantes </a:t>
            </a:r>
            <a:r>
              <a:rPr sz="1300" b="1" i="0">
                <a:solidFill>
                  <a:srgbClr val="F5A623"/>
                </a:solidFill>
                <a:latin typeface="Inter"/>
              </a:rPr>
              <a:t>non mesurées</a:t>
            </a:r>
            <a:r>
              <a:rPr sz="1300" b="0" i="0">
                <a:solidFill>
                  <a:srgbClr val="F7F6F2"/>
                </a:solidFill>
                <a:latin typeface="Inter"/>
              </a:rPr>
              <a:t> par votre pipeline, donc non couvertes.</a:t>
            </a:r>
          </a:p>
        </p:txBody>
      </p:sp>
      <p:graphicFrame>
        <p:nvGraphicFramePr>
          <p:cNvPr id="33" name="Table 32"/>
          <p:cNvGraphicFramePr>
            <a:graphicFrameLocks noGrp="1"/>
          </p:cNvGraphicFramePr>
          <p:nvPr/>
        </p:nvGraphicFramePr>
        <p:xfrm>
          <a:off x="640080" y="2786176"/>
          <a:ext cx="6949440" cy="2340864"/>
        </p:xfrm>
        <a:graphic>
          <a:graphicData uri="http://schemas.openxmlformats.org/drawingml/2006/table">
            <a:tbl>
              <a:tblPr/>
              <a:tblGrid>
                <a:gridCol w="402336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292608">
                <a:tc>
                  <a:txBody>
                    <a:bodyPr/>
                    <a:lstStyle/>
                    <a:p>
                      <a:r>
                        <a:rPr sz="1000" b="1" i="0" spc="60">
                          <a:solidFill>
                            <a:srgbClr val="F5A623"/>
                          </a:solidFill>
                          <a:latin typeface="Inter"/>
                        </a:rPr>
                        <a:t>Élément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00" b="1" i="0" spc="60">
                          <a:solidFill>
                            <a:srgbClr val="F5A623"/>
                          </a:solidFill>
                          <a:latin typeface="Inter"/>
                        </a:rPr>
                        <a:t>Valeur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292608">
                <a:tc>
                  <a:txBody>
                    <a:bodyPr/>
                    <a:lstStyle/>
                    <a:p>
                      <a:r>
                        <a:rPr sz="1100" b="1" i="0">
                          <a:solidFill>
                            <a:srgbClr val="F7F6F2"/>
                          </a:solidFill>
                          <a:latin typeface="Inter"/>
                        </a:rPr>
                        <a:t>Numéro du certificat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292608">
                <a:tc>
                  <a:txBody>
                    <a:bodyPr/>
                    <a:lstStyle/>
                    <a:p>
                      <a:r>
                        <a:rPr sz="1100" b="1" i="0">
                          <a:solidFill>
                            <a:srgbClr val="F7F6F2"/>
                          </a:solidFill>
                          <a:latin typeface="Inter"/>
                        </a:rPr>
                        <a:t>Lot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292608">
                <a:tc>
                  <a:txBody>
                    <a:bodyPr/>
                    <a:lstStyle/>
                    <a:p>
                      <a:r>
                        <a:rPr sz="1100" b="1" i="0">
                          <a:solidFill>
                            <a:srgbClr val="F7F6F2"/>
                          </a:solidFill>
                          <a:latin typeface="Inter"/>
                        </a:rPr>
                        <a:t>Décision (GO ou NO_GO)</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292608">
                <a:tc>
                  <a:txBody>
                    <a:bodyPr/>
                    <a:lstStyle/>
                    <a:p>
                      <a:r>
                        <a:rPr sz="1100" b="1" i="0">
                          <a:solidFill>
                            <a:srgbClr val="F7F6F2"/>
                          </a:solidFill>
                          <a:latin typeface="Inter"/>
                        </a:rPr>
                        <a:t>Règles bloquantes testées / conformes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292608">
                <a:tc>
                  <a:txBody>
                    <a:bodyPr/>
                    <a:lstStyle/>
                    <a:p>
                      <a:r>
                        <a:rPr sz="1100" b="1" i="0">
                          <a:solidFill>
                            <a:srgbClr val="F7F6F2"/>
                          </a:solidFill>
                          <a:latin typeface="Inter"/>
                        </a:rPr>
                        <a:t>Écarts connus (avertissements)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r h="292608">
                <a:tc>
                  <a:txBody>
                    <a:bodyPr/>
                    <a:lstStyle/>
                    <a:p>
                      <a:r>
                        <a:rPr sz="1100" b="1" i="0">
                          <a:solidFill>
                            <a:srgbClr val="F7F6F2"/>
                          </a:solidFill>
                          <a:latin typeface="Inter"/>
                        </a:rPr>
                        <a:t>Empreinte du gold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6"/>
                  </a:ext>
                </a:extLst>
              </a:tr>
              <a:tr h="292608">
                <a:tc>
                  <a:txBody>
                    <a:bodyPr/>
                    <a:lstStyle/>
                    <a:p>
                      <a:r>
                        <a:rPr sz="1100" b="1" i="0">
                          <a:solidFill>
                            <a:srgbClr val="F7F6F2"/>
                          </a:solidFill>
                          <a:latin typeface="Inter"/>
                        </a:rPr>
                        <a:t>Signataire (rôle)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7"/>
                  </a:ext>
                </a:extLst>
              </a:tr>
            </a:tbl>
          </a:graphicData>
        </a:graphic>
      </p:graphicFrame>
      <p:sp>
        <p:nvSpPr>
          <p:cNvPr id="34" name="TextBox 33"/>
          <p:cNvSpPr txBox="1"/>
          <p:nvPr/>
        </p:nvSpPr>
        <p:spPr>
          <a:xfrm>
            <a:off x="7863840" y="2786176"/>
            <a:ext cx="368503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ÉPREUVE DU NO_GO</a:t>
            </a:r>
          </a:p>
        </p:txBody>
      </p:sp>
      <p:sp>
        <p:nvSpPr>
          <p:cNvPr id="35" name="Zone à rédiger"/>
          <p:cNvSpPr/>
          <p:nvPr/>
        </p:nvSpPr>
        <p:spPr>
          <a:xfrm>
            <a:off x="7863840" y="3078784"/>
            <a:ext cx="3685032" cy="208483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[Comment dégradé, décision, preuve]</a:t>
            </a:r>
          </a:p>
        </p:txBody>
      </p:sp>
      <p:sp>
        <p:nvSpPr>
          <p:cNvPr id="36" name="TextBox 35"/>
          <p:cNvSpPr txBox="1"/>
          <p:nvPr/>
        </p:nvSpPr>
        <p:spPr>
          <a:xfrm>
            <a:off x="640080" y="5218480"/>
            <a:ext cx="1090879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RÈGLES NON COUVERTES PAR LE CERTIFICAT</a:t>
            </a:r>
          </a:p>
        </p:txBody>
      </p:sp>
      <p:sp>
        <p:nvSpPr>
          <p:cNvPr id="37" name="Zone à rédiger"/>
          <p:cNvSpPr/>
          <p:nvPr/>
        </p:nvSpPr>
        <p:spPr>
          <a:xfrm>
            <a:off x="640080" y="5511088"/>
            <a:ext cx="10908792" cy="615391"/>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Publication vers le CRM : refus, chargement, réconciliation</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36</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S5 · US-32</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PREUVE ET CERTIFICAT · 20 %</a:t>
            </a:r>
          </a:p>
        </p:txBody>
      </p:sp>
      <p:sp>
        <p:nvSpPr>
          <p:cNvPr id="28"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quatre scénarios</a:t>
            </a:r>
            <a:r>
              <a:rPr sz="1300" b="0" i="0">
                <a:solidFill>
                  <a:srgbClr val="F7F6F2"/>
                </a:solidFill>
                <a:latin typeface="Inter"/>
              </a:rPr>
              <a:t> avec le </a:t>
            </a:r>
            <a:r>
              <a:rPr sz="1300" b="1" i="0">
                <a:solidFill>
                  <a:srgbClr val="F5A623"/>
                </a:solidFill>
                <a:latin typeface="Inter"/>
              </a:rPr>
              <a:t>message obtenu</a:t>
            </a:r>
            <a:r>
              <a:rPr sz="1300" b="0" i="0">
                <a:solidFill>
                  <a:srgbClr val="F7F6F2"/>
                </a:solidFill>
                <a:latin typeface="Inter"/>
              </a:rPr>
              <a:t> : sans certificat, NO_GO, gold modifié, GO.</a:t>
            </a:r>
          </a:p>
          <a:p>
            <a:pPr marL="182880" indent="-182880">
              <a:lnSpc>
                <a:spcPct val="108000"/>
              </a:lnSpc>
              <a:spcAft>
                <a:spcPts val="300"/>
              </a:spcAft>
              <a:buClr>
                <a:srgbClr val="F5A623"/>
              </a:buClr>
              <a:buChar char="•"/>
            </a:pPr>
            <a:r>
              <a:rPr sz="1300" b="0" i="0">
                <a:solidFill>
                  <a:srgbClr val="F7F6F2"/>
                </a:solidFill>
                <a:latin typeface="Inter"/>
              </a:rPr>
              <a:t>La </a:t>
            </a:r>
            <a:r>
              <a:rPr sz="1300" b="1" i="0">
                <a:solidFill>
                  <a:srgbClr val="F5A623"/>
                </a:solidFill>
                <a:latin typeface="Inter"/>
              </a:rPr>
              <a:t>réconciliation RQ-025</a:t>
            </a:r>
            <a:r>
              <a:rPr sz="1300" b="0" i="0">
                <a:solidFill>
                  <a:srgbClr val="F7F6F2"/>
                </a:solidFill>
                <a:latin typeface="Inter"/>
              </a:rPr>
              <a:t> après chargement : comptage et somme de contrôle, gold contre CRM cible.</a:t>
            </a:r>
          </a:p>
          <a:p>
            <a:pPr marL="182880" indent="-182880">
              <a:lnSpc>
                <a:spcPct val="108000"/>
              </a:lnSpc>
              <a:spcAft>
                <a:spcPts val="300"/>
              </a:spcAft>
              <a:buClr>
                <a:srgbClr val="F5A623"/>
              </a:buClr>
              <a:buChar char="•"/>
            </a:pPr>
            <a:r>
              <a:rPr sz="1300" b="0" i="0">
                <a:solidFill>
                  <a:srgbClr val="F7F6F2"/>
                </a:solidFill>
                <a:latin typeface="Inter"/>
              </a:rPr>
              <a:t>Le chargement est-il </a:t>
            </a:r>
            <a:r>
              <a:rPr sz="1300" b="1" i="0">
                <a:solidFill>
                  <a:srgbClr val="F5A623"/>
                </a:solidFill>
                <a:latin typeface="Inter"/>
              </a:rPr>
              <a:t>tout-ou-rien</a:t>
            </a:r>
            <a:r>
              <a:rPr sz="1300" b="0" i="0">
                <a:solidFill>
                  <a:srgbClr val="F7F6F2"/>
                </a:solidFill>
                <a:latin typeface="Inter"/>
              </a:rPr>
              <a:t> ? Comment l'avez-vous vérifié ?</a:t>
            </a:r>
          </a:p>
        </p:txBody>
      </p:sp>
      <p:graphicFrame>
        <p:nvGraphicFramePr>
          <p:cNvPr id="33" name="Table 32"/>
          <p:cNvGraphicFramePr>
            <a:graphicFrameLocks noGrp="1"/>
          </p:cNvGraphicFramePr>
          <p:nvPr/>
        </p:nvGraphicFramePr>
        <p:xfrm>
          <a:off x="640080" y="2786176"/>
          <a:ext cx="10908792" cy="1737360"/>
        </p:xfrm>
        <a:graphic>
          <a:graphicData uri="http://schemas.openxmlformats.org/drawingml/2006/table">
            <a:tbl>
              <a:tblPr/>
              <a:tblGrid>
                <a:gridCol w="310896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tblGrid>
              <a:tr h="347472">
                <a:tc>
                  <a:txBody>
                    <a:bodyPr/>
                    <a:lstStyle/>
                    <a:p>
                      <a:r>
                        <a:rPr sz="1050" b="1" i="0" spc="60">
                          <a:solidFill>
                            <a:srgbClr val="F5A623"/>
                          </a:solidFill>
                          <a:latin typeface="Inter"/>
                        </a:rPr>
                        <a:t>Scénario</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Message obtenu</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Chargement ?</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Preuve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150" b="1" i="0">
                          <a:solidFill>
                            <a:srgbClr val="F7F6F2"/>
                          </a:solidFill>
                          <a:latin typeface="Inter"/>
                        </a:rPr>
                        <a:t>Sans certificat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150" b="1" i="0">
                          <a:solidFill>
                            <a:srgbClr val="F7F6F2"/>
                          </a:solidFill>
                          <a:latin typeface="Inter"/>
                        </a:rPr>
                        <a:t>Certificat NO_GO</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47472">
                <a:tc>
                  <a:txBody>
                    <a:bodyPr/>
                    <a:lstStyle/>
                    <a:p>
                      <a:r>
                        <a:rPr sz="1150" b="1" i="0">
                          <a:solidFill>
                            <a:srgbClr val="F7F6F2"/>
                          </a:solidFill>
                          <a:latin typeface="Inter"/>
                        </a:rPr>
                        <a:t>Gold modifié après émission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47472">
                <a:tc>
                  <a:txBody>
                    <a:bodyPr/>
                    <a:lstStyle/>
                    <a:p>
                      <a:r>
                        <a:rPr sz="1150" b="1" i="0">
                          <a:solidFill>
                            <a:srgbClr val="F7F6F2"/>
                          </a:solidFill>
                          <a:latin typeface="Inter"/>
                        </a:rPr>
                        <a:t>Certificat GO, gold intact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graphicFrame>
        <p:nvGraphicFramePr>
          <p:cNvPr id="34" name="Table 33"/>
          <p:cNvGraphicFramePr>
            <a:graphicFrameLocks noGrp="1"/>
          </p:cNvGraphicFramePr>
          <p:nvPr/>
        </p:nvGraphicFramePr>
        <p:xfrm>
          <a:off x="640080" y="4633264"/>
          <a:ext cx="10908792" cy="1316736"/>
        </p:xfrm>
        <a:graphic>
          <a:graphicData uri="http://schemas.openxmlformats.org/drawingml/2006/table">
            <a:tbl>
              <a:tblPr/>
              <a:tblGrid>
                <a:gridCol w="17373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2011680">
                  <a:extLst>
                    <a:ext uri="{9D8B030D-6E8A-4147-A177-3AD203B41FA5}">
                      <a16:colId xmlns:a16="http://schemas.microsoft.com/office/drawing/2014/main" val="20004"/>
                    </a:ext>
                  </a:extLst>
                </a:gridCol>
                <a:gridCol w="1490472">
                  <a:extLst>
                    <a:ext uri="{9D8B030D-6E8A-4147-A177-3AD203B41FA5}">
                      <a16:colId xmlns:a16="http://schemas.microsoft.com/office/drawing/2014/main" val="20005"/>
                    </a:ext>
                  </a:extLst>
                </a:gridCol>
              </a:tblGrid>
              <a:tr h="329184">
                <a:tc>
                  <a:txBody>
                    <a:bodyPr/>
                    <a:lstStyle/>
                    <a:p>
                      <a:r>
                        <a:rPr sz="1050" b="1" i="0" spc="60">
                          <a:solidFill>
                            <a:srgbClr val="F5A623"/>
                          </a:solidFill>
                          <a:latin typeface="Inter"/>
                        </a:rPr>
                        <a:t>Table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 gold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Lignes CRM cible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Somme gold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Somme CRM cible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Écart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29184">
                <a:tc>
                  <a:txBody>
                    <a:bodyPr/>
                    <a:lstStyle/>
                    <a:p>
                      <a:r>
                        <a:rPr sz="1150" b="1" i="0">
                          <a:solidFill>
                            <a:srgbClr val="F7F6F2"/>
                          </a:solidFill>
                          <a:latin typeface="Inter"/>
                        </a:rPr>
                        <a:t>client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29184">
                <a:tc>
                  <a:txBody>
                    <a:bodyPr/>
                    <a:lstStyle/>
                    <a:p>
                      <a:r>
                        <a:rPr sz="1150" b="1" i="0">
                          <a:solidFill>
                            <a:srgbClr val="F7F6F2"/>
                          </a:solidFill>
                          <a:latin typeface="Inter"/>
                        </a:rPr>
                        <a:t>contrat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29184">
                <a:tc>
                  <a:txBody>
                    <a:bodyPr/>
                    <a:lstStyle/>
                    <a:p>
                      <a:r>
                        <a:rPr sz="1150" b="1" i="0">
                          <a:solidFill>
                            <a:srgbClr val="F7F6F2"/>
                          </a:solidFill>
                          <a:latin typeface="Inter"/>
                        </a:rPr>
                        <a:t>sinistre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bl>
          </a:graphicData>
        </a:graphic>
      </p:graphicFrame>
      <p:sp>
        <p:nvSpPr>
          <p:cNvPr id="35" name="TextBox 34"/>
          <p:cNvSpPr txBox="1"/>
          <p:nvPr/>
        </p:nvSpPr>
        <p:spPr>
          <a:xfrm>
            <a:off x="640080" y="6023152"/>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Tout-ou-rien : décrivez en une ligne comment vous l'avez vérifié, et le chemin du script de publication.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Gouvernance : catalogue, propriétaires, lineage</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37</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S5 · US-34</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PREUVE ET CERTIFICAT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La </a:t>
            </a:r>
            <a:r>
              <a:rPr sz="1300" b="1" i="0">
                <a:solidFill>
                  <a:srgbClr val="F5A623"/>
                </a:solidFill>
                <a:latin typeface="Inter"/>
              </a:rPr>
              <a:t>fiche de catalogue</a:t>
            </a:r>
            <a:r>
              <a:rPr sz="1300" b="0" i="0">
                <a:solidFill>
                  <a:srgbClr val="F7F6F2"/>
                </a:solidFill>
                <a:latin typeface="Inter"/>
              </a:rPr>
              <a:t> de gold.client_unique : propriétaire, steward, définition, règles rattachées.</a:t>
            </a:r>
          </a:p>
          <a:p>
            <a:pPr marL="182880" indent="-182880">
              <a:lnSpc>
                <a:spcPct val="108000"/>
              </a:lnSpc>
              <a:spcAft>
                <a:spcPts val="300"/>
              </a:spcAft>
              <a:buClr>
                <a:srgbClr val="F5A623"/>
              </a:buClr>
              <a:buChar char="•"/>
            </a:pPr>
            <a:r>
              <a:rPr sz="1300" b="0" i="0">
                <a:solidFill>
                  <a:srgbClr val="F7F6F2"/>
                </a:solidFill>
                <a:latin typeface="Inter"/>
              </a:rPr>
              <a:t>Le </a:t>
            </a:r>
            <a:r>
              <a:rPr sz="1300" b="1" i="0">
                <a:solidFill>
                  <a:srgbClr val="F5A623"/>
                </a:solidFill>
                <a:latin typeface="Inter"/>
              </a:rPr>
              <a:t>lineage</a:t>
            </a:r>
            <a:r>
              <a:rPr sz="1300" b="0" i="0">
                <a:solidFill>
                  <a:srgbClr val="F7F6F2"/>
                </a:solidFill>
                <a:latin typeface="Inter"/>
              </a:rPr>
              <a:t> de gold.client_unique jusqu'aux sources.</a:t>
            </a:r>
          </a:p>
        </p:txBody>
      </p:sp>
      <p:graphicFrame>
        <p:nvGraphicFramePr>
          <p:cNvPr id="33" name="Table 32"/>
          <p:cNvGraphicFramePr>
            <a:graphicFrameLocks noGrp="1"/>
          </p:cNvGraphicFramePr>
          <p:nvPr/>
        </p:nvGraphicFramePr>
        <p:xfrm>
          <a:off x="640080" y="2534107"/>
          <a:ext cx="10908792" cy="1920240"/>
        </p:xfrm>
        <a:graphic>
          <a:graphicData uri="http://schemas.openxmlformats.org/drawingml/2006/table">
            <a:tbl>
              <a:tblPr/>
              <a:tblGrid>
                <a:gridCol w="4206240">
                  <a:extLst>
                    <a:ext uri="{9D8B030D-6E8A-4147-A177-3AD203B41FA5}">
                      <a16:colId xmlns:a16="http://schemas.microsoft.com/office/drawing/2014/main" val="20000"/>
                    </a:ext>
                  </a:extLst>
                </a:gridCol>
                <a:gridCol w="6702552">
                  <a:extLst>
                    <a:ext uri="{9D8B030D-6E8A-4147-A177-3AD203B41FA5}">
                      <a16:colId xmlns:a16="http://schemas.microsoft.com/office/drawing/2014/main" val="20001"/>
                    </a:ext>
                  </a:extLst>
                </a:gridCol>
              </a:tblGrid>
              <a:tr h="384048">
                <a:tc>
                  <a:txBody>
                    <a:bodyPr/>
                    <a:lstStyle/>
                    <a:p>
                      <a:r>
                        <a:rPr sz="1100" b="1" i="0" spc="60">
                          <a:solidFill>
                            <a:srgbClr val="F5A623"/>
                          </a:solidFill>
                          <a:latin typeface="Inter"/>
                        </a:rPr>
                        <a:t>Élément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Valeur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84048">
                <a:tc>
                  <a:txBody>
                    <a:bodyPr/>
                    <a:lstStyle/>
                    <a:p>
                      <a:r>
                        <a:rPr sz="1200" b="1" i="0">
                          <a:solidFill>
                            <a:srgbClr val="F7F6F2"/>
                          </a:solidFill>
                          <a:latin typeface="Inter"/>
                        </a:rPr>
                        <a:t>Propriétaire (Data Owner)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84048">
                <a:tc>
                  <a:txBody>
                    <a:bodyPr/>
                    <a:lstStyle/>
                    <a:p>
                      <a:r>
                        <a:rPr sz="1200" b="1" i="0">
                          <a:solidFill>
                            <a:srgbClr val="F7F6F2"/>
                          </a:solidFill>
                          <a:latin typeface="Inter"/>
                        </a:rPr>
                        <a:t>Steward (Data Steward)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84048">
                <a:tc>
                  <a:txBody>
                    <a:bodyPr/>
                    <a:lstStyle/>
                    <a:p>
                      <a:r>
                        <a:rPr sz="1200" b="1" i="0">
                          <a:solidFill>
                            <a:srgbClr val="F7F6F2"/>
                          </a:solidFill>
                          <a:latin typeface="Inter"/>
                        </a:rPr>
                        <a:t>Définition de « client actif » rattachée à la fiche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84048">
                <a:tc>
                  <a:txBody>
                    <a:bodyPr/>
                    <a:lstStyle/>
                    <a:p>
                      <a:r>
                        <a:rPr sz="1200" b="1" i="0">
                          <a:solidFill>
                            <a:srgbClr val="F7F6F2"/>
                          </a:solidFill>
                          <a:latin typeface="Inter"/>
                        </a:rPr>
                        <a:t>Règles RQ rattachées à la table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sp>
        <p:nvSpPr>
          <p:cNvPr id="34" name="TextBox 33"/>
          <p:cNvSpPr txBox="1"/>
          <p:nvPr/>
        </p:nvSpPr>
        <p:spPr>
          <a:xfrm>
            <a:off x="640080" y="4637227"/>
            <a:ext cx="1090879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LINEAGE DE GOLD.CLIENT_UNIQUE (LISTE OU SCHÉMA)</a:t>
            </a:r>
          </a:p>
        </p:txBody>
      </p:sp>
      <p:sp>
        <p:nvSpPr>
          <p:cNvPr id="35" name="Zone à rédiger"/>
          <p:cNvSpPr/>
          <p:nvPr/>
        </p:nvSpPr>
        <p:spPr>
          <a:xfrm>
            <a:off x="640080" y="4929835"/>
            <a:ext cx="10908792" cy="1196644"/>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[Insérez un schéma ou une liste : sources, bronze, silver, xref, gold]</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Bilan de S5 : critères de fin et difficultés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38</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S5 · BILAN</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PREUVE ET CERTIFICAT · 20 %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Chaque critère coché est </a:t>
            </a:r>
            <a:r>
              <a:rPr sz="1300" b="1" i="0">
                <a:solidFill>
                  <a:srgbClr val="F5A623"/>
                </a:solidFill>
                <a:latin typeface="Inter"/>
              </a:rPr>
              <a:t>démontré</a:t>
            </a:r>
            <a:r>
              <a:rPr sz="1300" b="0" i="0">
                <a:solidFill>
                  <a:srgbClr val="F7F6F2"/>
                </a:solidFill>
                <a:latin typeface="Inter"/>
              </a:rPr>
              <a:t> par une page de ce livrable ou par un fichier du dépôt.</a:t>
            </a:r>
          </a:p>
          <a:p>
            <a:pPr marL="182880" indent="-182880">
              <a:lnSpc>
                <a:spcPct val="108000"/>
              </a:lnSpc>
              <a:spcAft>
                <a:spcPts val="300"/>
              </a:spcAft>
              <a:buClr>
                <a:srgbClr val="F5A623"/>
              </a:buClr>
              <a:buChar char="•"/>
            </a:pPr>
            <a:r>
              <a:rPr sz="1300" b="0" i="0">
                <a:solidFill>
                  <a:srgbClr val="F7F6F2"/>
                </a:solidFill>
                <a:latin typeface="Inter"/>
              </a:rPr>
              <a:t>Les difficultés sont </a:t>
            </a:r>
            <a:r>
              <a:rPr sz="1300" b="1" i="0">
                <a:solidFill>
                  <a:srgbClr val="F5A623"/>
                </a:solidFill>
                <a:latin typeface="Inter"/>
              </a:rPr>
              <a:t>chiffrées en temps perdu</a:t>
            </a:r>
            <a:r>
              <a:rPr sz="1300" b="0" i="0">
                <a:solidFill>
                  <a:srgbClr val="F7F6F2"/>
                </a:solidFill>
                <a:latin typeface="Inter"/>
              </a:rPr>
              <a:t> ; un point de reprise utilisé est </a:t>
            </a:r>
            <a:r>
              <a:rPr sz="1300" b="1" i="0">
                <a:solidFill>
                  <a:srgbClr val="F5A623"/>
                </a:solidFill>
                <a:latin typeface="Inter"/>
              </a:rPr>
              <a:t>déclaré</a:t>
            </a:r>
            <a:r>
              <a:rPr sz="1300" b="0" i="0">
                <a:solidFill>
                  <a:srgbClr val="F7F6F2"/>
                </a:solidFill>
                <a:latin typeface="Inter"/>
              </a:rPr>
              <a:t>.</a:t>
            </a:r>
          </a:p>
        </p:txBody>
      </p:sp>
      <p:sp>
        <p:nvSpPr>
          <p:cNvPr id="33" name="Rectangle 32"/>
          <p:cNvSpPr/>
          <p:nvPr/>
        </p:nvSpPr>
        <p:spPr>
          <a:xfrm>
            <a:off x="640080" y="2579827"/>
            <a:ext cx="5120640" cy="354665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4" name="Icône ok" descr="Icône ok"/>
          <p:cNvPicPr>
            <a:picLocks noChangeAspect="1"/>
          </p:cNvPicPr>
          <p:nvPr/>
        </p:nvPicPr>
        <p:blipFill>
          <a:blip r:embed="rId4"/>
          <a:stretch>
            <a:fillRect/>
          </a:stretch>
        </p:blipFill>
        <p:spPr>
          <a:xfrm>
            <a:off x="868680" y="2735275"/>
            <a:ext cx="310896" cy="310896"/>
          </a:xfrm>
          <a:prstGeom prst="rect">
            <a:avLst/>
          </a:prstGeom>
        </p:spPr>
      </p:pic>
      <p:sp>
        <p:nvSpPr>
          <p:cNvPr id="35" name="TextBox 34"/>
          <p:cNvSpPr txBox="1"/>
          <p:nvPr/>
        </p:nvSpPr>
        <p:spPr>
          <a:xfrm>
            <a:off x="1289304" y="2753563"/>
            <a:ext cx="4572000" cy="274320"/>
          </a:xfrm>
          <a:prstGeom prst="rect">
            <a:avLst/>
          </a:prstGeom>
          <a:noFill/>
        </p:spPr>
        <p:txBody>
          <a:bodyPr wrap="square" lIns="0" tIns="0" rIns="0" bIns="0" anchor="ctr">
            <a:spAutoFit/>
          </a:bodyPr>
          <a:lstStyle/>
          <a:p>
            <a:pPr>
              <a:lnSpc>
                <a:spcPct val="108000"/>
              </a:lnSpc>
              <a:spcAft>
                <a:spcPts val="400"/>
              </a:spcAft>
            </a:pPr>
            <a:r>
              <a:rPr sz="1300" b="1" i="0" spc="120">
                <a:solidFill>
                  <a:srgbClr val="F7F6F2"/>
                </a:solidFill>
                <a:latin typeface="Inter"/>
              </a:rPr>
              <a:t>CRITÈRES DE FIN</a:t>
            </a:r>
          </a:p>
        </p:txBody>
      </p:sp>
      <p:sp>
        <p:nvSpPr>
          <p:cNvPr id="36" name="TextBox 35"/>
          <p:cNvSpPr txBox="1"/>
          <p:nvPr/>
        </p:nvSpPr>
        <p:spPr>
          <a:xfrm>
            <a:off x="868680" y="3219907"/>
            <a:ext cx="4663440" cy="2815132"/>
          </a:xfrm>
          <a:prstGeom prst="rect">
            <a:avLst/>
          </a:prstGeom>
          <a:noFill/>
        </p:spPr>
        <p:txBody>
          <a:bodyPr wrap="square" lIns="0" tIns="0" rIns="0" bIns="0" anchor="t">
            <a:spAutoFit/>
          </a:bodyPr>
          <a:lstStyle/>
          <a:p>
            <a:pPr>
              <a:lnSpc>
                <a:spcPct val="108000"/>
              </a:lnSpc>
              <a:spcAft>
                <a:spcPts val="700"/>
              </a:spcAft>
            </a:pPr>
            <a:r>
              <a:rPr sz="1250" b="0" i="0">
                <a:solidFill>
                  <a:srgbClr val="F7F6F2"/>
                </a:solidFill>
                <a:latin typeface="Consolas"/>
              </a:rPr>
              <a:t>[ ]</a:t>
            </a:r>
            <a:r>
              <a:rPr sz="1250" b="0" i="0">
                <a:solidFill>
                  <a:srgbClr val="F7F6F2"/>
                </a:solidFill>
                <a:latin typeface="Inter"/>
              </a:rPr>
              <a:t> Un lot volontairement dégradé produit un NO_GO, le lot nominal un GO.</a:t>
            </a:r>
          </a:p>
          <a:p>
            <a:pPr>
              <a:lnSpc>
                <a:spcPct val="108000"/>
              </a:lnSpc>
              <a:spcAft>
                <a:spcPts val="700"/>
              </a:spcAft>
            </a:pPr>
            <a:r>
              <a:rPr sz="1250" b="0" i="0">
                <a:solidFill>
                  <a:srgbClr val="F7F6F2"/>
                </a:solidFill>
                <a:latin typeface="Consolas"/>
              </a:rPr>
              <a:t>[ ]</a:t>
            </a:r>
            <a:r>
              <a:rPr sz="1250" b="0" i="0">
                <a:solidFill>
                  <a:srgbClr val="F7F6F2"/>
                </a:solidFill>
                <a:latin typeface="Inter"/>
              </a:rPr>
              <a:t> La publication refuse sans certificat, avec NO_GO, et quand le gold a changé.</a:t>
            </a:r>
          </a:p>
          <a:p>
            <a:pPr>
              <a:lnSpc>
                <a:spcPct val="108000"/>
              </a:lnSpc>
              <a:spcAft>
                <a:spcPts val="700"/>
              </a:spcAft>
            </a:pPr>
            <a:r>
              <a:rPr sz="1250" b="0" i="0">
                <a:solidFill>
                  <a:srgbClr val="F7F6F2"/>
                </a:solidFill>
                <a:latin typeface="Consolas"/>
              </a:rPr>
              <a:t>[ ]</a:t>
            </a:r>
            <a:r>
              <a:rPr sz="1250" b="0" i="0">
                <a:solidFill>
                  <a:srgbClr val="F7F6F2"/>
                </a:solidFill>
                <a:latin typeface="Inter"/>
              </a:rPr>
              <a:t> Après chargement, comptage et somme de contrôle sont égaux entre gold et CRM cible.</a:t>
            </a:r>
          </a:p>
          <a:p>
            <a:pPr>
              <a:lnSpc>
                <a:spcPct val="108000"/>
              </a:lnSpc>
              <a:spcAft>
                <a:spcPts val="700"/>
              </a:spcAft>
            </a:pPr>
            <a:r>
              <a:rPr sz="1250" b="0" i="0">
                <a:solidFill>
                  <a:srgbClr val="F7F6F2"/>
                </a:solidFill>
                <a:latin typeface="Consolas"/>
              </a:rPr>
              <a:t>[ ]</a:t>
            </a:r>
            <a:r>
              <a:rPr sz="1250" b="0" i="0">
                <a:solidFill>
                  <a:srgbClr val="F7F6F2"/>
                </a:solidFill>
                <a:latin typeface="Inter"/>
              </a:rPr>
              <a:t> Chaque décision de seuil ou de sévérité est attribuée à un rôle.</a:t>
            </a:r>
          </a:p>
        </p:txBody>
      </p:sp>
      <p:sp>
        <p:nvSpPr>
          <p:cNvPr id="37" name="TextBox 36"/>
          <p:cNvSpPr txBox="1"/>
          <p:nvPr/>
        </p:nvSpPr>
        <p:spPr>
          <a:xfrm>
            <a:off x="640080" y="5852160"/>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Remplacez [ ] par [x] une fois le critère démontré.</a:t>
            </a:r>
          </a:p>
        </p:txBody>
      </p:sp>
      <p:sp>
        <p:nvSpPr>
          <p:cNvPr id="38" name="TextBox 37"/>
          <p:cNvSpPr txBox="1"/>
          <p:nvPr/>
        </p:nvSpPr>
        <p:spPr>
          <a:xfrm>
            <a:off x="5943600" y="257982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DIFFICULTÉS RENCONTRÉES ET TEMPS PERDU</a:t>
            </a:r>
          </a:p>
        </p:txBody>
      </p:sp>
      <p:sp>
        <p:nvSpPr>
          <p:cNvPr id="39" name="Zone à rédiger"/>
          <p:cNvSpPr/>
          <p:nvPr/>
        </p:nvSpPr>
        <p:spPr>
          <a:xfrm>
            <a:off x="5943600" y="2872435"/>
            <a:ext cx="5605272" cy="117043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
        <p:nvSpPr>
          <p:cNvPr id="40" name="TextBox 39"/>
          <p:cNvSpPr txBox="1"/>
          <p:nvPr/>
        </p:nvSpPr>
        <p:spPr>
          <a:xfrm>
            <a:off x="5943600" y="418002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POINT DE REPRISE UTILISÉ (OUI / NON, LEQUEL)</a:t>
            </a:r>
          </a:p>
        </p:txBody>
      </p:sp>
      <p:sp>
        <p:nvSpPr>
          <p:cNvPr id="41" name="Zone à rédiger"/>
          <p:cNvSpPr/>
          <p:nvPr/>
        </p:nvSpPr>
        <p:spPr>
          <a:xfrm>
            <a:off x="5943600" y="4472635"/>
            <a:ext cx="5605272" cy="62179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
        <p:nvSpPr>
          <p:cNvPr id="42" name="TextBox 41"/>
          <p:cNvSpPr txBox="1"/>
          <p:nvPr/>
        </p:nvSpPr>
        <p:spPr>
          <a:xfrm>
            <a:off x="5943600" y="5231587"/>
            <a:ext cx="560527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CE QUE NOUS FERIONS AUTREMENT</a:t>
            </a:r>
          </a:p>
        </p:txBody>
      </p:sp>
      <p:sp>
        <p:nvSpPr>
          <p:cNvPr id="43" name="Zone à rédiger"/>
          <p:cNvSpPr/>
          <p:nvPr/>
        </p:nvSpPr>
        <p:spPr>
          <a:xfrm>
            <a:off x="5943600" y="5524195"/>
            <a:ext cx="5605272" cy="602284"/>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2"/>
          </p:nvPr>
        </p:nvSpPr>
        <p:spPr/>
        <p:txBody>
          <a:bodyPr/>
          <a:lstStyle/>
          <a:p>
            <a:r>
              <a:t>06</a:t>
            </a:r>
          </a:p>
        </p:txBody>
      </p:sp>
      <p:sp>
        <p:nvSpPr>
          <p:cNvPr id="3" name="Title 2"/>
          <p:cNvSpPr>
            <a:spLocks noGrp="1"/>
          </p:cNvSpPr>
          <p:nvPr>
            <p:ph type="title" idx="103"/>
          </p:nvPr>
        </p:nvSpPr>
        <p:spPr/>
        <p:txBody>
          <a:bodyPr/>
          <a:lstStyle/>
          <a:p>
            <a:r>
              <a:t>Dossier go/no-go</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39</a:t>
            </a:fld>
            <a:endParaRPr lang="en-US"/>
          </a:p>
        </p:txBody>
      </p:sp>
      <p:sp>
        <p:nvSpPr>
          <p:cNvPr id="26" name="TextBox 25"/>
          <p:cNvSpPr txBox="1"/>
          <p:nvPr/>
        </p:nvSpPr>
        <p:spPr>
          <a:xfrm>
            <a:off x="640080" y="4892040"/>
            <a:ext cx="6400800" cy="1097280"/>
          </a:xfrm>
          <a:prstGeom prst="rect">
            <a:avLst/>
          </a:prstGeom>
          <a:noFill/>
        </p:spPr>
        <p:txBody>
          <a:bodyPr wrap="square" lIns="0" tIns="0" rIns="0" bIns="0" anchor="t">
            <a:spAutoFit/>
          </a:bodyPr>
          <a:lstStyle/>
          <a:p>
            <a:pPr>
              <a:lnSpc>
                <a:spcPct val="115000"/>
              </a:lnSpc>
              <a:spcAft>
                <a:spcPts val="400"/>
              </a:spcAft>
            </a:pPr>
            <a:r>
              <a:rPr sz="1600" b="0" i="0">
                <a:solidFill>
                  <a:srgbClr val="B8C0C8"/>
                </a:solidFill>
                <a:latin typeface="Inter"/>
              </a:rPr>
              <a:t>Destinataire : la Directrice Générale. Un rapport court, sans jargon, quatre pages au plus hors annexes.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Recommandation</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40</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DOSSIER · 1 SUR 4</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GOUVERNANCE ET DÉCISION · 15 %</a:t>
            </a:r>
          </a:p>
        </p:txBody>
      </p:sp>
      <p:sp>
        <p:nvSpPr>
          <p:cNvPr id="28"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La </a:t>
            </a:r>
            <a:r>
              <a:rPr sz="1300" b="1" i="0">
                <a:solidFill>
                  <a:srgbClr val="F5A623"/>
                </a:solidFill>
                <a:latin typeface="Inter"/>
              </a:rPr>
              <a:t>recommandation</a:t>
            </a:r>
            <a:r>
              <a:rPr sz="1300" b="0" i="0">
                <a:solidFill>
                  <a:srgbClr val="F7F6F2"/>
                </a:solidFill>
                <a:latin typeface="Inter"/>
              </a:rPr>
              <a:t> : GO, NO-GO ou GO sous conditions, dite en une phrase.</a:t>
            </a:r>
          </a:p>
          <a:p>
            <a:pPr marL="182880" indent="-182880">
              <a:lnSpc>
                <a:spcPct val="108000"/>
              </a:lnSpc>
              <a:spcAft>
                <a:spcPts val="300"/>
              </a:spcAft>
              <a:buClr>
                <a:srgbClr val="F5A623"/>
              </a:buClr>
              <a:buChar char="•"/>
            </a:pPr>
            <a:r>
              <a:rPr sz="1300" b="1" i="0">
                <a:solidFill>
                  <a:srgbClr val="F5A623"/>
                </a:solidFill>
                <a:latin typeface="Inter"/>
              </a:rPr>
              <a:t>Trois raisons chiffrées</a:t>
            </a:r>
            <a:r>
              <a:rPr sz="1300" b="0" i="0">
                <a:solidFill>
                  <a:srgbClr val="F7F6F2"/>
                </a:solidFill>
                <a:latin typeface="Inter"/>
              </a:rPr>
              <a:t>, chacune avec sa preuve dans le dépôt.</a:t>
            </a:r>
          </a:p>
          <a:p>
            <a:pPr marL="182880" indent="-182880">
              <a:lnSpc>
                <a:spcPct val="108000"/>
              </a:lnSpc>
              <a:spcAft>
                <a:spcPts val="300"/>
              </a:spcAft>
              <a:buClr>
                <a:srgbClr val="F5A623"/>
              </a:buClr>
              <a:buChar char="•"/>
            </a:pPr>
            <a:r>
              <a:rPr sz="1300" b="0" i="0">
                <a:solidFill>
                  <a:srgbClr val="F7F6F2"/>
                </a:solidFill>
                <a:latin typeface="Inter"/>
              </a:rPr>
              <a:t>Lisible par une </a:t>
            </a:r>
            <a:r>
              <a:rPr sz="1300" b="1" i="0">
                <a:solidFill>
                  <a:srgbClr val="F5A623"/>
                </a:solidFill>
                <a:latin typeface="Inter"/>
              </a:rPr>
              <a:t>non-technicienne</a:t>
            </a:r>
            <a:r>
              <a:rPr sz="1300" b="0" i="0">
                <a:solidFill>
                  <a:srgbClr val="F7F6F2"/>
                </a:solidFill>
                <a:latin typeface="Inter"/>
              </a:rPr>
              <a:t> : aucun sigle sans définition.</a:t>
            </a:r>
          </a:p>
        </p:txBody>
      </p:sp>
      <p:sp>
        <p:nvSpPr>
          <p:cNvPr id="33" name="TextBox 32"/>
          <p:cNvSpPr txBox="1"/>
          <p:nvPr/>
        </p:nvSpPr>
        <p:spPr>
          <a:xfrm>
            <a:off x="640080" y="2831896"/>
            <a:ext cx="1090879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RECOMMANDATION</a:t>
            </a:r>
          </a:p>
        </p:txBody>
      </p:sp>
      <p:sp>
        <p:nvSpPr>
          <p:cNvPr id="34" name="Zone à rédiger"/>
          <p:cNvSpPr/>
          <p:nvPr/>
        </p:nvSpPr>
        <p:spPr>
          <a:xfrm>
            <a:off x="640080" y="3124504"/>
            <a:ext cx="10908792" cy="804671"/>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[GO, NO-GO ou GO sous conditions : une phrase]</a:t>
            </a:r>
          </a:p>
        </p:txBody>
      </p:sp>
      <p:sp>
        <p:nvSpPr>
          <p:cNvPr id="35" name="TextBox 34"/>
          <p:cNvSpPr txBox="1"/>
          <p:nvPr/>
        </p:nvSpPr>
        <p:spPr>
          <a:xfrm>
            <a:off x="640080" y="4066336"/>
            <a:ext cx="3514344"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RAISON CHIFFRÉE 1</a:t>
            </a:r>
          </a:p>
        </p:txBody>
      </p:sp>
      <p:sp>
        <p:nvSpPr>
          <p:cNvPr id="36" name="Zone à rédiger"/>
          <p:cNvSpPr/>
          <p:nvPr/>
        </p:nvSpPr>
        <p:spPr>
          <a:xfrm>
            <a:off x="640080" y="4358944"/>
            <a:ext cx="3514344" cy="1767535"/>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[Chiffre, couche, preuve]</a:t>
            </a:r>
          </a:p>
        </p:txBody>
      </p:sp>
      <p:sp>
        <p:nvSpPr>
          <p:cNvPr id="37" name="TextBox 36"/>
          <p:cNvSpPr txBox="1"/>
          <p:nvPr/>
        </p:nvSpPr>
        <p:spPr>
          <a:xfrm>
            <a:off x="4337304" y="4066336"/>
            <a:ext cx="3514344"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RAISON CHIFFRÉE 2</a:t>
            </a:r>
          </a:p>
        </p:txBody>
      </p:sp>
      <p:sp>
        <p:nvSpPr>
          <p:cNvPr id="38" name="Zone à rédiger"/>
          <p:cNvSpPr/>
          <p:nvPr/>
        </p:nvSpPr>
        <p:spPr>
          <a:xfrm>
            <a:off x="4337304" y="4358944"/>
            <a:ext cx="3514344" cy="1767535"/>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[Chiffre, couche, preuve]</a:t>
            </a:r>
          </a:p>
        </p:txBody>
      </p:sp>
      <p:sp>
        <p:nvSpPr>
          <p:cNvPr id="39" name="TextBox 38"/>
          <p:cNvSpPr txBox="1"/>
          <p:nvPr/>
        </p:nvSpPr>
        <p:spPr>
          <a:xfrm>
            <a:off x="8034527" y="4066336"/>
            <a:ext cx="3514344"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RAISON CHIFFRÉE 3</a:t>
            </a:r>
          </a:p>
        </p:txBody>
      </p:sp>
      <p:sp>
        <p:nvSpPr>
          <p:cNvPr id="40" name="Zone à rédiger"/>
          <p:cNvSpPr/>
          <p:nvPr/>
        </p:nvSpPr>
        <p:spPr>
          <a:xfrm>
            <a:off x="8034527" y="4358944"/>
            <a:ext cx="3514344" cy="1767535"/>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[Chiffre, couche, preuve]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Les preuves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41</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DOSSIER · 2 SUR 4</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GOUVERNANCE ET DÉCISION · 15 %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La qualité </a:t>
            </a:r>
            <a:r>
              <a:rPr sz="1300" b="1" i="0">
                <a:solidFill>
                  <a:srgbClr val="F5A623"/>
                </a:solidFill>
                <a:latin typeface="Inter"/>
              </a:rPr>
              <a:t>par dimension et par couche</a:t>
            </a:r>
            <a:r>
              <a:rPr sz="1300" b="0" i="0">
                <a:solidFill>
                  <a:srgbClr val="F7F6F2"/>
                </a:solidFill>
                <a:latin typeface="Inter"/>
              </a:rPr>
              <a:t>, face au </a:t>
            </a:r>
            <a:r>
              <a:rPr sz="1300" b="1" i="0">
                <a:solidFill>
                  <a:srgbClr val="F5A623"/>
                </a:solidFill>
                <a:latin typeface="Inter"/>
              </a:rPr>
              <a:t>seuil visé</a:t>
            </a:r>
            <a:r>
              <a:rPr sz="1300" b="0" i="0">
                <a:solidFill>
                  <a:srgbClr val="F7F6F2"/>
                </a:solidFill>
                <a:latin typeface="Inter"/>
              </a:rPr>
              <a:t>.</a:t>
            </a:r>
          </a:p>
          <a:p>
            <a:pPr marL="182880" indent="-182880">
              <a:lnSpc>
                <a:spcPct val="108000"/>
              </a:lnSpc>
              <a:spcAft>
                <a:spcPts val="300"/>
              </a:spcAft>
              <a:buClr>
                <a:srgbClr val="F5A623"/>
              </a:buClr>
              <a:buChar char="•"/>
            </a:pPr>
            <a:r>
              <a:rPr sz="1300" b="0" i="0">
                <a:solidFill>
                  <a:srgbClr val="F7F6F2"/>
                </a:solidFill>
                <a:latin typeface="Inter"/>
              </a:rPr>
              <a:t>Le </a:t>
            </a:r>
            <a:r>
              <a:rPr sz="1300" b="1" i="0">
                <a:solidFill>
                  <a:srgbClr val="F5A623"/>
                </a:solidFill>
                <a:latin typeface="Inter"/>
              </a:rPr>
              <a:t>certificat</a:t>
            </a:r>
            <a:r>
              <a:rPr sz="1300" b="0" i="0">
                <a:solidFill>
                  <a:srgbClr val="F7F6F2"/>
                </a:solidFill>
                <a:latin typeface="Inter"/>
              </a:rPr>
              <a:t> joint (numéro, décision, empreinte) et les </a:t>
            </a:r>
            <a:r>
              <a:rPr sz="1300" b="1" i="0">
                <a:solidFill>
                  <a:srgbClr val="F5A623"/>
                </a:solidFill>
                <a:latin typeface="Inter"/>
              </a:rPr>
              <a:t>trois données retracées</a:t>
            </a:r>
            <a:r>
              <a:rPr sz="1300" b="0" i="0">
                <a:solidFill>
                  <a:srgbClr val="F7F6F2"/>
                </a:solidFill>
                <a:latin typeface="Inter"/>
              </a:rPr>
              <a:t> en trois lignes.</a:t>
            </a:r>
          </a:p>
        </p:txBody>
      </p:sp>
      <p:graphicFrame>
        <p:nvGraphicFramePr>
          <p:cNvPr id="33" name="Table 32"/>
          <p:cNvGraphicFramePr>
            <a:graphicFrameLocks noGrp="1"/>
          </p:cNvGraphicFramePr>
          <p:nvPr/>
        </p:nvGraphicFramePr>
        <p:xfrm>
          <a:off x="640080" y="2534107"/>
          <a:ext cx="10908791" cy="1828800"/>
        </p:xfrm>
        <a:graphic>
          <a:graphicData uri="http://schemas.openxmlformats.org/drawingml/2006/table">
            <a:tbl>
              <a:tblPr/>
              <a:tblGrid>
                <a:gridCol w="237744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gridCol w="1856231">
                  <a:extLst>
                    <a:ext uri="{9D8B030D-6E8A-4147-A177-3AD203B41FA5}">
                      <a16:colId xmlns:a16="http://schemas.microsoft.com/office/drawing/2014/main" val="20005"/>
                    </a:ext>
                  </a:extLst>
                </a:gridCol>
              </a:tblGrid>
              <a:tr h="365760">
                <a:tc>
                  <a:txBody>
                    <a:bodyPr/>
                    <a:lstStyle/>
                    <a:p>
                      <a:r>
                        <a:rPr sz="1100" b="1" i="0" spc="60">
                          <a:solidFill>
                            <a:srgbClr val="F5A623"/>
                          </a:solidFill>
                          <a:latin typeface="Inter"/>
                        </a:rPr>
                        <a:t>Dimension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Bronze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Silver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Gold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Seuil visé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Atteint ?</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65760">
                <a:tc>
                  <a:txBody>
                    <a:bodyPr/>
                    <a:lstStyle/>
                    <a:p>
                      <a:r>
                        <a:rPr sz="1200" b="1" i="0">
                          <a:solidFill>
                            <a:srgbClr val="F7F6F2"/>
                          </a:solidFill>
                          <a:latin typeface="Inter"/>
                        </a:rPr>
                        <a:t>Unicité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65760">
                <a:tc>
                  <a:txBody>
                    <a:bodyPr/>
                    <a:lstStyle/>
                    <a:p>
                      <a:r>
                        <a:rPr sz="1200" b="1" i="0">
                          <a:solidFill>
                            <a:srgbClr val="F7F6F2"/>
                          </a:solidFill>
                          <a:latin typeface="Inter"/>
                        </a:rPr>
                        <a:t>Complétude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65760">
                <a:tc>
                  <a:txBody>
                    <a:bodyPr/>
                    <a:lstStyle/>
                    <a:p>
                      <a:r>
                        <a:rPr sz="1200" b="1" i="0">
                          <a:solidFill>
                            <a:srgbClr val="F7F6F2"/>
                          </a:solidFill>
                          <a:latin typeface="Inter"/>
                        </a:rPr>
                        <a:t>Validité</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65760">
                <a:tc>
                  <a:txBody>
                    <a:bodyPr/>
                    <a:lstStyle/>
                    <a:p>
                      <a:r>
                        <a:rPr sz="1200" b="1" i="0">
                          <a:solidFill>
                            <a:srgbClr val="F7F6F2"/>
                          </a:solidFill>
                          <a:latin typeface="Inter"/>
                        </a:rPr>
                        <a:t>Cohérence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sp>
        <p:nvSpPr>
          <p:cNvPr id="34" name="TextBox 33"/>
          <p:cNvSpPr txBox="1"/>
          <p:nvPr/>
        </p:nvSpPr>
        <p:spPr>
          <a:xfrm>
            <a:off x="640080" y="4500067"/>
            <a:ext cx="534924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CERTIFICAT JOINT</a:t>
            </a:r>
          </a:p>
        </p:txBody>
      </p:sp>
      <p:sp>
        <p:nvSpPr>
          <p:cNvPr id="35" name="Zone à rédiger"/>
          <p:cNvSpPr/>
          <p:nvPr/>
        </p:nvSpPr>
        <p:spPr>
          <a:xfrm>
            <a:off x="640080" y="4792675"/>
            <a:ext cx="5349240" cy="1333804"/>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[Numéro, décision, empreinte]</a:t>
            </a:r>
          </a:p>
        </p:txBody>
      </p:sp>
      <p:sp>
        <p:nvSpPr>
          <p:cNvPr id="36" name="TextBox 35"/>
          <p:cNvSpPr txBox="1"/>
          <p:nvPr/>
        </p:nvSpPr>
        <p:spPr>
          <a:xfrm>
            <a:off x="6199632" y="4500067"/>
            <a:ext cx="534924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TROIS DONNÉES RETRACÉES, EN TROIS LIGNES</a:t>
            </a:r>
          </a:p>
        </p:txBody>
      </p:sp>
      <p:sp>
        <p:nvSpPr>
          <p:cNvPr id="37" name="Zone à rédiger"/>
          <p:cNvSpPr/>
          <p:nvPr/>
        </p:nvSpPr>
        <p:spPr>
          <a:xfrm>
            <a:off x="6199632" y="4792675"/>
            <a:ext cx="5349240" cy="1333804"/>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Les écarts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42</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DOSSIER · 3 SUR 4</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GOUVERNANCE ET DÉCISION · 15 %</a:t>
            </a:r>
          </a:p>
        </p:txBody>
      </p:sp>
      <p:sp>
        <p:nvSpPr>
          <p:cNvPr id="28"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anomalies résiduelles</a:t>
            </a:r>
            <a:r>
              <a:rPr sz="1300" b="0" i="0">
                <a:solidFill>
                  <a:srgbClr val="F7F6F2"/>
                </a:solidFill>
                <a:latin typeface="Inter"/>
              </a:rPr>
              <a:t> chiffrées, les lignes en </a:t>
            </a:r>
            <a:r>
              <a:rPr sz="1300" b="1" i="0">
                <a:solidFill>
                  <a:srgbClr val="F5A623"/>
                </a:solidFill>
                <a:latin typeface="Inter"/>
              </a:rPr>
              <a:t>quarantaine par règle</a:t>
            </a:r>
            <a:r>
              <a:rPr sz="1300" b="0" i="0">
                <a:solidFill>
                  <a:srgbClr val="F7F6F2"/>
                </a:solidFill>
                <a:latin typeface="Inter"/>
              </a:rPr>
              <a:t>, les </a:t>
            </a:r>
            <a:r>
              <a:rPr sz="1300" b="1" i="0">
                <a:solidFill>
                  <a:srgbClr val="F5A623"/>
                </a:solidFill>
                <a:latin typeface="Inter"/>
              </a:rPr>
              <a:t>avertissements</a:t>
            </a:r>
            <a:r>
              <a:rPr sz="1300" b="0" i="0">
                <a:solidFill>
                  <a:srgbClr val="F7F6F2"/>
                </a:solidFill>
                <a:latin typeface="Inter"/>
              </a:rPr>
              <a:t> restants.</a:t>
            </a:r>
          </a:p>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hypothèses à faire valider</a:t>
            </a:r>
            <a:r>
              <a:rPr sz="1300" b="0" i="0">
                <a:solidFill>
                  <a:srgbClr val="F7F6F2"/>
                </a:solidFill>
                <a:latin typeface="Inter"/>
              </a:rPr>
              <a:t> par le métier : listées, jamais cachées.</a:t>
            </a:r>
          </a:p>
        </p:txBody>
      </p:sp>
      <p:graphicFrame>
        <p:nvGraphicFramePr>
          <p:cNvPr id="33" name="Table 32"/>
          <p:cNvGraphicFramePr>
            <a:graphicFrameLocks noGrp="1"/>
          </p:cNvGraphicFramePr>
          <p:nvPr/>
        </p:nvGraphicFramePr>
        <p:xfrm>
          <a:off x="640080" y="2534107"/>
          <a:ext cx="10908792" cy="1828800"/>
        </p:xfrm>
        <a:graphic>
          <a:graphicData uri="http://schemas.openxmlformats.org/drawingml/2006/table">
            <a:tbl>
              <a:tblPr/>
              <a:tblGrid>
                <a:gridCol w="32004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3136392">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365760">
                <a:tc>
                  <a:txBody>
                    <a:bodyPr/>
                    <a:lstStyle/>
                    <a:p>
                      <a:r>
                        <a:rPr sz="1050" b="1" i="0" spc="60">
                          <a:solidFill>
                            <a:srgbClr val="F5A623"/>
                          </a:solidFill>
                          <a:latin typeface="Inter"/>
                        </a:rPr>
                        <a:t>Écart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Chiffre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Règle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Conséquence pour le CRM</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Qui doit agir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65760">
                <a:tc>
                  <a:txBody>
                    <a:bodyPr/>
                    <a:lstStyle/>
                    <a:p>
                      <a:r>
                        <a:rPr sz="1150" b="1" i="0">
                          <a:solidFill>
                            <a:srgbClr val="F7F6F2"/>
                          </a:solidFill>
                          <a:latin typeface="Inter"/>
                        </a:rPr>
                        <a:t>Anomalies résiduelles dans gold</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65760">
                <a:tc>
                  <a:txBody>
                    <a:bodyPr/>
                    <a:lstStyle/>
                    <a:p>
                      <a:r>
                        <a:rPr sz="1150" b="1" i="0">
                          <a:solidFill>
                            <a:srgbClr val="F7F6F2"/>
                          </a:solidFill>
                          <a:latin typeface="Inter"/>
                        </a:rPr>
                        <a:t>Lignes en quarantaine, par règle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65760">
                <a:tc>
                  <a:txBody>
                    <a:bodyPr/>
                    <a:lstStyle/>
                    <a:p>
                      <a:r>
                        <a:rPr sz="1150" b="1" i="0">
                          <a:solidFill>
                            <a:srgbClr val="F7F6F2"/>
                          </a:solidFill>
                          <a:latin typeface="Inter"/>
                        </a:rPr>
                        <a:t>Avertissements restants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65760">
                <a:tc>
                  <a:txBody>
                    <a:bodyPr/>
                    <a:lstStyle/>
                    <a:p>
                      <a:r>
                        <a:rPr sz="1150" b="1" i="0">
                          <a:solidFill>
                            <a:srgbClr val="F7F6F2"/>
                          </a:solidFill>
                          <a:latin typeface="Inter"/>
                        </a:rPr>
                        <a:t>Règles non couvertes par le certificat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bl>
          </a:graphicData>
        </a:graphic>
      </p:graphicFrame>
      <p:sp>
        <p:nvSpPr>
          <p:cNvPr id="34" name="TextBox 33"/>
          <p:cNvSpPr txBox="1"/>
          <p:nvPr/>
        </p:nvSpPr>
        <p:spPr>
          <a:xfrm>
            <a:off x="640080" y="4500067"/>
            <a:ext cx="1090879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HYPOTHÈSES À FAIRE VALIDER PAR LE MÉTIER</a:t>
            </a:r>
          </a:p>
        </p:txBody>
      </p:sp>
      <p:sp>
        <p:nvSpPr>
          <p:cNvPr id="35" name="Zone à rédiger"/>
          <p:cNvSpPr/>
          <p:nvPr/>
        </p:nvSpPr>
        <p:spPr>
          <a:xfrm>
            <a:off x="640080" y="4792675"/>
            <a:ext cx="10908792" cy="1333804"/>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[Listez-les, une par ligne]</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La décision</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43</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DOSSIER · 4 SUR 4</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GOUVERNANCE ET DÉCISION · 15 %</a:t>
            </a:r>
          </a:p>
        </p:txBody>
      </p:sp>
      <p:sp>
        <p:nvSpPr>
          <p:cNvPr id="28" name="Attendu"/>
          <p:cNvSpPr/>
          <p:nvPr/>
        </p:nvSpPr>
        <p:spPr>
          <a:xfrm>
            <a:off x="640080" y="1325880"/>
            <a:ext cx="10908792" cy="13231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3231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8202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seuils retenus</a:t>
            </a:r>
            <a:r>
              <a:rPr sz="1300" b="0" i="0">
                <a:solidFill>
                  <a:srgbClr val="F7F6F2"/>
                </a:solidFill>
                <a:latin typeface="Inter"/>
              </a:rPr>
              <a:t>, justifiés devant le </a:t>
            </a:r>
            <a:r>
              <a:rPr sz="1300" b="1" i="0">
                <a:solidFill>
                  <a:srgbClr val="F5A623"/>
                </a:solidFill>
                <a:latin typeface="Inter"/>
              </a:rPr>
              <a:t>Data Owner</a:t>
            </a:r>
            <a:r>
              <a:rPr sz="1300" b="0" i="0">
                <a:solidFill>
                  <a:srgbClr val="F7F6F2"/>
                </a:solidFill>
                <a:latin typeface="Inter"/>
              </a:rPr>
              <a:t> (numéros du journal des décisions).</a:t>
            </a:r>
          </a:p>
          <a:p>
            <a:pPr marL="182880" indent="-182880">
              <a:lnSpc>
                <a:spcPct val="108000"/>
              </a:lnSpc>
              <a:spcAft>
                <a:spcPts val="300"/>
              </a:spcAft>
              <a:buClr>
                <a:srgbClr val="F5A623"/>
              </a:buClr>
              <a:buChar char="•"/>
            </a:pPr>
            <a:r>
              <a:rPr sz="1300" b="0" i="0">
                <a:solidFill>
                  <a:srgbClr val="F7F6F2"/>
                </a:solidFill>
                <a:latin typeface="Inter"/>
              </a:rPr>
              <a:t>Les </a:t>
            </a:r>
            <a:r>
              <a:rPr sz="1300" b="1" i="0">
                <a:solidFill>
                  <a:srgbClr val="F5A623"/>
                </a:solidFill>
                <a:latin typeface="Inter"/>
              </a:rPr>
              <a:t>rôles</a:t>
            </a:r>
            <a:r>
              <a:rPr sz="1300" b="0" i="0">
                <a:solidFill>
                  <a:srgbClr val="F7F6F2"/>
                </a:solidFill>
                <a:latin typeface="Inter"/>
              </a:rPr>
              <a:t> : qui décide, qui contrôle, qui exécute ; les </a:t>
            </a:r>
            <a:r>
              <a:rPr sz="1300" b="1" i="0">
                <a:solidFill>
                  <a:srgbClr val="F5A623"/>
                </a:solidFill>
                <a:latin typeface="Inter"/>
              </a:rPr>
              <a:t>conditions</a:t>
            </a:r>
            <a:r>
              <a:rPr sz="1300" b="0" i="0">
                <a:solidFill>
                  <a:srgbClr val="F7F6F2"/>
                </a:solidFill>
                <a:latin typeface="Inter"/>
              </a:rPr>
              <a:t> à lever, avec échéance et responsable.</a:t>
            </a:r>
          </a:p>
          <a:p>
            <a:pPr marL="182880" indent="-182880">
              <a:lnSpc>
                <a:spcPct val="108000"/>
              </a:lnSpc>
              <a:spcAft>
                <a:spcPts val="300"/>
              </a:spcAft>
              <a:buClr>
                <a:srgbClr val="F5A623"/>
              </a:buClr>
              <a:buChar char="•"/>
            </a:pPr>
            <a:r>
              <a:rPr sz="1300" b="0" i="0">
                <a:solidFill>
                  <a:srgbClr val="F7F6F2"/>
                </a:solidFill>
                <a:latin typeface="Inter"/>
              </a:rPr>
              <a:t>La </a:t>
            </a:r>
            <a:r>
              <a:rPr sz="1300" b="1" i="0">
                <a:solidFill>
                  <a:srgbClr val="F5A623"/>
                </a:solidFill>
                <a:latin typeface="Inter"/>
              </a:rPr>
              <a:t>signature</a:t>
            </a:r>
            <a:r>
              <a:rPr sz="1300" b="0" i="0">
                <a:solidFill>
                  <a:srgbClr val="F7F6F2"/>
                </a:solidFill>
                <a:latin typeface="Inter"/>
              </a:rPr>
              <a:t> du Data Owner.</a:t>
            </a:r>
          </a:p>
        </p:txBody>
      </p:sp>
      <p:sp>
        <p:nvSpPr>
          <p:cNvPr id="33" name="TextBox 32"/>
          <p:cNvSpPr txBox="1"/>
          <p:nvPr/>
        </p:nvSpPr>
        <p:spPr>
          <a:xfrm>
            <a:off x="640080" y="2831896"/>
            <a:ext cx="534924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SEUILS RETENUS ET JUSTIFICATION</a:t>
            </a:r>
          </a:p>
        </p:txBody>
      </p:sp>
      <p:sp>
        <p:nvSpPr>
          <p:cNvPr id="34" name="Zone à rédiger"/>
          <p:cNvSpPr/>
          <p:nvPr/>
        </p:nvSpPr>
        <p:spPr>
          <a:xfrm>
            <a:off x="640080" y="3124504"/>
            <a:ext cx="5349240" cy="107899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[Renvoi au journal, numéros]</a:t>
            </a:r>
          </a:p>
        </p:txBody>
      </p:sp>
      <p:sp>
        <p:nvSpPr>
          <p:cNvPr id="35" name="TextBox 34"/>
          <p:cNvSpPr txBox="1"/>
          <p:nvPr/>
        </p:nvSpPr>
        <p:spPr>
          <a:xfrm>
            <a:off x="6199632" y="2831896"/>
            <a:ext cx="5349240"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RÔLES : DÉCIDE, CONTRÔLE, EXÉCUTE</a:t>
            </a:r>
          </a:p>
        </p:txBody>
      </p:sp>
      <p:sp>
        <p:nvSpPr>
          <p:cNvPr id="36" name="Zone à rédiger"/>
          <p:cNvSpPr/>
          <p:nvPr/>
        </p:nvSpPr>
        <p:spPr>
          <a:xfrm>
            <a:off x="6199632" y="3124504"/>
            <a:ext cx="5349240" cy="1078992"/>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[Rédigez ici]</a:t>
            </a:r>
          </a:p>
        </p:txBody>
      </p:sp>
      <p:graphicFrame>
        <p:nvGraphicFramePr>
          <p:cNvPr id="37" name="Table 36"/>
          <p:cNvGraphicFramePr>
            <a:graphicFrameLocks noGrp="1"/>
          </p:cNvGraphicFramePr>
          <p:nvPr/>
        </p:nvGraphicFramePr>
        <p:xfrm>
          <a:off x="640080" y="4340656"/>
          <a:ext cx="10908792" cy="1042416"/>
        </p:xfrm>
        <a:graphic>
          <a:graphicData uri="http://schemas.openxmlformats.org/drawingml/2006/table">
            <a:tbl>
              <a:tblPr/>
              <a:tblGrid>
                <a:gridCol w="621792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2130552">
                  <a:extLst>
                    <a:ext uri="{9D8B030D-6E8A-4147-A177-3AD203B41FA5}">
                      <a16:colId xmlns:a16="http://schemas.microsoft.com/office/drawing/2014/main" val="20002"/>
                    </a:ext>
                  </a:extLst>
                </a:gridCol>
              </a:tblGrid>
              <a:tr h="347472">
                <a:tc>
                  <a:txBody>
                    <a:bodyPr/>
                    <a:lstStyle/>
                    <a:p>
                      <a:r>
                        <a:rPr sz="1050" b="1" i="0" spc="60">
                          <a:solidFill>
                            <a:srgbClr val="F5A623"/>
                          </a:solidFill>
                          <a:latin typeface="Inter"/>
                        </a:rPr>
                        <a:t>Condition à lever avant migration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Responsable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050" b="1" i="0" spc="60">
                          <a:solidFill>
                            <a:srgbClr val="F5A623"/>
                          </a:solidFill>
                          <a:latin typeface="Inter"/>
                        </a:rPr>
                        <a:t>Échéance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1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bl>
          </a:graphicData>
        </a:graphic>
      </p:graphicFrame>
      <p:sp>
        <p:nvSpPr>
          <p:cNvPr id="38" name="TextBox 37"/>
          <p:cNvSpPr txBox="1"/>
          <p:nvPr/>
        </p:nvSpPr>
        <p:spPr>
          <a:xfrm>
            <a:off x="640080" y="5520232"/>
            <a:ext cx="10908792" cy="256032"/>
          </a:xfrm>
          <a:prstGeom prst="rect">
            <a:avLst/>
          </a:prstGeom>
          <a:noFill/>
        </p:spPr>
        <p:txBody>
          <a:bodyPr wrap="square" lIns="0" tIns="0" rIns="0" bIns="0" anchor="ctr">
            <a:spAutoFit/>
          </a:bodyPr>
          <a:lstStyle/>
          <a:p>
            <a:pPr>
              <a:lnSpc>
                <a:spcPct val="108000"/>
              </a:lnSpc>
              <a:spcAft>
                <a:spcPts val="400"/>
              </a:spcAft>
            </a:pPr>
            <a:r>
              <a:rPr sz="1100" b="1" i="0" spc="120">
                <a:solidFill>
                  <a:srgbClr val="F5A623"/>
                </a:solidFill>
                <a:latin typeface="Inter"/>
              </a:rPr>
              <a:t>SIGNATURE DU DATA OWNER (NOM, RÔLE, DATE)</a:t>
            </a:r>
          </a:p>
        </p:txBody>
      </p:sp>
      <p:sp>
        <p:nvSpPr>
          <p:cNvPr id="39" name="Zone à rédiger"/>
          <p:cNvSpPr/>
          <p:nvPr/>
        </p:nvSpPr>
        <p:spPr>
          <a:xfrm>
            <a:off x="640080" y="5812840"/>
            <a:ext cx="10908792" cy="313639"/>
          </a:xfrm>
          <a:prstGeom prst="rect">
            <a:avLst/>
          </a:prstGeom>
          <a:solidFill>
            <a:srgbClr val="2E2916"/>
          </a:solidFill>
          <a:ln w="12700">
            <a:solidFill>
              <a:srgbClr val="F5A623"/>
            </a:solidFill>
            <a:prstDash val="dash"/>
          </a:ln>
          <a:effectLst/>
        </p:spPr>
        <p:style>
          <a:lnRef idx="1">
            <a:schemeClr val="accent1"/>
          </a:lnRef>
          <a:fillRef idx="3">
            <a:schemeClr val="accent1"/>
          </a:fillRef>
          <a:effectRef idx="2">
            <a:schemeClr val="accent1"/>
          </a:effectRef>
          <a:fontRef idx="minor">
            <a:schemeClr val="lt1"/>
          </a:fontRef>
        </p:style>
        <p:txBody>
          <a:bodyPr wrap="square" lIns="137160" tIns="73152" rIns="137160" bIns="73152" rtlCol="0" anchor="t"/>
          <a:lstStyle/>
          <a:p>
            <a:pPr algn="l"/>
            <a:r>
              <a:rPr sz="1200" i="1">
                <a:solidFill>
                  <a:srgbClr val="8E99A4"/>
                </a:solidFill>
                <a:latin typeface="Inter"/>
              </a:rPr>
              <a:t>[Nom, rôle, date]</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02"/>
          </p:nvPr>
        </p:nvSpPr>
        <p:spPr/>
        <p:txBody>
          <a:bodyPr/>
          <a:lstStyle/>
          <a:p>
            <a:r>
              <a:t>07</a:t>
            </a:r>
          </a:p>
        </p:txBody>
      </p:sp>
      <p:sp>
        <p:nvSpPr>
          <p:cNvPr id="3" name="Title 2"/>
          <p:cNvSpPr>
            <a:spLocks noGrp="1"/>
          </p:cNvSpPr>
          <p:nvPr>
            <p:ph type="title" idx="103"/>
          </p:nvPr>
        </p:nvSpPr>
        <p:spPr/>
        <p:txBody>
          <a:bodyPr/>
          <a:lstStyle/>
          <a:p>
            <a:r>
              <a:t>Annexes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44</a:t>
            </a:fld>
            <a:endParaRPr lang="en-US"/>
          </a:p>
        </p:txBody>
      </p:sp>
      <p:sp>
        <p:nvSpPr>
          <p:cNvPr id="26" name="TextBox 25"/>
          <p:cNvSpPr txBox="1"/>
          <p:nvPr/>
        </p:nvSpPr>
        <p:spPr>
          <a:xfrm>
            <a:off x="640080" y="4892040"/>
            <a:ext cx="6400800" cy="1097280"/>
          </a:xfrm>
          <a:prstGeom prst="rect">
            <a:avLst/>
          </a:prstGeom>
          <a:noFill/>
        </p:spPr>
        <p:txBody>
          <a:bodyPr wrap="square" lIns="0" tIns="0" rIns="0" bIns="0" anchor="t">
            <a:spAutoFit/>
          </a:bodyPr>
          <a:lstStyle/>
          <a:p>
            <a:pPr>
              <a:lnSpc>
                <a:spcPct val="115000"/>
              </a:lnSpc>
              <a:spcAft>
                <a:spcPts val="400"/>
              </a:spcAft>
            </a:pPr>
            <a:r>
              <a:rPr sz="1600" b="0" i="0">
                <a:solidFill>
                  <a:srgbClr val="B8C0C8"/>
                </a:solidFill>
                <a:latin typeface="Inter"/>
              </a:rPr>
              <a:t>Journal des décisions, avancement par story, liens vers le dépôt.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Journal des décisions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45</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ANNEXE A</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GOUVERNANCE ET DÉCISION · 15 %</a:t>
            </a:r>
          </a:p>
        </p:txBody>
      </p:sp>
      <p:sp>
        <p:nvSpPr>
          <p:cNvPr id="28" name="Attendu"/>
          <p:cNvSpPr/>
          <p:nvPr/>
        </p:nvSpPr>
        <p:spPr>
          <a:xfrm>
            <a:off x="640080" y="1325880"/>
            <a:ext cx="10908792" cy="1285036"/>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285036"/>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782116"/>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Chaque </a:t>
            </a:r>
            <a:r>
              <a:rPr sz="1300" b="1" i="0">
                <a:solidFill>
                  <a:srgbClr val="F5A623"/>
                </a:solidFill>
                <a:latin typeface="Inter"/>
              </a:rPr>
              <a:t>seuil, sévérité, définition ou règle de survie</a:t>
            </a:r>
            <a:r>
              <a:rPr sz="1300" b="0" i="0">
                <a:solidFill>
                  <a:srgbClr val="F7F6F2"/>
                </a:solidFill>
                <a:latin typeface="Inter"/>
              </a:rPr>
              <a:t> : date, séance, règle, décision, </a:t>
            </a:r>
            <a:r>
              <a:rPr sz="1300" b="1" i="0">
                <a:solidFill>
                  <a:srgbClr val="F5A623"/>
                </a:solidFill>
                <a:latin typeface="Inter"/>
              </a:rPr>
              <a:t>justification chiffrée</a:t>
            </a:r>
            <a:r>
              <a:rPr sz="1300" b="0" i="0">
                <a:solidFill>
                  <a:srgbClr val="F7F6F2"/>
                </a:solidFill>
                <a:latin typeface="Inter"/>
              </a:rPr>
              <a:t>, </a:t>
            </a:r>
            <a:r>
              <a:rPr sz="1300" b="1" i="0">
                <a:solidFill>
                  <a:srgbClr val="F5A623"/>
                </a:solidFill>
                <a:latin typeface="Inter"/>
              </a:rPr>
              <a:t>rôle décideur</a:t>
            </a:r>
            <a:r>
              <a:rPr sz="1300" b="0" i="0">
                <a:solidFill>
                  <a:srgbClr val="F7F6F2"/>
                </a:solidFill>
                <a:latin typeface="Inter"/>
              </a:rPr>
              <a:t>, alternative écartée.</a:t>
            </a:r>
          </a:p>
          <a:p>
            <a:pPr marL="182880" indent="-182880">
              <a:lnSpc>
                <a:spcPct val="108000"/>
              </a:lnSpc>
              <a:spcAft>
                <a:spcPts val="300"/>
              </a:spcAft>
              <a:buClr>
                <a:srgbClr val="F5A623"/>
              </a:buClr>
              <a:buChar char="•"/>
            </a:pPr>
            <a:r>
              <a:rPr sz="1300" b="0" i="0">
                <a:solidFill>
                  <a:srgbClr val="F7F6F2"/>
                </a:solidFill>
                <a:latin typeface="Inter"/>
              </a:rPr>
              <a:t>Une décision sans rôle ni chiffre n'est pas une décision.</a:t>
            </a:r>
          </a:p>
        </p:txBody>
      </p:sp>
      <p:graphicFrame>
        <p:nvGraphicFramePr>
          <p:cNvPr id="33" name="Table 32"/>
          <p:cNvGraphicFramePr>
            <a:graphicFrameLocks noGrp="1"/>
          </p:cNvGraphicFramePr>
          <p:nvPr/>
        </p:nvGraphicFramePr>
        <p:xfrm>
          <a:off x="640080" y="2748076"/>
          <a:ext cx="10908792" cy="2432304"/>
        </p:xfrm>
        <a:graphic>
          <a:graphicData uri="http://schemas.openxmlformats.org/drawingml/2006/table">
            <a:tbl>
              <a:tblPr/>
              <a:tblGrid>
                <a:gridCol w="45720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gridCol w="2194560">
                  <a:extLst>
                    <a:ext uri="{9D8B030D-6E8A-4147-A177-3AD203B41FA5}">
                      <a16:colId xmlns:a16="http://schemas.microsoft.com/office/drawing/2014/main" val="20005"/>
                    </a:ext>
                  </a:extLst>
                </a:gridCol>
                <a:gridCol w="1188720">
                  <a:extLst>
                    <a:ext uri="{9D8B030D-6E8A-4147-A177-3AD203B41FA5}">
                      <a16:colId xmlns:a16="http://schemas.microsoft.com/office/drawing/2014/main" val="20006"/>
                    </a:ext>
                  </a:extLst>
                </a:gridCol>
                <a:gridCol w="1673352">
                  <a:extLst>
                    <a:ext uri="{9D8B030D-6E8A-4147-A177-3AD203B41FA5}">
                      <a16:colId xmlns:a16="http://schemas.microsoft.com/office/drawing/2014/main" val="20007"/>
                    </a:ext>
                  </a:extLst>
                </a:gridCol>
              </a:tblGrid>
              <a:tr h="347472">
                <a:tc>
                  <a:txBody>
                    <a:bodyPr/>
                    <a:lstStyle/>
                    <a:p>
                      <a:r>
                        <a:rPr sz="950" b="1" i="0" spc="60">
                          <a:solidFill>
                            <a:srgbClr val="F5A623"/>
                          </a:solidFill>
                          <a:latin typeface="Inter"/>
                        </a:rPr>
                        <a:t>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950" b="1" i="0" spc="60">
                          <a:solidFill>
                            <a:srgbClr val="F5A623"/>
                          </a:solidFill>
                          <a:latin typeface="Inter"/>
                        </a:rPr>
                        <a:t>Date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950" b="1" i="0" spc="60">
                          <a:solidFill>
                            <a:srgbClr val="F5A623"/>
                          </a:solidFill>
                          <a:latin typeface="Inter"/>
                        </a:rPr>
                        <a:t>Séance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950" b="1" i="0" spc="60">
                          <a:solidFill>
                            <a:srgbClr val="F5A623"/>
                          </a:solidFill>
                          <a:latin typeface="Inter"/>
                        </a:rPr>
                        <a:t>Règle ou objet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950" b="1" i="0" spc="60">
                          <a:solidFill>
                            <a:srgbClr val="F5A623"/>
                          </a:solidFill>
                          <a:latin typeface="Inter"/>
                        </a:rPr>
                        <a:t>Décision</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950" b="1" i="0" spc="60">
                          <a:solidFill>
                            <a:srgbClr val="F5A623"/>
                          </a:solidFill>
                          <a:latin typeface="Inter"/>
                        </a:rPr>
                        <a:t>Justification chiffrée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950" b="1" i="0" spc="60">
                          <a:solidFill>
                            <a:srgbClr val="F5A623"/>
                          </a:solidFill>
                          <a:latin typeface="Inter"/>
                        </a:rPr>
                        <a:t>Rôle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950" b="1" i="0" spc="60">
                          <a:solidFill>
                            <a:srgbClr val="F5A623"/>
                          </a:solidFill>
                          <a:latin typeface="Inter"/>
                        </a:rPr>
                        <a:t>Alternative écartée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47472">
                <a:tc>
                  <a:txBody>
                    <a:bodyPr/>
                    <a:lstStyle/>
                    <a:p>
                      <a:r>
                        <a:rPr sz="1050" b="1" i="0">
                          <a:solidFill>
                            <a:srgbClr val="F7F6F2"/>
                          </a:solidFill>
                          <a:latin typeface="Inter"/>
                        </a:rPr>
                        <a:t>1</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47472">
                <a:tc>
                  <a:txBody>
                    <a:bodyPr/>
                    <a:lstStyle/>
                    <a:p>
                      <a:r>
                        <a:rPr sz="1050" b="1" i="0">
                          <a:solidFill>
                            <a:srgbClr val="F7F6F2"/>
                          </a:solidFill>
                          <a:latin typeface="Inter"/>
                        </a:rPr>
                        <a:t>2</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47472">
                <a:tc>
                  <a:txBody>
                    <a:bodyPr/>
                    <a:lstStyle/>
                    <a:p>
                      <a:r>
                        <a:rPr sz="1050" b="1" i="0">
                          <a:solidFill>
                            <a:srgbClr val="F7F6F2"/>
                          </a:solidFill>
                          <a:latin typeface="Inter"/>
                        </a:rPr>
                        <a:t>3</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47472">
                <a:tc>
                  <a:txBody>
                    <a:bodyPr/>
                    <a:lstStyle/>
                    <a:p>
                      <a:r>
                        <a:rPr sz="1050" b="1" i="0">
                          <a:solidFill>
                            <a:srgbClr val="F7F6F2"/>
                          </a:solidFill>
                          <a:latin typeface="Inter"/>
                        </a:rPr>
                        <a:t>4</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47472">
                <a:tc>
                  <a:txBody>
                    <a:bodyPr/>
                    <a:lstStyle/>
                    <a:p>
                      <a:r>
                        <a:rPr sz="1050" b="1" i="0">
                          <a:solidFill>
                            <a:srgbClr val="F7F6F2"/>
                          </a:solidFill>
                          <a:latin typeface="Inter"/>
                        </a:rPr>
                        <a:t>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r h="347472">
                <a:tc>
                  <a:txBody>
                    <a:bodyPr/>
                    <a:lstStyle/>
                    <a:p>
                      <a:r>
                        <a:rPr sz="1050" b="1" i="0">
                          <a:solidFill>
                            <a:srgbClr val="F7F6F2"/>
                          </a:solidFill>
                          <a:latin typeface="Inter"/>
                        </a:rPr>
                        <a:t>6</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05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6"/>
                  </a:ext>
                </a:extLst>
              </a:tr>
            </a:tbl>
          </a:graphicData>
        </a:graphic>
      </p:graphicFrame>
      <p:sp>
        <p:nvSpPr>
          <p:cNvPr id="34" name="TextBox 33"/>
          <p:cNvSpPr txBox="1"/>
          <p:nvPr/>
        </p:nvSpPr>
        <p:spPr>
          <a:xfrm>
            <a:off x="640080" y="5253532"/>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Ajoutez des lignes si nécessaire. Exemples : sévérité d'une règle, seuil d'avertissement, convention de la sentinelle, seuils de rapprochement, règle de survie, seuil de la porte G.</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Avancement par story</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46</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ANNEXE B</a:t>
            </a:r>
          </a:p>
        </p:txBody>
      </p:sp>
      <p:sp>
        <p:nvSpPr>
          <p:cNvPr id="27" name="TextBox 26"/>
          <p:cNvSpPr txBox="1"/>
          <p:nvPr/>
        </p:nvSpPr>
        <p:spPr>
          <a:xfrm>
            <a:off x="6976872" y="256032"/>
            <a:ext cx="4572000" cy="237744"/>
          </a:xfrm>
          <a:prstGeom prst="rect">
            <a:avLst/>
          </a:prstGeom>
          <a:noFill/>
        </p:spPr>
        <p:txBody>
          <a:bodyPr wrap="square" lIns="0" tIns="0" rIns="0" bIns="0" anchor="ctr">
            <a:spAutoFit/>
          </a:bodyPr>
          <a:lstStyle/>
          <a:p>
            <a:pPr algn="r">
              <a:lnSpc>
                <a:spcPct val="108000"/>
              </a:lnSpc>
              <a:spcAft>
                <a:spcPts val="400"/>
              </a:spcAft>
            </a:pPr>
            <a:r>
              <a:rPr sz="1000" b="1" i="0" spc="120">
                <a:solidFill>
                  <a:srgbClr val="0F9B8E"/>
                </a:solidFill>
                <a:latin typeface="Inter"/>
              </a:rPr>
              <a:t>CRITÈRE : GOUVERNANCE ET DÉCISION · 15 %</a:t>
            </a:r>
          </a:p>
        </p:txBody>
      </p:sp>
      <p:sp>
        <p:nvSpPr>
          <p:cNvPr id="28" name="Attendu"/>
          <p:cNvSpPr/>
          <p:nvPr/>
        </p:nvSpPr>
        <p:spPr>
          <a:xfrm>
            <a:off x="640080" y="1325880"/>
            <a:ext cx="10908792" cy="10329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Attendu barre"/>
          <p:cNvSpPr/>
          <p:nvPr/>
        </p:nvSpPr>
        <p:spPr>
          <a:xfrm>
            <a:off x="640080" y="1325880"/>
            <a:ext cx="82296" cy="10329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1" name="TextBox 30"/>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2" name="TextBox 31"/>
          <p:cNvSpPr txBox="1"/>
          <p:nvPr/>
        </p:nvSpPr>
        <p:spPr>
          <a:xfrm>
            <a:off x="914400" y="1783080"/>
            <a:ext cx="10360152" cy="5300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Une ligne par story : </a:t>
            </a:r>
            <a:r>
              <a:rPr sz="1300" b="1" i="0">
                <a:solidFill>
                  <a:srgbClr val="F5A623"/>
                </a:solidFill>
                <a:latin typeface="Inter"/>
              </a:rPr>
              <a:t>statut</a:t>
            </a:r>
            <a:r>
              <a:rPr sz="1300" b="0" i="0">
                <a:solidFill>
                  <a:srgbClr val="F7F6F2"/>
                </a:solidFill>
                <a:latin typeface="Inter"/>
              </a:rPr>
              <a:t> (Fait, En cours, Bloqué, À faire) et </a:t>
            </a:r>
            <a:r>
              <a:rPr sz="1300" b="1" i="0">
                <a:solidFill>
                  <a:srgbClr val="F5A623"/>
                </a:solidFill>
                <a:latin typeface="Inter"/>
              </a:rPr>
              <a:t>preuve</a:t>
            </a:r>
            <a:r>
              <a:rPr sz="1300" b="0" i="0">
                <a:solidFill>
                  <a:srgbClr val="F7F6F2"/>
                </a:solidFill>
                <a:latin typeface="Inter"/>
              </a:rPr>
              <a:t> (chemin du dépôt). Pas de preuve, pas de « Fait ».</a:t>
            </a:r>
          </a:p>
        </p:txBody>
      </p:sp>
      <p:graphicFrame>
        <p:nvGraphicFramePr>
          <p:cNvPr id="33" name="Table 32"/>
          <p:cNvGraphicFramePr>
            <a:graphicFrameLocks noGrp="1"/>
          </p:cNvGraphicFramePr>
          <p:nvPr/>
        </p:nvGraphicFramePr>
        <p:xfrm>
          <a:off x="640080" y="2541727"/>
          <a:ext cx="10908792" cy="2468880"/>
        </p:xfrm>
        <a:graphic>
          <a:graphicData uri="http://schemas.openxmlformats.org/drawingml/2006/table">
            <a:tbl>
              <a:tblPr/>
              <a:tblGrid>
                <a:gridCol w="109728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3867912">
                  <a:extLst>
                    <a:ext uri="{9D8B030D-6E8A-4147-A177-3AD203B41FA5}">
                      <a16:colId xmlns:a16="http://schemas.microsoft.com/office/drawing/2014/main" val="20005"/>
                    </a:ext>
                  </a:extLst>
                </a:gridCol>
              </a:tblGrid>
              <a:tr h="411480">
                <a:tc>
                  <a:txBody>
                    <a:bodyPr/>
                    <a:lstStyle/>
                    <a:p>
                      <a:r>
                        <a:rPr sz="1100" b="1" i="0" spc="60">
                          <a:solidFill>
                            <a:srgbClr val="F5A623"/>
                          </a:solidFill>
                          <a:latin typeface="Inter"/>
                        </a:rPr>
                        <a:t>Séance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Stories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Faites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En cours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Bloquées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Preuves principales (chemins)</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411480">
                <a:tc>
                  <a:txBody>
                    <a:bodyPr/>
                    <a:lstStyle/>
                    <a:p>
                      <a:r>
                        <a:rPr sz="1200" b="1" i="0">
                          <a:solidFill>
                            <a:srgbClr val="F7F6F2"/>
                          </a:solidFill>
                          <a:latin typeface="Inter"/>
                        </a:rPr>
                        <a:t>S1</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7F6F2"/>
                          </a:solidFill>
                          <a:latin typeface="Inter"/>
                        </a:rPr>
                        <a:t>US-01 à 04, 06, 07, 09</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411480">
                <a:tc>
                  <a:txBody>
                    <a:bodyPr/>
                    <a:lstStyle/>
                    <a:p>
                      <a:r>
                        <a:rPr sz="1200" b="1" i="0">
                          <a:solidFill>
                            <a:srgbClr val="F7F6F2"/>
                          </a:solidFill>
                          <a:latin typeface="Inter"/>
                        </a:rPr>
                        <a:t>S2</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7F6F2"/>
                          </a:solidFill>
                          <a:latin typeface="Inter"/>
                        </a:rPr>
                        <a:t>US-10, 11, 13, 15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411480">
                <a:tc>
                  <a:txBody>
                    <a:bodyPr/>
                    <a:lstStyle/>
                    <a:p>
                      <a:r>
                        <a:rPr sz="1200" b="1" i="0">
                          <a:solidFill>
                            <a:srgbClr val="F7F6F2"/>
                          </a:solidFill>
                          <a:latin typeface="Inter"/>
                        </a:rPr>
                        <a:t>S3</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7F6F2"/>
                          </a:solidFill>
                          <a:latin typeface="Inter"/>
                        </a:rPr>
                        <a:t>US-12, 14, 16 à 19</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411480">
                <a:tc>
                  <a:txBody>
                    <a:bodyPr/>
                    <a:lstStyle/>
                    <a:p>
                      <a:r>
                        <a:rPr sz="1200" b="1" i="0">
                          <a:solidFill>
                            <a:srgbClr val="F7F6F2"/>
                          </a:solidFill>
                          <a:latin typeface="Inter"/>
                        </a:rPr>
                        <a:t>S4</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7F6F2"/>
                          </a:solidFill>
                          <a:latin typeface="Inter"/>
                        </a:rPr>
                        <a:t>US-21 à 25, 27, 28</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411480">
                <a:tc>
                  <a:txBody>
                    <a:bodyPr/>
                    <a:lstStyle/>
                    <a:p>
                      <a:r>
                        <a:rPr sz="1200" b="1" i="0">
                          <a:solidFill>
                            <a:srgbClr val="F7F6F2"/>
                          </a:solidFill>
                          <a:latin typeface="Inter"/>
                        </a:rPr>
                        <a:t>S5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7F6F2"/>
                          </a:solidFill>
                          <a:latin typeface="Inter"/>
                        </a:rPr>
                        <a:t>US-29 à 32, 34, 35</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bl>
          </a:graphicData>
        </a:graphic>
      </p:graphicFrame>
      <p:sp>
        <p:nvSpPr>
          <p:cNvPr id="34" name="TextBox 33"/>
          <p:cNvSpPr txBox="1"/>
          <p:nvPr/>
        </p:nvSpPr>
        <p:spPr>
          <a:xfrm>
            <a:off x="640080" y="5102047"/>
            <a:ext cx="10908792" cy="274320"/>
          </a:xfrm>
          <a:prstGeom prst="rect">
            <a:avLst/>
          </a:prstGeom>
          <a:noFill/>
        </p:spPr>
        <p:txBody>
          <a:bodyPr wrap="square" lIns="0" tIns="0" rIns="0" bIns="0" anchor="t">
            <a:spAutoFit/>
          </a:bodyPr>
          <a:lstStyle/>
          <a:p>
            <a:pPr>
              <a:lnSpc>
                <a:spcPct val="108000"/>
              </a:lnSpc>
              <a:spcAft>
                <a:spcPts val="400"/>
              </a:spcAft>
            </a:pPr>
            <a:r>
              <a:rPr sz="1100" b="0" i="1">
                <a:solidFill>
                  <a:srgbClr val="8E99A4"/>
                </a:solidFill>
                <a:latin typeface="Inter"/>
              </a:rPr>
              <a:t>Le détail story par story est dans AVANCEMENT.md à la racine du dépôt.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Dépôt Git et étiquettes</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47</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ANNEXE C</a:t>
            </a:r>
          </a:p>
        </p:txBody>
      </p:sp>
      <p:sp>
        <p:nvSpPr>
          <p:cNvPr id="27"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0" name="TextBox 29"/>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SUR CETTE PAGE</a:t>
            </a:r>
          </a:p>
        </p:txBody>
      </p:sp>
      <p:sp>
        <p:nvSpPr>
          <p:cNvPr id="31" name="TextBox 30"/>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L'</a:t>
            </a:r>
            <a:r>
              <a:rPr sz="1300" b="1" i="0">
                <a:solidFill>
                  <a:srgbClr val="F5A623"/>
                </a:solidFill>
                <a:latin typeface="Inter"/>
              </a:rPr>
              <a:t>adresse du dépôt</a:t>
            </a:r>
            <a:r>
              <a:rPr sz="1300" b="0" i="0">
                <a:solidFill>
                  <a:srgbClr val="F7F6F2"/>
                </a:solidFill>
                <a:latin typeface="Inter"/>
              </a:rPr>
              <a:t> et les </a:t>
            </a:r>
            <a:r>
              <a:rPr sz="1300" b="1" i="0">
                <a:solidFill>
                  <a:srgbClr val="F5A623"/>
                </a:solidFill>
                <a:latin typeface="Inter"/>
              </a:rPr>
              <a:t>étiquettes</a:t>
            </a:r>
            <a:r>
              <a:rPr sz="1300" b="0" i="0">
                <a:solidFill>
                  <a:srgbClr val="F7F6F2"/>
                </a:solidFill>
                <a:latin typeface="Inter"/>
              </a:rPr>
              <a:t> posées : seance-1 à seance-5 et rendu-final.</a:t>
            </a:r>
          </a:p>
          <a:p>
            <a:pPr marL="182880" indent="-182880">
              <a:lnSpc>
                <a:spcPct val="108000"/>
              </a:lnSpc>
              <a:spcAft>
                <a:spcPts val="300"/>
              </a:spcAft>
              <a:buClr>
                <a:srgbClr val="F5A623"/>
              </a:buClr>
              <a:buChar char="•"/>
            </a:pPr>
            <a:r>
              <a:rPr sz="1300" b="0" i="0">
                <a:solidFill>
                  <a:srgbClr val="F7F6F2"/>
                </a:solidFill>
                <a:latin typeface="Inter"/>
              </a:rPr>
              <a:t>Aucun fichier interdit dans le dépôt (data/, CSV, sauvegardes, .env).</a:t>
            </a:r>
          </a:p>
        </p:txBody>
      </p:sp>
      <p:graphicFrame>
        <p:nvGraphicFramePr>
          <p:cNvPr id="32" name="Table 31"/>
          <p:cNvGraphicFramePr>
            <a:graphicFrameLocks noGrp="1"/>
          </p:cNvGraphicFramePr>
          <p:nvPr/>
        </p:nvGraphicFramePr>
        <p:xfrm>
          <a:off x="640080" y="2579827"/>
          <a:ext cx="10908792" cy="2926080"/>
        </p:xfrm>
        <a:graphic>
          <a:graphicData uri="http://schemas.openxmlformats.org/drawingml/2006/table">
            <a:tbl>
              <a:tblPr/>
              <a:tblGrid>
                <a:gridCol w="4023360">
                  <a:extLst>
                    <a:ext uri="{9D8B030D-6E8A-4147-A177-3AD203B41FA5}">
                      <a16:colId xmlns:a16="http://schemas.microsoft.com/office/drawing/2014/main" val="20000"/>
                    </a:ext>
                  </a:extLst>
                </a:gridCol>
                <a:gridCol w="6885432">
                  <a:extLst>
                    <a:ext uri="{9D8B030D-6E8A-4147-A177-3AD203B41FA5}">
                      <a16:colId xmlns:a16="http://schemas.microsoft.com/office/drawing/2014/main" val="20001"/>
                    </a:ext>
                  </a:extLst>
                </a:gridCol>
              </a:tblGrid>
              <a:tr h="365760">
                <a:tc>
                  <a:txBody>
                    <a:bodyPr/>
                    <a:lstStyle/>
                    <a:p>
                      <a:r>
                        <a:rPr sz="1100" b="1" i="0" spc="60">
                          <a:solidFill>
                            <a:srgbClr val="F5A623"/>
                          </a:solidFill>
                          <a:latin typeface="Inter"/>
                        </a:rPr>
                        <a:t>Élément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tc>
                  <a:txBody>
                    <a:bodyPr/>
                    <a:lstStyle/>
                    <a:p>
                      <a:r>
                        <a:rPr sz="1100" b="1" i="0" spc="60">
                          <a:solidFill>
                            <a:srgbClr val="F5A623"/>
                          </a:solidFill>
                          <a:latin typeface="Inter"/>
                        </a:rPr>
                        <a:t>Valeur</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A4156"/>
                    </a:solidFill>
                  </a:tcPr>
                </a:tc>
                <a:extLst>
                  <a:ext uri="{0D108BD9-81ED-4DB2-BD59-A6C34878D82A}">
                    <a16:rowId xmlns:a16="http://schemas.microsoft.com/office/drawing/2014/main" val="10000"/>
                  </a:ext>
                </a:extLst>
              </a:tr>
              <a:tr h="365760">
                <a:tc>
                  <a:txBody>
                    <a:bodyPr/>
                    <a:lstStyle/>
                    <a:p>
                      <a:r>
                        <a:rPr sz="1200" b="1" i="0">
                          <a:solidFill>
                            <a:srgbClr val="F7F6F2"/>
                          </a:solidFill>
                          <a:latin typeface="Inter"/>
                        </a:rPr>
                        <a:t>Adresse du dépôt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1"/>
                  </a:ext>
                </a:extLst>
              </a:tr>
              <a:tr h="365760">
                <a:tc>
                  <a:txBody>
                    <a:bodyPr/>
                    <a:lstStyle/>
                    <a:p>
                      <a:r>
                        <a:rPr sz="1200" b="1" i="0">
                          <a:solidFill>
                            <a:srgbClr val="F7F6F2"/>
                          </a:solidFill>
                          <a:latin typeface="Inter"/>
                        </a:rPr>
                        <a:t>Étiquette seance-1 (date)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2"/>
                  </a:ext>
                </a:extLst>
              </a:tr>
              <a:tr h="365760">
                <a:tc>
                  <a:txBody>
                    <a:bodyPr/>
                    <a:lstStyle/>
                    <a:p>
                      <a:r>
                        <a:rPr sz="1200" b="1" i="0">
                          <a:solidFill>
                            <a:srgbClr val="F7F6F2"/>
                          </a:solidFill>
                          <a:latin typeface="Inter"/>
                        </a:rPr>
                        <a:t>Étiquette seance-2 (date)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3"/>
                  </a:ext>
                </a:extLst>
              </a:tr>
              <a:tr h="365760">
                <a:tc>
                  <a:txBody>
                    <a:bodyPr/>
                    <a:lstStyle/>
                    <a:p>
                      <a:r>
                        <a:rPr sz="1200" b="1" i="0">
                          <a:solidFill>
                            <a:srgbClr val="F7F6F2"/>
                          </a:solidFill>
                          <a:latin typeface="Inter"/>
                        </a:rPr>
                        <a:t>Étiquette seance-3 (date)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4"/>
                  </a:ext>
                </a:extLst>
              </a:tr>
              <a:tr h="365760">
                <a:tc>
                  <a:txBody>
                    <a:bodyPr/>
                    <a:lstStyle/>
                    <a:p>
                      <a:r>
                        <a:rPr sz="1200" b="1" i="0">
                          <a:solidFill>
                            <a:srgbClr val="F7F6F2"/>
                          </a:solidFill>
                          <a:latin typeface="Inter"/>
                        </a:rPr>
                        <a:t>Étiquette seance-4 (date)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5"/>
                  </a:ext>
                </a:extLst>
              </a:tr>
              <a:tr h="365760">
                <a:tc>
                  <a:txBody>
                    <a:bodyPr/>
                    <a:lstStyle/>
                    <a:p>
                      <a:r>
                        <a:rPr sz="1200" b="1" i="0">
                          <a:solidFill>
                            <a:srgbClr val="F7F6F2"/>
                          </a:solidFill>
                          <a:latin typeface="Inter"/>
                        </a:rPr>
                        <a:t>Étiquette seance-5 (date)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0D1B2A"/>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6"/>
                  </a:ext>
                </a:extLst>
              </a:tr>
              <a:tr h="365760">
                <a:tc>
                  <a:txBody>
                    <a:bodyPr/>
                    <a:lstStyle/>
                    <a:p>
                      <a:r>
                        <a:rPr sz="1200" b="1" i="0">
                          <a:solidFill>
                            <a:srgbClr val="F7F6F2"/>
                          </a:solidFill>
                          <a:latin typeface="Inter"/>
                        </a:rPr>
                        <a:t>Étiquette rendu-final (date)</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1C2E3D"/>
                    </a:solidFill>
                  </a:tcPr>
                </a:tc>
                <a:tc>
                  <a:txBody>
                    <a:bodyPr/>
                    <a:lstStyle/>
                    <a:p>
                      <a:r>
                        <a:rPr sz="1200" b="0" i="0">
                          <a:solidFill>
                            <a:srgbClr val="F5A623"/>
                          </a:solidFill>
                          <a:latin typeface="Inter"/>
                        </a:rPr>
                        <a:t>…</a:t>
                      </a:r>
                    </a:p>
                  </a:txBody>
                  <a:tcPr marL="73152" marR="73152" anchor="ctr">
                    <a:lnL w="6350">
                      <a:solidFill>
                        <a:srgbClr val="2A4156"/>
                      </a:solidFill>
                    </a:lnL>
                    <a:lnR w="6350">
                      <a:solidFill>
                        <a:srgbClr val="2A4156"/>
                      </a:solidFill>
                    </a:lnR>
                    <a:lnT w="6350">
                      <a:solidFill>
                        <a:srgbClr val="2A4156"/>
                      </a:solidFill>
                    </a:lnT>
                    <a:lnB w="6350">
                      <a:solidFill>
                        <a:srgbClr val="2A4156"/>
                      </a:solidFill>
                    </a:lnB>
                    <a:solidFill>
                      <a:srgbClr val="2E2916"/>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a:xfrm>
            <a:off x="640080" y="502920"/>
            <a:ext cx="10908792" cy="731520"/>
          </a:xfrm>
        </p:spPr>
        <p:txBody>
          <a:bodyPr lIns="0" tIns="0" rIns="0" bIns="0"/>
          <a:lstStyle/>
          <a:p>
            <a:r>
              <a:rPr sz="2800"/>
              <a:t>Liste de contrôle du rendu final</a:t>
            </a:r>
          </a:p>
        </p:txBody>
      </p:sp>
      <p:sp>
        <p:nvSpPr>
          <p:cNvPr id="25" name="Slide Number Placeholder 0"/>
          <p:cNvSpPr>
            <a:spLocks noGrp="1"/>
          </p:cNvSpPr>
          <p:nvPr>
            <p:ph type="sldNum" sz="quarter" idx="4294967295"/>
          </p:nvPr>
        </p:nvSpPr>
        <p:spPr>
          <a:xfrm>
            <a:off x="10820095" y="6309360"/>
            <a:ext cx="731520" cy="292608"/>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3"/>
                </a:solidFill>
                <a:latin typeface="Inter"/>
                <a:ea typeface="Inter"/>
                <a:cs typeface="Inter"/>
              </a:defRPr>
            </a:lvl1pPr>
          </a:lstStyle>
          <a:p>
            <a:pPr algn="r"/>
            <a:fld id="{F7021451-1387-4CA6-816F-3879F97B5CBC}" type="slidenum">
              <a:rPr lang="en-US" b="0"/>
              <a:t>48</a:t>
            </a:fld>
            <a:endParaRPr lang="en-US"/>
          </a:p>
        </p:txBody>
      </p:sp>
      <p:sp>
        <p:nvSpPr>
          <p:cNvPr id="26" name="TextBox 25"/>
          <p:cNvSpPr txBox="1"/>
          <p:nvPr/>
        </p:nvSpPr>
        <p:spPr>
          <a:xfrm>
            <a:off x="640080" y="256032"/>
            <a:ext cx="8046720" cy="237744"/>
          </a:xfrm>
          <a:prstGeom prst="rect">
            <a:avLst/>
          </a:prstGeom>
          <a:noFill/>
        </p:spPr>
        <p:txBody>
          <a:bodyPr wrap="square" lIns="0" tIns="0" rIns="0" bIns="0" anchor="ctr">
            <a:spAutoFit/>
          </a:bodyPr>
          <a:lstStyle/>
          <a:p>
            <a:pPr>
              <a:lnSpc>
                <a:spcPct val="108000"/>
              </a:lnSpc>
              <a:spcAft>
                <a:spcPts val="400"/>
              </a:spcAft>
            </a:pPr>
            <a:r>
              <a:rPr sz="1100" b="1" i="0" spc="200">
                <a:solidFill>
                  <a:srgbClr val="F5A623"/>
                </a:solidFill>
                <a:latin typeface="Inter"/>
              </a:rPr>
              <a:t>AVANT DE RENDRE</a:t>
            </a:r>
          </a:p>
        </p:txBody>
      </p:sp>
      <p:sp>
        <p:nvSpPr>
          <p:cNvPr id="27" name="Attendu"/>
          <p:cNvSpPr/>
          <p:nvPr/>
        </p:nvSpPr>
        <p:spPr>
          <a:xfrm>
            <a:off x="640080" y="1325880"/>
            <a:ext cx="10908792" cy="1071067"/>
          </a:xfrm>
          <a:prstGeom prst="rect">
            <a:avLst/>
          </a:prstGeom>
          <a:solidFill>
            <a:srgbClr val="2B2616"/>
          </a:solid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Attendu barre"/>
          <p:cNvSpPr/>
          <p:nvPr/>
        </p:nvSpPr>
        <p:spPr>
          <a:xfrm>
            <a:off x="640080" y="1325880"/>
            <a:ext cx="82296" cy="107106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Icône target" descr="Icône target"/>
          <p:cNvPicPr>
            <a:picLocks noChangeAspect="1"/>
          </p:cNvPicPr>
          <p:nvPr/>
        </p:nvPicPr>
        <p:blipFill>
          <a:blip r:embed="rId3"/>
          <a:stretch>
            <a:fillRect/>
          </a:stretch>
        </p:blipFill>
        <p:spPr>
          <a:xfrm>
            <a:off x="896112" y="1435607"/>
            <a:ext cx="274320" cy="274320"/>
          </a:xfrm>
          <a:prstGeom prst="rect">
            <a:avLst/>
          </a:prstGeom>
        </p:spPr>
      </p:pic>
      <p:sp>
        <p:nvSpPr>
          <p:cNvPr id="30" name="TextBox 29"/>
          <p:cNvSpPr txBox="1"/>
          <p:nvPr/>
        </p:nvSpPr>
        <p:spPr>
          <a:xfrm>
            <a:off x="1261872" y="1444752"/>
            <a:ext cx="7315200" cy="256032"/>
          </a:xfrm>
          <a:prstGeom prst="rect">
            <a:avLst/>
          </a:prstGeom>
          <a:noFill/>
        </p:spPr>
        <p:txBody>
          <a:bodyPr wrap="square" lIns="0" tIns="0" rIns="0" bIns="0" anchor="ctr">
            <a:spAutoFit/>
          </a:bodyPr>
          <a:lstStyle/>
          <a:p>
            <a:pPr>
              <a:lnSpc>
                <a:spcPct val="108000"/>
              </a:lnSpc>
              <a:spcAft>
                <a:spcPts val="400"/>
              </a:spcAft>
            </a:pPr>
            <a:r>
              <a:rPr sz="1200" b="1" i="0" spc="140">
                <a:solidFill>
                  <a:srgbClr val="F5A623"/>
                </a:solidFill>
                <a:latin typeface="Inter"/>
              </a:rPr>
              <a:t>ATTENDU AVANT LE DÉPÔT</a:t>
            </a:r>
          </a:p>
        </p:txBody>
      </p:sp>
      <p:sp>
        <p:nvSpPr>
          <p:cNvPr id="31" name="TextBox 30"/>
          <p:cNvSpPr txBox="1"/>
          <p:nvPr/>
        </p:nvSpPr>
        <p:spPr>
          <a:xfrm>
            <a:off x="914400" y="1783080"/>
            <a:ext cx="10360152" cy="568147"/>
          </a:xfrm>
          <a:prstGeom prst="rect">
            <a:avLst/>
          </a:prstGeom>
          <a:noFill/>
        </p:spPr>
        <p:txBody>
          <a:bodyPr wrap="square" lIns="0" tIns="0" rIns="0" bIns="0" anchor="t">
            <a:spAutoFit/>
          </a:bodyPr>
          <a:lstStyle/>
          <a:p>
            <a:pPr marL="182880" indent="-182880">
              <a:lnSpc>
                <a:spcPct val="108000"/>
              </a:lnSpc>
              <a:spcAft>
                <a:spcPts val="300"/>
              </a:spcAft>
              <a:buClr>
                <a:srgbClr val="F5A623"/>
              </a:buClr>
              <a:buChar char="•"/>
            </a:pPr>
            <a:r>
              <a:rPr sz="1300" b="0" i="0">
                <a:solidFill>
                  <a:srgbClr val="F7F6F2"/>
                </a:solidFill>
                <a:latin typeface="Inter"/>
              </a:rPr>
              <a:t>Chaque </a:t>
            </a:r>
            <a:r>
              <a:rPr sz="1300" b="1" i="0">
                <a:solidFill>
                  <a:srgbClr val="F5A623"/>
                </a:solidFill>
                <a:latin typeface="Inter"/>
              </a:rPr>
              <a:t>zone ambre</a:t>
            </a:r>
            <a:r>
              <a:rPr sz="1300" b="0" i="0">
                <a:solidFill>
                  <a:srgbClr val="F7F6F2"/>
                </a:solidFill>
                <a:latin typeface="Inter"/>
              </a:rPr>
              <a:t> est complétée, ou le manque est </a:t>
            </a:r>
            <a:r>
              <a:rPr sz="1300" b="1" i="0">
                <a:solidFill>
                  <a:srgbClr val="F5A623"/>
                </a:solidFill>
                <a:latin typeface="Inter"/>
              </a:rPr>
              <a:t>déclaré</a:t>
            </a:r>
            <a:r>
              <a:rPr sz="1300" b="0" i="0">
                <a:solidFill>
                  <a:srgbClr val="F7F6F2"/>
                </a:solidFill>
                <a:latin typeface="Inter"/>
              </a:rPr>
              <a:t> dans le bilan de la séance.</a:t>
            </a:r>
          </a:p>
          <a:p>
            <a:pPr marL="182880" indent="-182880">
              <a:lnSpc>
                <a:spcPct val="108000"/>
              </a:lnSpc>
              <a:spcAft>
                <a:spcPts val="300"/>
              </a:spcAft>
              <a:buClr>
                <a:srgbClr val="F5A623"/>
              </a:buClr>
              <a:buChar char="•"/>
            </a:pPr>
            <a:r>
              <a:rPr sz="1300" b="0" i="0">
                <a:solidFill>
                  <a:srgbClr val="F7F6F2"/>
                </a:solidFill>
                <a:latin typeface="Inter"/>
              </a:rPr>
              <a:t>Chaque </a:t>
            </a:r>
            <a:r>
              <a:rPr sz="1300" b="1" i="0">
                <a:solidFill>
                  <a:srgbClr val="F5A623"/>
                </a:solidFill>
                <a:latin typeface="Inter"/>
              </a:rPr>
              <a:t>chiffre</a:t>
            </a:r>
            <a:r>
              <a:rPr sz="1300" b="0" i="0">
                <a:solidFill>
                  <a:srgbClr val="F7F6F2"/>
                </a:solidFill>
                <a:latin typeface="Inter"/>
              </a:rPr>
              <a:t> a sa </a:t>
            </a:r>
            <a:r>
              <a:rPr sz="1300" b="1" i="0">
                <a:solidFill>
                  <a:srgbClr val="F5A623"/>
                </a:solidFill>
                <a:latin typeface="Inter"/>
              </a:rPr>
              <a:t>preuve</a:t>
            </a:r>
            <a:r>
              <a:rPr sz="1300" b="0" i="0">
                <a:solidFill>
                  <a:srgbClr val="F7F6F2"/>
                </a:solidFill>
                <a:latin typeface="Inter"/>
              </a:rPr>
              <a:t> dans le dépôt.</a:t>
            </a:r>
          </a:p>
        </p:txBody>
      </p:sp>
      <p:sp>
        <p:nvSpPr>
          <p:cNvPr id="32" name="Rectangle 31"/>
          <p:cNvSpPr/>
          <p:nvPr/>
        </p:nvSpPr>
        <p:spPr>
          <a:xfrm>
            <a:off x="640080" y="2579827"/>
            <a:ext cx="10908792" cy="3546652"/>
          </a:xfrm>
          <a:prstGeom prst="rect">
            <a:avLst/>
          </a:prstGeom>
          <a:solidFill>
            <a:srgbClr val="1C2E3D"/>
          </a:solidFill>
          <a:ln w="9525">
            <a:solidFill>
              <a:srgbClr val="2A41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14400" y="2762707"/>
            <a:ext cx="10332720" cy="3272332"/>
          </a:xfrm>
          <a:prstGeom prst="rect">
            <a:avLst/>
          </a:prstGeom>
          <a:noFill/>
        </p:spPr>
        <p:txBody>
          <a:bodyPr wrap="square" lIns="0" tIns="0" rIns="0" bIns="0" anchor="t">
            <a:spAutoFit/>
          </a:bodyPr>
          <a:lstStyle/>
          <a:p>
            <a:pPr>
              <a:lnSpc>
                <a:spcPct val="108000"/>
              </a:lnSpc>
              <a:spcAft>
                <a:spcPts val="900"/>
              </a:spcAft>
            </a:pPr>
            <a:r>
              <a:rPr sz="1400" b="0" i="0">
                <a:solidFill>
                  <a:srgbClr val="F7F6F2"/>
                </a:solidFill>
                <a:latin typeface="Consolas"/>
              </a:rPr>
              <a:t>[ ]</a:t>
            </a:r>
            <a:r>
              <a:rPr sz="1400" b="0" i="0">
                <a:solidFill>
                  <a:srgbClr val="F7F6F2"/>
                </a:solidFill>
                <a:latin typeface="Inter"/>
              </a:rPr>
              <a:t> Couverture : numéro du groupe, noms, date.</a:t>
            </a:r>
          </a:p>
          <a:p>
            <a:pPr>
              <a:lnSpc>
                <a:spcPct val="108000"/>
              </a:lnSpc>
              <a:spcAft>
                <a:spcPts val="900"/>
              </a:spcAft>
            </a:pPr>
            <a:r>
              <a:rPr sz="1400" b="0" i="0">
                <a:solidFill>
                  <a:srgbClr val="F7F6F2"/>
                </a:solidFill>
                <a:latin typeface="Consolas"/>
              </a:rPr>
              <a:t>[ ]</a:t>
            </a:r>
            <a:r>
              <a:rPr sz="1400" b="0" i="0">
                <a:solidFill>
                  <a:srgbClr val="F7F6F2"/>
                </a:solidFill>
                <a:latin typeface="Inter"/>
              </a:rPr>
              <a:t> Équipe : rôles par séance et contribution de chaque membre.</a:t>
            </a:r>
          </a:p>
          <a:p>
            <a:pPr>
              <a:lnSpc>
                <a:spcPct val="108000"/>
              </a:lnSpc>
              <a:spcAft>
                <a:spcPts val="900"/>
              </a:spcAft>
            </a:pPr>
            <a:r>
              <a:rPr sz="1400" b="0" i="0">
                <a:solidFill>
                  <a:srgbClr val="F7F6F2"/>
                </a:solidFill>
                <a:latin typeface="Consolas"/>
              </a:rPr>
              <a:t>[ ]</a:t>
            </a:r>
            <a:r>
              <a:rPr sz="1400" b="0" i="0">
                <a:solidFill>
                  <a:srgbClr val="F7F6F2"/>
                </a:solidFill>
                <a:latin typeface="Inter"/>
              </a:rPr>
              <a:t> Chaque page de séance : chiffres mesurés, preuve citée, conséquence attribuée à un rôle.</a:t>
            </a:r>
          </a:p>
          <a:p>
            <a:pPr>
              <a:lnSpc>
                <a:spcPct val="108000"/>
              </a:lnSpc>
              <a:spcAft>
                <a:spcPts val="900"/>
              </a:spcAft>
            </a:pPr>
            <a:r>
              <a:rPr sz="1400" b="0" i="0">
                <a:solidFill>
                  <a:srgbClr val="F7F6F2"/>
                </a:solidFill>
                <a:latin typeface="Consolas"/>
              </a:rPr>
              <a:t>[ ]</a:t>
            </a:r>
            <a:r>
              <a:rPr sz="1400" b="0" i="0">
                <a:solidFill>
                  <a:srgbClr val="F7F6F2"/>
                </a:solidFill>
                <a:latin typeface="Inter"/>
              </a:rPr>
              <a:t> Les cinq bilans de séance : critères cochés avec preuve, difficultés chiffrées en temps.</a:t>
            </a:r>
          </a:p>
          <a:p>
            <a:pPr>
              <a:lnSpc>
                <a:spcPct val="108000"/>
              </a:lnSpc>
              <a:spcAft>
                <a:spcPts val="900"/>
              </a:spcAft>
            </a:pPr>
            <a:r>
              <a:rPr sz="1400" b="0" i="0">
                <a:solidFill>
                  <a:srgbClr val="F7F6F2"/>
                </a:solidFill>
                <a:latin typeface="Consolas"/>
              </a:rPr>
              <a:t>[ ]</a:t>
            </a:r>
            <a:r>
              <a:rPr sz="1400" b="0" i="0">
                <a:solidFill>
                  <a:srgbClr val="F7F6F2"/>
                </a:solidFill>
                <a:latin typeface="Inter"/>
              </a:rPr>
              <a:t> Journal des décisions identique à celui du dépôt.</a:t>
            </a:r>
          </a:p>
          <a:p>
            <a:pPr>
              <a:lnSpc>
                <a:spcPct val="108000"/>
              </a:lnSpc>
              <a:spcAft>
                <a:spcPts val="900"/>
              </a:spcAft>
            </a:pPr>
            <a:r>
              <a:rPr sz="1400" b="0" i="0">
                <a:solidFill>
                  <a:srgbClr val="F7F6F2"/>
                </a:solidFill>
                <a:latin typeface="Consolas"/>
              </a:rPr>
              <a:t>[ ]</a:t>
            </a:r>
            <a:r>
              <a:rPr sz="1400" b="0" i="0">
                <a:solidFill>
                  <a:srgbClr val="F7F6F2"/>
                </a:solidFill>
                <a:latin typeface="Inter"/>
              </a:rPr>
              <a:t> Dossier go/no-go : recommandation, preuves, écarts, décision signée.</a:t>
            </a:r>
          </a:p>
          <a:p>
            <a:pPr>
              <a:lnSpc>
                <a:spcPct val="108000"/>
              </a:lnSpc>
              <a:spcAft>
                <a:spcPts val="900"/>
              </a:spcAft>
            </a:pPr>
            <a:r>
              <a:rPr sz="1400" b="0" i="0">
                <a:solidFill>
                  <a:srgbClr val="F7F6F2"/>
                </a:solidFill>
                <a:latin typeface="Consolas"/>
              </a:rPr>
              <a:t>[ ]</a:t>
            </a:r>
            <a:r>
              <a:rPr sz="1400" b="0" i="0">
                <a:solidFill>
                  <a:srgbClr val="F7F6F2"/>
                </a:solidFill>
                <a:latin typeface="Inter"/>
              </a:rPr>
              <a:t> Étiquette rendu-final posée et poussée ; export PDF du livrable joint au dépôt.</a:t>
            </a:r>
          </a:p>
        </p:txBody>
      </p:sp>
    </p:spTree>
  </p:cSld>
  <p:clrMapOvr>
    <a:masterClrMapping/>
  </p:clrMapOvr>
</p:sld>
</file>

<file path=ppt/theme/theme1.xml><?xml version="1.0" encoding="utf-8"?>
<a:theme xmlns:a="http://schemas.openxmlformats.org/drawingml/2006/main" name="Decimal Insights - Sombre">
  <a:themeElements>
    <a:clrScheme name="Decimal Insights - Sombre">
      <a:dk1>
        <a:srgbClr val="F7F6F2"/>
      </a:dk1>
      <a:lt1>
        <a:srgbClr val="0D1B2A"/>
      </a:lt1>
      <a:dk2>
        <a:srgbClr val="B8C0C8"/>
      </a:dk2>
      <a:lt2>
        <a:srgbClr val="1C2E3D"/>
      </a:lt2>
      <a:accent1>
        <a:srgbClr val="F5A623"/>
      </a:accent1>
      <a:accent2>
        <a:srgbClr val="F5A623"/>
      </a:accent2>
      <a:accent3>
        <a:srgbClr val="8E99A4"/>
      </a:accent3>
      <a:accent4>
        <a:srgbClr val="5E6E7C"/>
      </a:accent4>
      <a:accent5>
        <a:srgbClr val="B8C0C8"/>
      </a:accent5>
      <a:accent6>
        <a:srgbClr val="F7F6F2"/>
      </a:accent6>
      <a:hlink>
        <a:srgbClr val="F5A623"/>
      </a:hlink>
      <a:folHlink>
        <a:srgbClr val="8E99A4"/>
      </a:folHlink>
    </a:clrScheme>
    <a:fontScheme name="Decimal Insights - Sombre">
      <a:majorFont>
        <a:latin typeface="Fraunce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4004</TotalTime>
  <Words>8408</Words>
  <Application>Microsoft Office PowerPoint</Application>
  <PresentationFormat>Grand écran</PresentationFormat>
  <Paragraphs>1521</Paragraphs>
  <Slides>48</Slides>
  <Notes>48</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48</vt:i4>
      </vt:variant>
    </vt:vector>
  </HeadingPairs>
  <TitlesOfParts>
    <vt:vector size="53" baseType="lpstr">
      <vt:lpstr>Arial</vt:lpstr>
      <vt:lpstr>Consolas</vt:lpstr>
      <vt:lpstr>Fraunces SemiBold</vt:lpstr>
      <vt:lpstr>Inter</vt:lpstr>
      <vt:lpstr>Decimal Insights - Sombre</vt:lpstr>
      <vt:lpstr>Livrable de groupe</vt:lpstr>
      <vt:lpstr>Comment remplir ce modèle</vt:lpstr>
      <vt:lpstr>Où se trouve quoi, et ce que pèse chaque critère</vt:lpstr>
      <vt:lpstr>Membres, rôles par séance et contribution</vt:lpstr>
      <vt:lpstr>Notre compréhension du mandat</vt:lpstr>
      <vt:lpstr>Stack, profilage, bronze</vt:lpstr>
      <vt:lpstr>Inventaire des sources</vt:lpstr>
      <vt:lpstr>Bronze et porte B : la copie est-elle fidèle ?</vt:lpstr>
      <vt:lpstr>Épreuves de la porte B et méthode d'ingestion</vt:lpstr>
      <vt:lpstr>Profil de crm.client et motifs</vt:lpstr>
      <vt:lpstr>Dictionnaire du CIF : dix colonnes anonymes</vt:lpstr>
      <vt:lpstr>Trois directions, trois définitions du « client actif »</vt:lpstr>
      <vt:lpstr>Bilan de S1 : critères de fin et difficultés</vt:lpstr>
      <vt:lpstr>Règles en tests automatisés</vt:lpstr>
      <vt:lpstr>Règles en tests : une expectation par règle</vt:lpstr>
      <vt:lpstr>Pièges rencontrés et lignes en échec</vt:lpstr>
      <vt:lpstr>Âge à la bonne date et mesure de référence sur bronze</vt:lpstr>
      <vt:lpstr>Âge à la bonne date et mesure de référence sur bronze</vt:lpstr>
      <vt:lpstr>Bilan de S2 : critères de fin et difficultés</vt:lpstr>
      <vt:lpstr>Intégrité et portes en SodaCL</vt:lpstr>
      <vt:lpstr>Checks Soda : une source de données par couche</vt:lpstr>
      <vt:lpstr>Bilan d'intégrité et valeur sentinelle</vt:lpstr>
      <vt:lpstr>Statuts, garantie et définition unique du client actif</vt:lpstr>
      <vt:lpstr>Bilan de S3 : critères de fin et difficultés</vt:lpstr>
      <vt:lpstr>Construire silver puis gold</vt:lpstr>
      <vt:lpstr>Silver : traitements et quarantaine</vt:lpstr>
      <vt:lpstr>Rejets par règle et porte S : bronze contre silver</vt:lpstr>
      <vt:lpstr>Dédoublonnage : paramètres et mesures</vt:lpstr>
      <vt:lpstr>Golden record de la Société Meunier et règle de survie</vt:lpstr>
      <vt:lpstr>Gold : tables cohérentes et client actif unique</vt:lpstr>
      <vt:lpstr>Retracer trois données de gold jusqu'à la source</vt:lpstr>
      <vt:lpstr>Bilan de S4 : critères de fin et difficultés</vt:lpstr>
      <vt:lpstr>Certifier, publier, gouverner</vt:lpstr>
      <vt:lpstr>Historique des mesures et courbes d'évolution</vt:lpstr>
      <vt:lpstr>Certificat de qualité : GO ou NO_GO</vt:lpstr>
      <vt:lpstr>Publication vers le CRM : refus, chargement, réconciliation</vt:lpstr>
      <vt:lpstr>Gouvernance : catalogue, propriétaires, lineage</vt:lpstr>
      <vt:lpstr>Bilan de S5 : critères de fin et difficultés</vt:lpstr>
      <vt:lpstr>Dossier go/no-go</vt:lpstr>
      <vt:lpstr>Recommandation</vt:lpstr>
      <vt:lpstr>Les preuves</vt:lpstr>
      <vt:lpstr>Les écarts</vt:lpstr>
      <vt:lpstr>La décision</vt:lpstr>
      <vt:lpstr>Annexes</vt:lpstr>
      <vt:lpstr>Journal des décisions</vt:lpstr>
      <vt:lpstr>Avancement par story</vt:lpstr>
      <vt:lpstr>Dépôt Git et étiquettes</vt:lpstr>
      <vt:lpstr>Liste de contrôle du rendu final</vt:lpstr>
    </vt:vector>
  </TitlesOfParts>
  <Company>Decimal Insights Consulting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Livrable de groupe : TD AssurConnect</dc:title>
  <dc:subject>Gouvernance, profilage et qualité des données</dc:subject>
  <dc:creator>Decimal Insights Consulting</dc:creator>
  <cp:lastModifiedBy>Abebe Negussie Ruth</cp:lastModifiedBy>
  <cp:revision>42</cp:revision>
  <dcterms:created xsi:type="dcterms:W3CDTF">2026-10-12T11:18:29Z</dcterms:created>
  <dcterms:modified xsi:type="dcterms:W3CDTF">2026-10-31T17:45:29Z</dcterms:modified>
</cp:coreProperties>
</file>